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12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046720" y="0"/>
            <a:ext cx="4142232" cy="685800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5303520"/>
            <a:ext cx="8046720" cy="54864"/>
          </a:xfrm>
          <a:prstGeom prst="rect">
            <a:avLst/>
          </a:prstGeom>
          <a:solidFill>
            <a:srgbClr val="E8D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686800" y="530352"/>
            <a:ext cx="2103120" cy="6144768"/>
          </a:xfrm>
          <a:prstGeom prst="rect">
            <a:avLst/>
          </a:prstGeom>
          <a:solidFill>
            <a:srgbClr val="E8D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0" y="530352"/>
            <a:ext cx="2103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0" i="0" dirty="0">
                <a:solidFill>
                  <a:srgbClr val="5B2D8E"/>
                </a:solidFill>
                <a:latin typeface="Segoe UI"/>
              </a:rPr>
              <a:t>🛍️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Segoe UI"/>
              </a:rPr>
              <a:t>Olist Delivery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9456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E8D5F5"/>
                </a:solidFill>
                <a:latin typeface="Segoe UI"/>
              </a:rPr>
              <a:t>Intelligence Hub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46120"/>
            <a:ext cx="7315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Segoe UI"/>
              </a:rPr>
              <a:t>Predicting Late Deliveries with Machine Learning
to Protect Customer Experience at Scale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663440"/>
            <a:ext cx="2286000" cy="347472"/>
          </a:xfrm>
          <a:prstGeom prst="rect">
            <a:avLst/>
          </a:prstGeom>
          <a:solidFill>
            <a:srgbClr val="E8D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466344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5B2D8E"/>
                </a:solidFill>
                <a:latin typeface="Segoe UI"/>
              </a:rPr>
              <a:t>Course: DSAI 4103 — Business Analytics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4663440"/>
            <a:ext cx="2286000" cy="347472"/>
          </a:xfrm>
          <a:prstGeom prst="rect">
            <a:avLst/>
          </a:prstGeom>
          <a:solidFill>
            <a:srgbClr val="E8D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017520" y="466344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5B2D8E"/>
                </a:solidFill>
                <a:latin typeface="Segoe UI"/>
              </a:rPr>
              <a:t>Author: Alanood Alyafei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0" y="4663440"/>
            <a:ext cx="2286000" cy="347472"/>
          </a:xfrm>
          <a:prstGeom prst="rect">
            <a:avLst/>
          </a:prstGeom>
          <a:solidFill>
            <a:srgbClr val="E8D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0" y="466344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5B2D8E"/>
                </a:solidFill>
                <a:latin typeface="Segoe UI"/>
              </a:rPr>
              <a:t>Date: April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2636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E8D5F5"/>
                </a:solidFill>
                <a:latin typeface="Segoe UI"/>
              </a:rPr>
              <a:t>Brazilian E-Commerce • 96,470 Orders Analyzed • LightGBM • SHAP • Fairness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1645920"/>
            <a:ext cx="29260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 dirty="0">
                <a:latin typeface="Segoe UI"/>
              </a:rPr>
              <a:t>96K+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394389"/>
            <a:ext cx="2926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 dirty="0">
                <a:latin typeface="Segoe UI"/>
              </a:rPr>
              <a:t>Orders Analyzed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834640"/>
            <a:ext cx="29260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 dirty="0">
                <a:latin typeface="Segoe UI"/>
              </a:rPr>
              <a:t>8.1%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3364992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8D5F5"/>
                </a:solidFill>
                <a:latin typeface="Segoe UI"/>
              </a:rPr>
              <a:t>Late Order Rate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4023360"/>
            <a:ext cx="29260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 dirty="0">
                <a:latin typeface="Segoe UI"/>
              </a:rPr>
              <a:t>0.787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553712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8D5F5"/>
                </a:solidFill>
                <a:latin typeface="Segoe UI"/>
              </a:rPr>
              <a:t>Model AUC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5212080"/>
            <a:ext cx="29260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 dirty="0">
                <a:latin typeface="Segoe UI"/>
              </a:rPr>
              <a:t>1.73★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5803761"/>
            <a:ext cx="2926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latin typeface="Segoe UI"/>
              </a:rPr>
              <a:t>Review Score Gap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E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B59B6"/>
                </a:solidFill>
                <a:latin typeface="Segoe UI"/>
              </a:rPr>
              <a:t>2 / 16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Segoe U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539496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640080" cy="114300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325880"/>
            <a:ext cx="4480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B2D8E"/>
                </a:solidFill>
                <a:latin typeface="Segoe UI"/>
              </a:rPr>
              <a:t>The Business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78308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1A2E"/>
                </a:solidFill>
                <a:latin typeface="Segoe UI"/>
              </a:rPr>
              <a:t>Why late deliveries matter for Olist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234440"/>
            <a:ext cx="539496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63640" y="1234440"/>
            <a:ext cx="640080" cy="114300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63640" y="146304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325880"/>
            <a:ext cx="4480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B2D8E"/>
                </a:solidFill>
                <a:latin typeface="Segoe UI"/>
              </a:rPr>
              <a:t>Dataset &amp; Preparation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60" y="178308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1A2E"/>
                </a:solidFill>
                <a:latin typeface="Segoe UI"/>
              </a:rPr>
              <a:t>7 data sources, 96K orders, 17 features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560320"/>
            <a:ext cx="539496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57200" y="2560320"/>
            <a:ext cx="640080" cy="114300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278892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2651760"/>
            <a:ext cx="4480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B2D8E"/>
                </a:solidFill>
                <a:latin typeface="Segoe UI"/>
              </a:rPr>
              <a:t>Exploratory Data Analysis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10896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1A2E"/>
                </a:solidFill>
                <a:latin typeface="Segoe UI"/>
              </a:rPr>
              <a:t>Uncovering patterns and regional disparities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2560320"/>
            <a:ext cx="539496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63640" y="2560320"/>
            <a:ext cx="640080" cy="114300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263640" y="278892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2651760"/>
            <a:ext cx="4480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B2D8E"/>
                </a:solidFill>
                <a:latin typeface="Segoe UI"/>
              </a:rPr>
              <a:t>Predictive Modeling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95160" y="310896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1A2E"/>
                </a:solidFill>
                <a:latin typeface="Segoe UI"/>
              </a:rPr>
              <a:t>AutoML + LightGBM achieving AUC 0.787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886200"/>
            <a:ext cx="539496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57200" y="3886200"/>
            <a:ext cx="640080" cy="114300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7200" y="411480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3977640"/>
            <a:ext cx="4480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B2D8E"/>
                </a:solidFill>
                <a:latin typeface="Segoe UI"/>
              </a:rPr>
              <a:t>Model Explainability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443484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1A2E"/>
                </a:solidFill>
                <a:latin typeface="Segoe UI"/>
              </a:rPr>
              <a:t>SHAP analysis — what drives late deliveries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63640" y="3886200"/>
            <a:ext cx="539496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263640" y="3886200"/>
            <a:ext cx="640080" cy="114300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263640" y="411480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95160" y="3977640"/>
            <a:ext cx="4480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B2D8E"/>
                </a:solidFill>
                <a:latin typeface="Segoe UI"/>
              </a:rPr>
              <a:t>Bias &amp; Fairness Analysis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95160" y="443484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1A2E"/>
                </a:solidFill>
                <a:latin typeface="Segoe UI"/>
              </a:rPr>
              <a:t>Regional fairness audit and mitigation plan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212079"/>
            <a:ext cx="539496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57200" y="5212079"/>
            <a:ext cx="640080" cy="114300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57200" y="5440679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88720" y="5303519"/>
            <a:ext cx="4480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B2D8E"/>
                </a:solidFill>
                <a:latin typeface="Segoe UI"/>
              </a:rPr>
              <a:t>Deployment Architecture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88720" y="5760719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1A2E"/>
                </a:solidFill>
                <a:latin typeface="Segoe UI"/>
              </a:rPr>
              <a:t>Production scoring script &amp; REST API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63640" y="5212079"/>
            <a:ext cx="539496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263640" y="5212079"/>
            <a:ext cx="640080" cy="114300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263640" y="5440679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95160" y="5303519"/>
            <a:ext cx="4480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B2D8E"/>
                </a:solidFill>
                <a:latin typeface="Segoe UI"/>
              </a:rPr>
              <a:t>Tableau Dashboard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95160" y="5760719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1A2E"/>
                </a:solidFill>
                <a:latin typeface="Segoe UI"/>
              </a:rPr>
              <a:t>Interactive operations intelligence hub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E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B59B6"/>
                </a:solidFill>
                <a:latin typeface="Segoe UI"/>
              </a:rPr>
              <a:t>3 / 16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82880"/>
            <a:ext cx="2011680" cy="32004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01  BUSINESS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99816" y="292608"/>
            <a:ext cx="5458968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dirty="0">
                <a:solidFill>
                  <a:srgbClr val="FFFFFF"/>
                </a:solidFill>
                <a:latin typeface="Segoe UI"/>
              </a:rPr>
              <a:t>The Cost of Late Deliveries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Segoe UI"/>
              </a:rPr>
              <a:t>Olist is Brazil's largest e-commerce marketplace aggregator.
Every late delivery damages customer trust — and the data confirms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057400"/>
            <a:ext cx="3383280" cy="1463040"/>
          </a:xfrm>
          <a:prstGeom prst="rect">
            <a:avLst/>
          </a:prstGeom>
          <a:solidFill>
            <a:srgbClr val="E8D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214884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5B2D8E"/>
                </a:solidFill>
                <a:latin typeface="Segoe UI"/>
              </a:rPr>
              <a:t>8.1%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74320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Segoe UI"/>
              </a:rPr>
              <a:t>Late Order 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0632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9B59B6"/>
                </a:solidFill>
                <a:latin typeface="Segoe UI"/>
              </a:rPr>
              <a:t>7,826 of 96,470 delivered orders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2057400"/>
            <a:ext cx="3383280" cy="1463040"/>
          </a:xfrm>
          <a:prstGeom prst="rect">
            <a:avLst/>
          </a:prstGeom>
          <a:solidFill>
            <a:srgbClr val="E8D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06240" y="214884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5B2D8E"/>
                </a:solidFill>
                <a:latin typeface="Segoe UI"/>
              </a:rPr>
              <a:t>2.4 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274320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Segoe UI"/>
              </a:rPr>
              <a:t>Avg Review (Late)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30632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9B59B6"/>
                </a:solidFill>
                <a:latin typeface="Segoe UI"/>
              </a:rPr>
              <a:t>vs 4.3★ for on-time orders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55279" y="2057400"/>
            <a:ext cx="3383280" cy="1463040"/>
          </a:xfrm>
          <a:prstGeom prst="rect">
            <a:avLst/>
          </a:prstGeom>
          <a:solidFill>
            <a:srgbClr val="E8D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55279" y="214884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5B2D8E"/>
                </a:solidFill>
                <a:latin typeface="Segoe UI"/>
              </a:rPr>
              <a:t>1.73★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274320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Segoe UI"/>
              </a:rPr>
              <a:t>Review Score Gap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30632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9B59B6"/>
                </a:solidFill>
                <a:latin typeface="Segoe UI"/>
              </a:rPr>
              <a:t>Direct measurable cost per late order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749039"/>
            <a:ext cx="11247120" cy="8229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3749039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  Insight: Every late order drives a 1.73-star review penalty — at Olist's scale, this creates thousands of dissatisfied customers monthly, risking seller de-listing and customer churn.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7091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5B2D8E"/>
                </a:solidFill>
                <a:latin typeface="Segoe UI"/>
              </a:rPr>
              <a:t>The Problem Statement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16636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Segoe UI"/>
              </a:rPr>
              <a:t>→  Late deliveries are currently discovered AFTER they happen — reactive, not proactive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53212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Segoe UI"/>
              </a:rPr>
              <a:t>→  Root causes span seller behavior, geography, seasonality, and product type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89788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Segoe UI"/>
              </a:rPr>
              <a:t>→  Goal: Predict whether an order will be late BEFORE it ships, enabling early intervention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E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B59B6"/>
                </a:solidFill>
                <a:latin typeface="Segoe UI"/>
              </a:rPr>
              <a:t>4 / 16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82880"/>
            <a:ext cx="2011680" cy="32004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02  DATASET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33472" y="274320"/>
            <a:ext cx="8138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FFFFFF"/>
                </a:solidFill>
                <a:latin typeface="Segoe UI"/>
              </a:rPr>
              <a:t>7 Data Sources → 1 Unified Analytics Dataset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97280"/>
            <a:ext cx="7498079" cy="3657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0972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Dataset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10972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Rows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10972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Key Content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463040"/>
            <a:ext cx="7498079" cy="384048"/>
          </a:xfrm>
          <a:prstGeom prst="rect">
            <a:avLst/>
          </a:prstGeom>
          <a:solidFill>
            <a:srgbClr val="F0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5760" y="1463040"/>
            <a:ext cx="4206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Segoe UI"/>
              </a:rPr>
              <a:t>  olist_orders_dataset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1463040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5B2D8E"/>
                </a:solidFill>
                <a:latin typeface="Segoe UI"/>
              </a:rPr>
              <a:t>99,441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1463040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1A1A2E"/>
                </a:solidFill>
                <a:latin typeface="Segoe UI"/>
              </a:rPr>
              <a:t>Order lifecycle timestamps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847088"/>
            <a:ext cx="7498079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5760" y="1847088"/>
            <a:ext cx="4206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Segoe UI"/>
              </a:rPr>
              <a:t>  olist_order_items_dataset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847088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5B2D8E"/>
                </a:solidFill>
                <a:latin typeface="Segoe UI"/>
              </a:rPr>
              <a:t>112,650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1847088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1A1A2E"/>
                </a:solidFill>
                <a:latin typeface="Segoe UI"/>
              </a:rPr>
              <a:t>Products, sellers, prices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231136"/>
            <a:ext cx="7498079" cy="384048"/>
          </a:xfrm>
          <a:prstGeom prst="rect">
            <a:avLst/>
          </a:prstGeom>
          <a:solidFill>
            <a:srgbClr val="F0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65760" y="2231136"/>
            <a:ext cx="4206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Segoe UI"/>
              </a:rPr>
              <a:t>  olist_order_payments_dataset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2231136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5B2D8E"/>
                </a:solidFill>
                <a:latin typeface="Segoe UI"/>
              </a:rPr>
              <a:t>103,886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2231136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1A1A2E"/>
                </a:solidFill>
                <a:latin typeface="Segoe UI"/>
              </a:rPr>
              <a:t>Payment type &amp; installments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615184"/>
            <a:ext cx="7498079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65760" y="2615184"/>
            <a:ext cx="4206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Segoe UI"/>
              </a:rPr>
              <a:t>  olist_order_reviews_dataset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2615184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5B2D8E"/>
                </a:solidFill>
                <a:latin typeface="Segoe UI"/>
              </a:rPr>
              <a:t>99,224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2615184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1A1A2E"/>
                </a:solidFill>
                <a:latin typeface="Segoe UI"/>
              </a:rPr>
              <a:t>Customer review scores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2999232"/>
            <a:ext cx="7498079" cy="384048"/>
          </a:xfrm>
          <a:prstGeom prst="rect">
            <a:avLst/>
          </a:prstGeom>
          <a:solidFill>
            <a:srgbClr val="F0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65760" y="2999232"/>
            <a:ext cx="4206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Segoe UI"/>
              </a:rPr>
              <a:t>  olist_customers_dataset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2999232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5B2D8E"/>
                </a:solidFill>
                <a:latin typeface="Segoe UI"/>
              </a:rPr>
              <a:t>99,441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2999232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1A1A2E"/>
                </a:solidFill>
                <a:latin typeface="Segoe UI"/>
              </a:rPr>
              <a:t>Customer state &amp; city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383280"/>
            <a:ext cx="7498079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65760" y="3383280"/>
            <a:ext cx="4206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Segoe UI"/>
              </a:rPr>
              <a:t>  olist_products_dataset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383280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5B2D8E"/>
                </a:solidFill>
                <a:latin typeface="Segoe UI"/>
              </a:rPr>
              <a:t>32,951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0" y="3383280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1A1A2E"/>
                </a:solidFill>
                <a:latin typeface="Segoe UI"/>
              </a:rPr>
              <a:t>Category, weight, volume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767328"/>
            <a:ext cx="7498079" cy="384048"/>
          </a:xfrm>
          <a:prstGeom prst="rect">
            <a:avLst/>
          </a:prstGeom>
          <a:solidFill>
            <a:srgbClr val="F0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65760" y="3767328"/>
            <a:ext cx="4206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Segoe UI"/>
              </a:rPr>
              <a:t>  olist_sellers_dataset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63440" y="3767328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5B2D8E"/>
                </a:solidFill>
                <a:latin typeface="Segoe UI"/>
              </a:rPr>
              <a:t>3,095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26480" y="3767328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1A1A2E"/>
                </a:solidFill>
                <a:latin typeface="Segoe UI"/>
              </a:rPr>
              <a:t>Seller state &amp; city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0" y="1097280"/>
            <a:ext cx="3474720" cy="5394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8229600" y="1097280"/>
            <a:ext cx="3474720" cy="45720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229600" y="10972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Final Dataset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1040" y="169164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5B2D8E"/>
                </a:solidFill>
                <a:latin typeface="Segoe UI"/>
              </a:rPr>
              <a:t>96,470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205740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Segoe UI"/>
              </a:rPr>
              <a:t>Delivered Orders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595360" y="2377440"/>
            <a:ext cx="2743200" cy="12700"/>
          </a:xfrm>
          <a:prstGeom prst="rect">
            <a:avLst/>
          </a:prstGeom>
          <a:solidFill>
            <a:srgbClr val="E8D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321040" y="2441448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5B2D8E"/>
                </a:solidFill>
                <a:latin typeface="Segoe UI"/>
              </a:rPr>
              <a:t>34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21040" y="280720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Segoe UI"/>
              </a:rPr>
              <a:t>Total Columns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595360" y="3127248"/>
            <a:ext cx="2743200" cy="12700"/>
          </a:xfrm>
          <a:prstGeom prst="rect">
            <a:avLst/>
          </a:prstGeom>
          <a:solidFill>
            <a:srgbClr val="E8D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321040" y="3191256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5B2D8E"/>
                </a:solidFill>
                <a:latin typeface="Segoe UI"/>
              </a:rPr>
              <a:t>17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21040" y="355701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Segoe UI"/>
              </a:rPr>
              <a:t>Engineered Features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595360" y="3877056"/>
            <a:ext cx="2743200" cy="12700"/>
          </a:xfrm>
          <a:prstGeom prst="rect">
            <a:avLst/>
          </a:prstGeom>
          <a:solidFill>
            <a:srgbClr val="E8D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8321040" y="3941064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5B2D8E"/>
                </a:solidFill>
                <a:latin typeface="Segoe UI"/>
              </a:rPr>
              <a:t>8.1%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21040" y="43068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Segoe UI"/>
              </a:rPr>
              <a:t>Class Imbalance (Late)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595360" y="4626864"/>
            <a:ext cx="2743200" cy="12700"/>
          </a:xfrm>
          <a:prstGeom prst="rect">
            <a:avLst/>
          </a:prstGeom>
          <a:solidFill>
            <a:srgbClr val="E8D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321040" y="4690872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5B2D8E"/>
                </a:solidFill>
                <a:latin typeface="Segoe UI"/>
              </a:rPr>
              <a:t>12.1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50566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Segoe UI"/>
              </a:rPr>
              <a:t>Mean Delivery Days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595360" y="5376672"/>
            <a:ext cx="2743200" cy="12700"/>
          </a:xfrm>
          <a:prstGeom prst="rect">
            <a:avLst/>
          </a:prstGeom>
          <a:solidFill>
            <a:srgbClr val="E8D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8321040" y="5440679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5B2D8E"/>
                </a:solidFill>
                <a:latin typeface="Segoe UI"/>
              </a:rP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21040" y="58064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Segoe UI"/>
              </a:rPr>
              <a:t>Data Sources Merged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5760" y="6446520"/>
            <a:ext cx="7498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B59B6"/>
                </a:solidFill>
                <a:latin typeface="Segoe UI"/>
              </a:rPr>
              <a:t>Target Variable: is_late  (0 = On-Time | 1 = Late)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E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B59B6"/>
                </a:solidFill>
                <a:latin typeface="Segoe UI"/>
              </a:rPr>
              <a:t>5 / 16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82880"/>
            <a:ext cx="2011680" cy="32004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02  FEATURE ENGINEERING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82696" y="274320"/>
            <a:ext cx="762609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FFFFFF"/>
                </a:solidFill>
                <a:latin typeface="Segoe UI"/>
              </a:rPr>
              <a:t>17 Features Engineered Across 5 Dimensions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2194560" cy="45720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1430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⏰ Temporal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2011680" cy="347472"/>
          </a:xfrm>
          <a:prstGeom prst="rect">
            <a:avLst/>
          </a:prstGeom>
          <a:solidFill>
            <a:srgbClr val="E8D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5B2D8E"/>
                </a:solidFill>
                <a:latin typeface="Segoe UI"/>
              </a:rPr>
              <a:t>purchase_hour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130552"/>
            <a:ext cx="2011680" cy="347472"/>
          </a:xfrm>
          <a:prstGeom prst="rect">
            <a:avLst/>
          </a:prstGeom>
          <a:solidFill>
            <a:srgbClr val="E8D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213055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5B2D8E"/>
                </a:solidFill>
                <a:latin typeface="Segoe UI"/>
              </a:rPr>
              <a:t>purchase_dayofweek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569464"/>
            <a:ext cx="2011680" cy="347472"/>
          </a:xfrm>
          <a:prstGeom prst="rect">
            <a:avLst/>
          </a:prstGeom>
          <a:solidFill>
            <a:srgbClr val="E8D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256946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5B2D8E"/>
                </a:solidFill>
                <a:latin typeface="Segoe UI"/>
              </a:rPr>
              <a:t>purchase_month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008376"/>
            <a:ext cx="2011680" cy="347472"/>
          </a:xfrm>
          <a:prstGeom prst="rect">
            <a:avLst/>
          </a:prstGeom>
          <a:solidFill>
            <a:srgbClr val="E8D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3008376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5B2D8E"/>
                </a:solidFill>
                <a:latin typeface="Segoe UI"/>
              </a:rPr>
              <a:t>is_weekend_purchase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447288"/>
            <a:ext cx="2011680" cy="347472"/>
          </a:xfrm>
          <a:prstGeom prst="rect">
            <a:avLst/>
          </a:prstGeom>
          <a:solidFill>
            <a:srgbClr val="E8D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344728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5B2D8E"/>
                </a:solidFill>
                <a:latin typeface="Segoe UI"/>
              </a:rPr>
              <a:t>estimated_delivery_days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88920" y="1143000"/>
            <a:ext cx="2194560" cy="45720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788920" y="11430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📦 Order &amp; Items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80360" y="1691640"/>
            <a:ext cx="2011680" cy="347472"/>
          </a:xfrm>
          <a:prstGeom prst="rect">
            <a:avLst/>
          </a:prstGeom>
          <a:solidFill>
            <a:srgbClr val="E8D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880360" y="169164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5B2D8E"/>
                </a:solidFill>
                <a:latin typeface="Segoe UI"/>
              </a:rPr>
              <a:t>num_items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0360" y="2130552"/>
            <a:ext cx="2011680" cy="347472"/>
          </a:xfrm>
          <a:prstGeom prst="rect">
            <a:avLst/>
          </a:prstGeom>
          <a:solidFill>
            <a:srgbClr val="E8D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880360" y="213055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5B2D8E"/>
                </a:solidFill>
                <a:latin typeface="Segoe UI"/>
              </a:rPr>
              <a:t>total_price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880360" y="2569464"/>
            <a:ext cx="2011680" cy="347472"/>
          </a:xfrm>
          <a:prstGeom prst="rect">
            <a:avLst/>
          </a:prstGeom>
          <a:solidFill>
            <a:srgbClr val="E8D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880360" y="256946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5B2D8E"/>
                </a:solidFill>
                <a:latin typeface="Segoe UI"/>
              </a:rPr>
              <a:t>total_freight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80360" y="3008376"/>
            <a:ext cx="2011680" cy="347472"/>
          </a:xfrm>
          <a:prstGeom prst="rect">
            <a:avLst/>
          </a:prstGeom>
          <a:solidFill>
            <a:srgbClr val="E8D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880360" y="3008376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5B2D8E"/>
                </a:solidFill>
                <a:latin typeface="Segoe UI"/>
              </a:rPr>
              <a:t>avg_item_price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0360" y="3447288"/>
            <a:ext cx="2011680" cy="347472"/>
          </a:xfrm>
          <a:prstGeom prst="rect">
            <a:avLst/>
          </a:prstGeom>
          <a:solidFill>
            <a:srgbClr val="E8D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880360" y="344728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5B2D8E"/>
                </a:solidFill>
                <a:latin typeface="Segoe UI"/>
              </a:rPr>
              <a:t>freight_ratio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120640" y="1143000"/>
            <a:ext cx="219456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120640" y="11430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🌍 Geography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212080" y="1691640"/>
            <a:ext cx="2011680" cy="347472"/>
          </a:xfrm>
          <a:prstGeom prst="rect">
            <a:avLst/>
          </a:prstGeom>
          <a:solidFill>
            <a:srgbClr val="E8D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212080" y="169164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5B2D8E"/>
                </a:solidFill>
                <a:latin typeface="Segoe UI"/>
              </a:rPr>
              <a:t>same_state_delivery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12080" y="2130552"/>
            <a:ext cx="2011680" cy="347472"/>
          </a:xfrm>
          <a:prstGeom prst="rect">
            <a:avLst/>
          </a:prstGeom>
          <a:solidFill>
            <a:srgbClr val="E8D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212080" y="213055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5B2D8E"/>
                </a:solidFill>
                <a:latin typeface="Segoe UI"/>
              </a:rPr>
              <a:t>seller_state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12080" y="2569464"/>
            <a:ext cx="2011680" cy="347472"/>
          </a:xfrm>
          <a:prstGeom prst="rect">
            <a:avLst/>
          </a:prstGeom>
          <a:solidFill>
            <a:srgbClr val="E8D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212080" y="256946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5B2D8E"/>
                </a:solidFill>
                <a:latin typeface="Segoe UI"/>
              </a:rPr>
              <a:t>customer_state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52359" y="1143000"/>
            <a:ext cx="2194560" cy="4572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452359" y="11430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🏪 Seller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43799" y="1691640"/>
            <a:ext cx="2011680" cy="347472"/>
          </a:xfrm>
          <a:prstGeom prst="rect">
            <a:avLst/>
          </a:prstGeom>
          <a:solidFill>
            <a:srgbClr val="E8D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543799" y="169164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5B2D8E"/>
                </a:solidFill>
                <a:latin typeface="Segoe UI"/>
              </a:rPr>
              <a:t>seller_historical_late_rate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43799" y="2130552"/>
            <a:ext cx="2011680" cy="347472"/>
          </a:xfrm>
          <a:prstGeom prst="rect">
            <a:avLst/>
          </a:prstGeom>
          <a:solidFill>
            <a:srgbClr val="E8D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543799" y="213055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5B2D8E"/>
                </a:solidFill>
                <a:latin typeface="Segoe UI"/>
              </a:rPr>
              <a:t>num_sellers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784080" y="1143000"/>
            <a:ext cx="2194560" cy="4572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784080" y="11430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💳 Payment &amp; Product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75520" y="1691640"/>
            <a:ext cx="2011680" cy="347472"/>
          </a:xfrm>
          <a:prstGeom prst="rect">
            <a:avLst/>
          </a:prstGeom>
          <a:solidFill>
            <a:srgbClr val="E8D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9875520" y="169164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5B2D8E"/>
                </a:solidFill>
                <a:latin typeface="Segoe UI"/>
              </a:rPr>
              <a:t>payment_installments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875520" y="2130552"/>
            <a:ext cx="2011680" cy="347472"/>
          </a:xfrm>
          <a:prstGeom prst="rect">
            <a:avLst/>
          </a:prstGeom>
          <a:solidFill>
            <a:srgbClr val="E8D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9875520" y="213055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5B2D8E"/>
                </a:solidFill>
                <a:latin typeface="Segoe UI"/>
              </a:rPr>
              <a:t>payment_type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75520" y="2569464"/>
            <a:ext cx="2011680" cy="347472"/>
          </a:xfrm>
          <a:prstGeom prst="rect">
            <a:avLst/>
          </a:prstGeom>
          <a:solidFill>
            <a:srgbClr val="E8D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9875520" y="256946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5B2D8E"/>
                </a:solidFill>
                <a:latin typeface="Segoe UI"/>
              </a:rPr>
              <a:t>avg_weight_g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875520" y="3008376"/>
            <a:ext cx="2011680" cy="347472"/>
          </a:xfrm>
          <a:prstGeom prst="rect">
            <a:avLst/>
          </a:prstGeom>
          <a:solidFill>
            <a:srgbClr val="E8D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9875520" y="3008376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5B2D8E"/>
                </a:solidFill>
                <a:latin typeface="Segoe UI"/>
              </a:rPr>
              <a:t>avg_volume_cm3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" y="5715000"/>
            <a:ext cx="11247120" cy="77724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457200" y="571500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Segoe UI"/>
              </a:rPr>
              <a:t>  Star Feature: seller_historical_late_rate  — each seller's historical late delivery percentage — accounts for 50% of model predictive power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E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B59B6"/>
                </a:solidFill>
                <a:latin typeface="Segoe UI"/>
              </a:rPr>
              <a:t>6 / 16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82880"/>
            <a:ext cx="2011680" cy="32004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03  EDA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16352" y="256032"/>
            <a:ext cx="860450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FFFFFF"/>
                </a:solidFill>
                <a:latin typeface="Segoe UI"/>
              </a:rPr>
              <a:t>Exploratory Analysis — The Story in the Data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5120640" cy="27432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1143000"/>
            <a:ext cx="5120640" cy="27432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65760" y="4160520"/>
            <a:ext cx="26060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65760" y="4160520"/>
            <a:ext cx="109728" cy="10515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30352" y="420624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B2D8E"/>
                </a:solidFill>
                <a:latin typeface="Segoe UI"/>
              </a:rPr>
              <a:t>1 in 12
orders is late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470916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1A1A2E"/>
                </a:solidFill>
                <a:latin typeface="Segoe UI"/>
              </a:rPr>
              <a:t>Drives thousands
of neg. reviews/month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0" y="4160520"/>
            <a:ext cx="26060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200400" y="4160520"/>
            <a:ext cx="109728" cy="10515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364992" y="420624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B2D8E"/>
                </a:solidFill>
                <a:latin typeface="Segoe UI"/>
              </a:rPr>
              <a:t>Northeast 14.1%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64992" y="470916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1A1A2E"/>
                </a:solidFill>
                <a:latin typeface="Segoe UI"/>
              </a:rPr>
              <a:t>2-3× higher late rate
vs South/Southeast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4160520"/>
            <a:ext cx="26060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035040" y="4160520"/>
            <a:ext cx="109728" cy="10515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199632" y="420624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B2D8E"/>
                </a:solidFill>
                <a:latin typeface="Segoe UI"/>
              </a:rPr>
              <a:t>March 2018 peak
21.4%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9632" y="470916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1A1A2E"/>
                </a:solidFill>
                <a:latin typeface="Segoe UI"/>
              </a:rPr>
              <a:t>Demand surge overwhelms
carrier networks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869680" y="4160520"/>
            <a:ext cx="26060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869680" y="4160520"/>
            <a:ext cx="109728" cy="10515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034272" y="420624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B2D8E"/>
                </a:solidFill>
                <a:latin typeface="Segoe UI"/>
              </a:rPr>
              <a:t>Weak linear corrs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34272" y="470916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1A1A2E"/>
                </a:solidFill>
                <a:latin typeface="Segoe UI"/>
              </a:rPr>
              <a:t>Non-linear tree models
outperform regression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E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B59B6"/>
                </a:solidFill>
                <a:latin typeface="Segoe UI"/>
              </a:rPr>
              <a:t>7 / 16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82880"/>
            <a:ext cx="2011680" cy="32004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03  EDA CONTINUED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88336" y="256032"/>
            <a:ext cx="6995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Category Risk &amp; Payment Behavior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5303520" cy="384048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097280"/>
            <a:ext cx="5303520" cy="384048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65760" y="5120640"/>
            <a:ext cx="11247120" cy="77724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512064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  Heavy/bulky items (furniture, office furniture) face highest delivery risk.  Boleto payments (bank slip) add 1-3 days of processing delay, explaining higher late rates.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E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B59B6"/>
                </a:solidFill>
                <a:latin typeface="Segoe UI"/>
              </a:rPr>
              <a:t>8 / 16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82880"/>
            <a:ext cx="2011680" cy="32004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04  PREDICTIVE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256032"/>
            <a:ext cx="922629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 err="1">
                <a:solidFill>
                  <a:srgbClr val="FFFFFF"/>
                </a:solidFill>
                <a:latin typeface="Segoe UI"/>
              </a:rPr>
              <a:t>AutoML</a:t>
            </a:r>
            <a:r>
              <a:rPr sz="2800" b="1" i="0" dirty="0">
                <a:solidFill>
                  <a:srgbClr val="FFFFFF"/>
                </a:solidFill>
                <a:latin typeface="Segoe UI"/>
              </a:rPr>
              <a:t> Pipeline — From Data to Deployment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1645920" y="1508760"/>
            <a:ext cx="411480" cy="2540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691640" y="13075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9B59B6"/>
                </a:solidFill>
                <a:latin typeface="Segoe U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143000"/>
            <a:ext cx="1143000" cy="86868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1143000"/>
            <a:ext cx="1143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Data
Prep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645920"/>
            <a:ext cx="11430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1645920"/>
            <a:ext cx="1143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5B2D8E"/>
                </a:solidFill>
                <a:latin typeface="Segoe UI"/>
              </a:rPr>
              <a:t>96,470
orders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6160" y="1508760"/>
            <a:ext cx="411480" cy="2540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11880" y="13075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9B59B6"/>
                </a:solidFill>
                <a:latin typeface="Segoe UI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77440" y="1143000"/>
            <a:ext cx="1143000" cy="86868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377440" y="1143000"/>
            <a:ext cx="1143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Feature
Engineering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77440" y="1645920"/>
            <a:ext cx="11430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377440" y="1645920"/>
            <a:ext cx="1143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5B2D8E"/>
                </a:solidFill>
                <a:latin typeface="Segoe UI"/>
              </a:rPr>
              <a:t>17 features
created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0" y="1508760"/>
            <a:ext cx="411480" cy="2540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532120" y="13075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9B59B6"/>
                </a:solidFill>
                <a:latin typeface="Segoe UI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7680" y="1143000"/>
            <a:ext cx="1143000" cy="86868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297680" y="1143000"/>
            <a:ext cx="1143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FLAML
AutoML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0" y="1645920"/>
            <a:ext cx="11430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297680" y="1645920"/>
            <a:ext cx="1143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5B2D8E"/>
                </a:solidFill>
                <a:latin typeface="Segoe UI"/>
              </a:rPr>
              <a:t>3-minute
budget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06640" y="1508760"/>
            <a:ext cx="411480" cy="2540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452360" y="13075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9B59B6"/>
                </a:solidFill>
                <a:latin typeface="Segoe UI"/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1143000"/>
            <a:ext cx="1143000" cy="86868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217920" y="1143000"/>
            <a:ext cx="1143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LightGBM
Model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7920" y="1645920"/>
            <a:ext cx="11430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17920" y="1645920"/>
            <a:ext cx="1143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5B2D8E"/>
                </a:solidFill>
                <a:latin typeface="Segoe UI"/>
              </a:rPr>
              <a:t>Best algo
selected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326880" y="1508760"/>
            <a:ext cx="411480" cy="2540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372600" y="13075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9B59B6"/>
                </a:solidFill>
                <a:latin typeface="Segoe UI"/>
              </a:rPr>
              <a:t>→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60" y="1143000"/>
            <a:ext cx="1143000" cy="86868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138160" y="1143000"/>
            <a:ext cx="1143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Threshold
Tuning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38160" y="1645920"/>
            <a:ext cx="11430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138160" y="1645920"/>
            <a:ext cx="1143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5B2D8E"/>
                </a:solidFill>
                <a:latin typeface="Segoe UI"/>
              </a:rPr>
              <a:t>0.30 optimal
threshold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058400" y="1143000"/>
            <a:ext cx="1143000" cy="86868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058400" y="1143000"/>
            <a:ext cx="1143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Deploy
Ready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058400" y="1645920"/>
            <a:ext cx="11430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058400" y="1645920"/>
            <a:ext cx="1143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5B2D8E"/>
                </a:solidFill>
                <a:latin typeface="Segoe UI"/>
              </a:rPr>
              <a:t>score.py
+ Flask API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23317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5B2D8E"/>
                </a:solidFill>
                <a:latin typeface="Segoe UI"/>
              </a:rPr>
              <a:t>Model Comparison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2788920"/>
            <a:ext cx="10012680" cy="38404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57200" y="278892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Model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108960" y="2788920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ROC-AUC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80560" y="2788920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F1 Score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52160" y="2788920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Precision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23760" y="2788920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Recall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95360" y="2788920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Accuracy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3172968"/>
            <a:ext cx="10012680" cy="438912"/>
          </a:xfrm>
          <a:prstGeom prst="rect">
            <a:avLst/>
          </a:prstGeom>
          <a:solidFill>
            <a:srgbClr val="F0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57200" y="3172968"/>
            <a:ext cx="2651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Segoe UI"/>
              </a:rPr>
              <a:t>Logistic Regression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108960" y="3172968"/>
            <a:ext cx="1371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Segoe UI"/>
              </a:rPr>
              <a:t>0.7253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80560" y="3172968"/>
            <a:ext cx="1371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Segoe UI"/>
              </a:rPr>
              <a:t>0.2501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52160" y="3172968"/>
            <a:ext cx="1371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Segoe UI"/>
              </a:rPr>
              <a:t>0.1565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23760" y="3172968"/>
            <a:ext cx="1371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Segoe UI"/>
              </a:rPr>
              <a:t>0.6224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95360" y="3172968"/>
            <a:ext cx="1371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Segoe UI"/>
              </a:rPr>
              <a:t>0.6972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57200" y="3611879"/>
            <a:ext cx="100126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57200" y="3611879"/>
            <a:ext cx="2651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Segoe UI"/>
              </a:rPr>
              <a:t>Random Forest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08960" y="3611879"/>
            <a:ext cx="1371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Segoe UI"/>
              </a:rPr>
              <a:t>0.7775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80560" y="3611879"/>
            <a:ext cx="1371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Segoe UI"/>
              </a:rPr>
              <a:t>0.3057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852160" y="3611879"/>
            <a:ext cx="1371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Segoe UI"/>
              </a:rPr>
              <a:t>0.2022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23760" y="3611879"/>
            <a:ext cx="1371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Segoe UI"/>
              </a:rPr>
              <a:t>0.6262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595360" y="3611879"/>
            <a:ext cx="1371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Segoe UI"/>
              </a:rPr>
              <a:t>0.7693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" y="4050792"/>
            <a:ext cx="10012680" cy="438912"/>
          </a:xfrm>
          <a:prstGeom prst="rect">
            <a:avLst/>
          </a:prstGeom>
          <a:solidFill>
            <a:srgbClr val="F0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457200" y="4050792"/>
            <a:ext cx="2651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Segoe UI"/>
              </a:rPr>
              <a:t>Gradient Boosting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108960" y="4050792"/>
            <a:ext cx="1371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Segoe UI"/>
              </a:rPr>
              <a:t>0.7815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80560" y="4050792"/>
            <a:ext cx="1371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Segoe UI"/>
              </a:rPr>
              <a:t>0.0610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852160" y="4050792"/>
            <a:ext cx="1371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Segoe UI"/>
              </a:rPr>
              <a:t>0.6757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23760" y="4050792"/>
            <a:ext cx="1371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Segoe UI"/>
              </a:rPr>
              <a:t>0.0319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95360" y="4050792"/>
            <a:ext cx="1371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Segoe UI"/>
              </a:rPr>
              <a:t>0.9202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57200" y="4489704"/>
            <a:ext cx="10012680" cy="438912"/>
          </a:xfrm>
          <a:prstGeom prst="rect">
            <a:avLst/>
          </a:prstGeom>
          <a:solidFill>
            <a:srgbClr val="E8D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457200" y="4489704"/>
            <a:ext cx="2651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B2D8E"/>
                </a:solidFill>
                <a:latin typeface="Segoe UI"/>
              </a:rPr>
              <a:t>FLAML LightGBM ★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108960" y="4489704"/>
            <a:ext cx="1371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5B2D8E"/>
                </a:solidFill>
                <a:latin typeface="Segoe UI"/>
              </a:rPr>
              <a:t>0.7868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480560" y="4489704"/>
            <a:ext cx="1371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5B2D8E"/>
                </a:solidFill>
                <a:latin typeface="Segoe UI"/>
              </a:rPr>
              <a:t>0.3304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852160" y="4489704"/>
            <a:ext cx="1371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5B2D8E"/>
                </a:solidFill>
                <a:latin typeface="Segoe UI"/>
              </a:rPr>
              <a:t>0.2360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223760" y="4489704"/>
            <a:ext cx="1371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5B2D8E"/>
                </a:solidFill>
                <a:latin typeface="Segoe UI"/>
              </a:rPr>
              <a:t>0.5508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595360" y="4489704"/>
            <a:ext cx="1371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5B2D8E"/>
                </a:solidFill>
                <a:latin typeface="Segoe UI"/>
              </a:rPr>
              <a:t>0.8189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57200" y="5394960"/>
            <a:ext cx="10012680" cy="68580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457200" y="5394960"/>
            <a:ext cx="10012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  Winner: FLAML AutoML selected LightGBM — best balance of AUC (0.787), F1 (0.33), and Recall (55%)
  Catches 1 in 2 late deliveries at order placement time — enabling proactive intervention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E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B59B6"/>
                </a:solidFill>
                <a:latin typeface="Segoe UI"/>
              </a:rPr>
              <a:t>9 / 16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82880"/>
            <a:ext cx="2011680" cy="32004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04  MODEL 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87752" y="256032"/>
            <a:ext cx="87599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LightGBM Performance — Test Set (19,294 Orders)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2560320" cy="1417320"/>
          </a:xfrm>
          <a:prstGeom prst="rect">
            <a:avLst/>
          </a:prstGeom>
          <a:solidFill>
            <a:srgbClr val="E8D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5760" y="12344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5B2D8E"/>
                </a:solidFill>
                <a:latin typeface="Segoe UI"/>
              </a:rPr>
              <a:t>0.7868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8288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Segoe UI"/>
              </a:rPr>
              <a:t>ROC-AUC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1488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9B59B6"/>
                </a:solidFill>
                <a:latin typeface="Segoe UI"/>
              </a:rPr>
              <a:t>Primary evaluation 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54679" y="1143000"/>
            <a:ext cx="2560320" cy="1417320"/>
          </a:xfrm>
          <a:prstGeom prst="rect">
            <a:avLst/>
          </a:prstGeom>
          <a:solidFill>
            <a:srgbClr val="E8D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154679" y="12344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5B2D8E"/>
                </a:solidFill>
                <a:latin typeface="Segoe UI"/>
              </a:rPr>
              <a:t>55.1%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79" y="18288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Segoe UI"/>
              </a:rPr>
              <a:t>Recall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4679" y="21488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9B59B6"/>
                </a:solidFill>
                <a:latin typeface="Segoe UI"/>
              </a:rPr>
              <a:t>Late orders caught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0" y="1143000"/>
            <a:ext cx="2560320" cy="1417320"/>
          </a:xfrm>
          <a:prstGeom prst="rect">
            <a:avLst/>
          </a:prstGeom>
          <a:solidFill>
            <a:srgbClr val="E8D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43600" y="12344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5B2D8E"/>
                </a:solidFill>
                <a:latin typeface="Segoe UI"/>
              </a:rPr>
              <a:t>23.6%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18288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Segoe UI"/>
              </a:rPr>
              <a:t>Precision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1488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9B59B6"/>
                </a:solidFill>
                <a:latin typeface="Segoe UI"/>
              </a:rPr>
              <a:t>Of alerts are real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32519" y="1143000"/>
            <a:ext cx="2560320" cy="1417320"/>
          </a:xfrm>
          <a:prstGeom prst="rect">
            <a:avLst/>
          </a:prstGeom>
          <a:solidFill>
            <a:srgbClr val="E8D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732519" y="12344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5B2D8E"/>
                </a:solidFill>
                <a:latin typeface="Segoe UI"/>
              </a:rPr>
              <a:t>0.3304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32519" y="18288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Segoe UI"/>
              </a:rPr>
              <a:t>F1 Score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19" y="21488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9B59B6"/>
                </a:solidFill>
                <a:latin typeface="Segoe UI"/>
              </a:rPr>
              <a:t>Harmonic mean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743200"/>
            <a:ext cx="3657600" cy="3291840"/>
          </a:xfrm>
          <a:prstGeom prst="rect">
            <a:avLst/>
          </a:prstGeom>
        </p:spPr>
      </p:pic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2743200"/>
            <a:ext cx="3657600" cy="32918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229600" y="2743200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B2D8E"/>
                </a:solidFill>
                <a:latin typeface="Segoe UI"/>
              </a:rPr>
              <a:t>Risk Tier Actions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0" y="3246120"/>
            <a:ext cx="3749039" cy="566928"/>
          </a:xfrm>
          <a:prstGeom prst="rect">
            <a:avLst/>
          </a:prstGeom>
          <a:solidFill>
            <a:srgbClr val="E8D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75320" y="3246120"/>
            <a:ext cx="1280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  <a:latin typeface="Segoe UI"/>
              </a:rPr>
              <a:t>LOW (0-10%)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3246120"/>
            <a:ext cx="2286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Segoe UI"/>
              </a:rPr>
              <a:t>No action needed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0" y="3904487"/>
            <a:ext cx="3749039" cy="566928"/>
          </a:xfrm>
          <a:prstGeom prst="rect">
            <a:avLst/>
          </a:prstGeom>
          <a:solidFill>
            <a:srgbClr val="D7BD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75320" y="3904487"/>
            <a:ext cx="1280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  <a:latin typeface="Segoe UI"/>
              </a:rPr>
              <a:t>MEDIUM (10-25%)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3904487"/>
            <a:ext cx="2286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Segoe UI"/>
              </a:rPr>
              <a:t>Monitor carrier status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0" y="4562856"/>
            <a:ext cx="3749039" cy="56692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275320" y="4562856"/>
            <a:ext cx="1280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Segoe UI"/>
              </a:rPr>
              <a:t>HIGH (25-40%)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0" y="4562856"/>
            <a:ext cx="2286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Notify ops; carrier upgrade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0" y="5221224"/>
            <a:ext cx="3749039" cy="566928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275320" y="5221224"/>
            <a:ext cx="1280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Segoe UI"/>
              </a:rPr>
              <a:t>CRITICAL (40%+)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0" y="5221224"/>
            <a:ext cx="2286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Contact customer; offer compensation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E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B59B6"/>
                </a:solidFill>
                <a:latin typeface="Segoe UI"/>
              </a:rPr>
              <a:t>10 / 16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82880"/>
            <a:ext cx="2011680" cy="32004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05  EXPLAINABILITY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16352" y="256032"/>
            <a:ext cx="80924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FFFFFF"/>
                </a:solidFill>
                <a:latin typeface="Segoe UI"/>
              </a:rPr>
              <a:t>SHAP Analysis — Why the Model Predicts Late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5486400" cy="393192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143000"/>
            <a:ext cx="5486400" cy="39319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65760" y="5257800"/>
            <a:ext cx="265176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65760" y="5257800"/>
            <a:ext cx="91440" cy="86868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5285232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5B2D8E"/>
                </a:solidFill>
                <a:latin typeface="Segoe UI"/>
              </a:rPr>
              <a:t>50%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5285232"/>
            <a:ext cx="1463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1A1A2E"/>
                </a:solidFill>
                <a:latin typeface="Segoe UI"/>
              </a:rPr>
              <a:t>of model power
from seller track record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0" y="5257800"/>
            <a:ext cx="265176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200400" y="5257800"/>
            <a:ext cx="91440" cy="86868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383280" y="5285232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5B2D8E"/>
                </a:solidFill>
                <a:latin typeface="Segoe UI"/>
              </a:rPr>
              <a:t>29%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60" y="5285232"/>
            <a:ext cx="1463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1A1A2E"/>
                </a:solidFill>
                <a:latin typeface="Segoe UI"/>
              </a:rPr>
              <a:t>from seasonality
(purchase month)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5257800"/>
            <a:ext cx="265176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035040" y="5257800"/>
            <a:ext cx="91440" cy="86868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217920" y="5285232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5B2D8E"/>
                </a:solidFill>
                <a:latin typeface="Segoe UI"/>
              </a:rPr>
              <a:t>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5285232"/>
            <a:ext cx="1463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1A1A2E"/>
                </a:solidFill>
                <a:latin typeface="Segoe UI"/>
              </a:rPr>
              <a:t>from cross-state
delivery complexity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869680" y="5257800"/>
            <a:ext cx="265176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869680" y="5257800"/>
            <a:ext cx="91440" cy="86868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052560" y="5285232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5B2D8E"/>
                </a:solidFill>
                <a:latin typeface="Segoe UI"/>
              </a:rPr>
              <a:t>12%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21240" y="5285232"/>
            <a:ext cx="1463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1A1A2E"/>
                </a:solidFill>
                <a:latin typeface="Segoe UI"/>
              </a:rPr>
              <a:t>from freight cost
&amp; approval delay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E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B59B6"/>
                </a:solidFill>
                <a:latin typeface="Segoe UI"/>
              </a:rPr>
              <a:t>11 / 16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82880"/>
            <a:ext cx="2011680" cy="32004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06  FAIRNESS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33472" y="256032"/>
            <a:ext cx="7543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FFFFFF"/>
                </a:solidFill>
                <a:latin typeface="Segoe UI"/>
              </a:rPr>
              <a:t>Is the Model Fair Across Regions?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97280"/>
            <a:ext cx="11247120" cy="6400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Segoe UI"/>
              </a:rPr>
              <a:t>  FINDING: The model is NOT fully fair across regions. North &amp; Northeast — already highest-risk regions — receive the weakest predictions.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20240"/>
            <a:ext cx="7772400" cy="3291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412480" y="1874519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B2D8E"/>
                </a:solidFill>
                <a:latin typeface="Segoe UI"/>
              </a:rPr>
              <a:t>Key Findings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0" y="2377440"/>
            <a:ext cx="3474720" cy="1005840"/>
          </a:xfrm>
          <a:prstGeom prst="rect">
            <a:avLst/>
          </a:prstGeom>
          <a:solidFill>
            <a:srgbClr val="E8D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412480" y="2377440"/>
            <a:ext cx="137160" cy="100584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95360" y="2423160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B59B6"/>
                </a:solidFill>
                <a:latin typeface="Segoe UI"/>
              </a:rPr>
              <a:t>Southeast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2724912"/>
            <a:ext cx="3108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1A1A2E"/>
                </a:solidFill>
                <a:latin typeface="Segoe UI"/>
              </a:rPr>
              <a:t>Best model (AUC 0.797)
68% of training data
→ Over-optimized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0" y="3566160"/>
            <a:ext cx="3474720" cy="1005840"/>
          </a:xfrm>
          <a:prstGeom prst="rect">
            <a:avLst/>
          </a:prstGeom>
          <a:solidFill>
            <a:srgbClr val="E8D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412480" y="3566160"/>
            <a:ext cx="137160" cy="10058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595360" y="3611880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  <a:latin typeface="Segoe UI"/>
              </a:rPr>
              <a:t>Northeast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3913632"/>
            <a:ext cx="3108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1A1A2E"/>
                </a:solidFill>
                <a:latin typeface="Segoe UI"/>
              </a:rPr>
              <a:t>Highest late rate 14.1%
But lowest AUC (0.741)
→ Hardest to predict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12480" y="4754880"/>
            <a:ext cx="3474720" cy="1005840"/>
          </a:xfrm>
          <a:prstGeom prst="rect">
            <a:avLst/>
          </a:prstGeom>
          <a:solidFill>
            <a:srgbClr val="E8D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412480" y="4754880"/>
            <a:ext cx="137160" cy="10058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595360" y="4800600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  <a:latin typeface="Segoe UI"/>
              </a:rPr>
              <a:t>North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0" y="5102352"/>
            <a:ext cx="3108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1A1A2E"/>
                </a:solidFill>
                <a:latin typeface="Segoe UI"/>
              </a:rPr>
              <a:t>10.1% late rate
Smallest dataset (355)
→ Data sparsity bias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394960"/>
            <a:ext cx="1124712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65760" y="5394960"/>
            <a:ext cx="109728" cy="118872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48640" y="541324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B2D8E"/>
                </a:solidFill>
                <a:latin typeface="Segoe UI"/>
              </a:rPr>
              <a:t>Mitigation Plan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583387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Segoe UI"/>
              </a:rPr>
              <a:t>1. Oversample North/Northeast training data using SMOTE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2200" y="583387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Segoe UI"/>
              </a:rPr>
              <a:t>2. Apply region-specific decision thresholds (lower for high-risk regions)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617220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Segoe UI"/>
              </a:rPr>
              <a:t>3. Monthly retraining with enforced regional representation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617220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Segoe UI"/>
              </a:rPr>
              <a:t>4. Build region-specific sub-models for North/Northeast carriers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E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B59B6"/>
                </a:solidFill>
                <a:latin typeface="Segoe UI"/>
              </a:rPr>
              <a:t>12 / 16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82880"/>
            <a:ext cx="2011680" cy="32004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07  DEPLOYMENT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80944" y="256032"/>
            <a:ext cx="726033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FFFFFF"/>
                </a:solidFill>
                <a:latin typeface="Segoe UI"/>
              </a:rPr>
              <a:t>Production-Ready Scoring Architecture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1920240" cy="137160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FFFF"/>
                </a:solidFill>
                <a:latin typeface="Segoe UI"/>
              </a:rPr>
              <a:t>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83080"/>
            <a:ext cx="19202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 dirty="0">
                <a:solidFill>
                  <a:srgbClr val="FFFFFF"/>
                </a:solidFill>
                <a:latin typeface="Segoe UI"/>
              </a:rPr>
              <a:t>Order</a:t>
            </a:r>
            <a:r>
              <a:rPr lang="en-US" sz="1200" b="1" i="0" dirty="0">
                <a:solidFill>
                  <a:srgbClr val="FFFFFF"/>
                </a:solidFill>
                <a:latin typeface="Segoe UI"/>
              </a:rPr>
              <a:t> </a:t>
            </a:r>
            <a:r>
              <a:rPr sz="1200" b="1" i="0" dirty="0">
                <a:solidFill>
                  <a:srgbClr val="FFFFFF"/>
                </a:solidFill>
                <a:latin typeface="Segoe UI"/>
              </a:rPr>
              <a:t>Placed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4560"/>
            <a:ext cx="1920240" cy="41148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19456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Segoe UI"/>
              </a:rPr>
              <a:t>New order
data enters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783080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9B59B6"/>
                </a:solidFill>
                <a:latin typeface="Segoe U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97480" y="1234440"/>
            <a:ext cx="1920240" cy="137160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697480" y="128016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FFFF"/>
                </a:solidFill>
                <a:latin typeface="Segoe UI"/>
              </a:rPr>
              <a:t>⚙️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1783080"/>
            <a:ext cx="19202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 dirty="0">
                <a:solidFill>
                  <a:srgbClr val="FFFFFF"/>
                </a:solidFill>
                <a:latin typeface="Segoe UI"/>
              </a:rPr>
              <a:t>Feature</a:t>
            </a:r>
            <a:r>
              <a:rPr lang="en-US" sz="1200" b="1" i="0" dirty="0">
                <a:solidFill>
                  <a:srgbClr val="FFFFFF"/>
                </a:solidFill>
                <a:latin typeface="Segoe UI"/>
              </a:rPr>
              <a:t> </a:t>
            </a:r>
            <a:r>
              <a:rPr sz="1200" b="1" i="0" dirty="0">
                <a:solidFill>
                  <a:srgbClr val="FFFFFF"/>
                </a:solidFill>
                <a:latin typeface="Segoe UI"/>
              </a:rPr>
              <a:t>Extract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97480" y="2194560"/>
            <a:ext cx="1920240" cy="41148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697480" y="219456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Segoe UI"/>
              </a:rPr>
              <a:t>17 features
engineered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1783080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9B59B6"/>
                </a:solidFill>
                <a:latin typeface="Segoe U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760" y="1234440"/>
            <a:ext cx="1920240" cy="137160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937760" y="128016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FFFF"/>
                </a:solidFill>
                <a:latin typeface="Segoe UI"/>
              </a:rPr>
              <a:t>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7760" y="1783080"/>
            <a:ext cx="19202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 dirty="0" err="1">
                <a:solidFill>
                  <a:srgbClr val="FFFFFF"/>
                </a:solidFill>
                <a:latin typeface="Segoe UI"/>
              </a:rPr>
              <a:t>LightGBM</a:t>
            </a:r>
            <a:r>
              <a:rPr lang="en-US" sz="1200" b="1" dirty="0">
                <a:solidFill>
                  <a:srgbClr val="FFFFFF"/>
                </a:solidFill>
                <a:latin typeface="Segoe UI"/>
              </a:rPr>
              <a:t> </a:t>
            </a:r>
            <a:r>
              <a:rPr sz="1200" b="1" i="0" dirty="0">
                <a:solidFill>
                  <a:srgbClr val="FFFFFF"/>
                </a:solidFill>
                <a:latin typeface="Segoe UI"/>
              </a:rPr>
              <a:t>Model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37760" y="2194560"/>
            <a:ext cx="1920240" cy="41148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937760" y="219456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Segoe UI"/>
              </a:rPr>
              <a:t>Predicts late
probability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1783080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9B59B6"/>
                </a:solidFill>
                <a:latin typeface="Segoe UI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78040" y="1234440"/>
            <a:ext cx="1920240" cy="137160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178040" y="128016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FFFF"/>
                </a:solidFill>
                <a:latin typeface="Segoe UI"/>
              </a:rPr>
              <a:t>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1783080"/>
            <a:ext cx="19202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 dirty="0">
                <a:solidFill>
                  <a:srgbClr val="FFFFFF"/>
                </a:solidFill>
                <a:latin typeface="Segoe UI"/>
              </a:rPr>
              <a:t>Risk</a:t>
            </a:r>
            <a:r>
              <a:rPr lang="en-US" sz="1200" b="1" i="0" dirty="0">
                <a:solidFill>
                  <a:srgbClr val="FFFFFF"/>
                </a:solidFill>
                <a:latin typeface="Segoe UI"/>
              </a:rPr>
              <a:t> </a:t>
            </a:r>
            <a:r>
              <a:rPr sz="1200" b="1" i="0" dirty="0">
                <a:solidFill>
                  <a:srgbClr val="FFFFFF"/>
                </a:solidFill>
                <a:latin typeface="Segoe UI"/>
              </a:rPr>
              <a:t>Tier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78040" y="2194560"/>
            <a:ext cx="1920240" cy="41148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178040" y="219456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Segoe UI"/>
              </a:rPr>
              <a:t>Low / Med /
High / Critical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98280" y="1783080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9B59B6"/>
                </a:solidFill>
                <a:latin typeface="Segoe UI"/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418320" y="1234440"/>
            <a:ext cx="1920240" cy="137160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418320" y="128016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FFFF"/>
                </a:solidFill>
                <a:latin typeface="Segoe UI"/>
              </a:rPr>
              <a:t>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18320" y="1783081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 dirty="0">
                <a:solidFill>
                  <a:srgbClr val="FFFFFF"/>
                </a:solidFill>
                <a:latin typeface="Segoe UI"/>
              </a:rPr>
              <a:t>Action</a:t>
            </a:r>
            <a:r>
              <a:rPr lang="en-US" sz="1200" b="1" dirty="0">
                <a:solidFill>
                  <a:srgbClr val="FFFFFF"/>
                </a:solidFill>
                <a:latin typeface="Segoe UI"/>
              </a:rPr>
              <a:t> </a:t>
            </a:r>
            <a:r>
              <a:rPr sz="1200" b="1" i="0" dirty="0">
                <a:solidFill>
                  <a:srgbClr val="FFFFFF"/>
                </a:solidFill>
                <a:latin typeface="Segoe UI"/>
              </a:rPr>
              <a:t>Triggered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418320" y="2194560"/>
            <a:ext cx="1920240" cy="41148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418320" y="219456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Segoe UI"/>
              </a:rPr>
              <a:t>Ops team
alerted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2926080"/>
            <a:ext cx="6858000" cy="3200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65760" y="2926080"/>
            <a:ext cx="6858000" cy="3657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65760" y="292608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  score.py — LateDeliveryScorer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3337560"/>
            <a:ext cx="6858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Segoe UI"/>
              </a:rPr>
              <a:t>  from score import LateDeliveryScorer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" y="3511296"/>
            <a:ext cx="6858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Segoe UI"/>
              </a:rPr>
              <a:t> 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3685032"/>
            <a:ext cx="6858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B86FC"/>
                </a:solidFill>
                <a:latin typeface="Segoe UI"/>
              </a:rPr>
              <a:t>  # Load production model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58768"/>
            <a:ext cx="6858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D9FF"/>
                </a:solidFill>
                <a:latin typeface="Segoe UI"/>
              </a:rPr>
              <a:t>  scorer = LateDeliveryScorer()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4032504"/>
            <a:ext cx="6858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Segoe UI"/>
              </a:rPr>
              <a:t> 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" y="4206240"/>
            <a:ext cx="6858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B86FC"/>
                </a:solidFill>
                <a:latin typeface="Segoe UI"/>
              </a:rPr>
              <a:t>  # Score new orders (batch or single)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4379976"/>
            <a:ext cx="6858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D9FF"/>
                </a:solidFill>
                <a:latin typeface="Segoe UI"/>
              </a:rPr>
              <a:t>  predictions = scorer.predict(orders_df)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" y="4553712"/>
            <a:ext cx="6858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Segoe UI"/>
              </a:rPr>
              <a:t> 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5760" y="4727448"/>
            <a:ext cx="6858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B86FC"/>
                </a:solidFill>
                <a:latin typeface="Segoe UI"/>
              </a:rPr>
              <a:t>  # Output: late_probability, risk_tier,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" y="4901183"/>
            <a:ext cx="6858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B86FC"/>
                </a:solidFill>
                <a:latin typeface="Segoe UI"/>
              </a:rPr>
              <a:t>  #         is_late_pred, recommended_action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5074920"/>
            <a:ext cx="6858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Segoe UI"/>
              </a:rPr>
              <a:t>  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5760" y="5248656"/>
            <a:ext cx="6858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B86FC"/>
                </a:solidFill>
                <a:latin typeface="Segoe UI"/>
              </a:rPr>
              <a:t>  # Or serve as REST API: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" y="5422392"/>
            <a:ext cx="6858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B86FC"/>
                </a:solidFill>
                <a:latin typeface="Segoe UI"/>
              </a:rPr>
              <a:t>  # python score.py --serve --port 5000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5760" y="5596128"/>
            <a:ext cx="6858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B86FC"/>
                </a:solidFill>
                <a:latin typeface="Segoe UI"/>
              </a:rPr>
              <a:t>  # POST /predict  →  real-time JSON response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589520" y="292608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B2D8E"/>
                </a:solidFill>
                <a:latin typeface="Segoe UI"/>
              </a:rPr>
              <a:t>Packaged Artifacts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589520" y="3429000"/>
            <a:ext cx="4206240" cy="411480"/>
          </a:xfrm>
          <a:prstGeom prst="rect">
            <a:avLst/>
          </a:prstGeom>
          <a:solidFill>
            <a:srgbClr val="E8D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7635240" y="342900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B2D8E"/>
                </a:solidFill>
                <a:latin typeface="Segoe UI"/>
              </a:rPr>
              <a:t>📦  late_delivery_model.pkl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75520" y="34290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1A1A2E"/>
                </a:solidFill>
                <a:latin typeface="Segoe UI"/>
              </a:rPr>
              <a:t>Trained LightGBM (serialized)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589520" y="3886200"/>
            <a:ext cx="420624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7635240" y="388620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B2D8E"/>
                </a:solidFill>
                <a:latin typeface="Segoe UI"/>
              </a:rPr>
              <a:t>📋  model_features.json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75520" y="38862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1A1A2E"/>
                </a:solidFill>
                <a:latin typeface="Segoe UI"/>
              </a:rPr>
              <a:t>Feature manifest (17 features)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589520" y="4343400"/>
            <a:ext cx="4206240" cy="411480"/>
          </a:xfrm>
          <a:prstGeom prst="rect">
            <a:avLst/>
          </a:prstGeom>
          <a:solidFill>
            <a:srgbClr val="E8D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7635240" y="434340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B2D8E"/>
                </a:solidFill>
                <a:latin typeface="Segoe UI"/>
              </a:rPr>
              <a:t>🐍  score.py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875520" y="43434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1A1A2E"/>
                </a:solidFill>
                <a:latin typeface="Segoe UI"/>
              </a:rPr>
              <a:t>Scoring class + Flask API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589520" y="4800600"/>
            <a:ext cx="420624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7635240" y="480060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B2D8E"/>
                </a:solidFill>
                <a:latin typeface="Segoe UI"/>
              </a:rPr>
              <a:t>🌐  GET  /health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875520" y="48006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1A1A2E"/>
                </a:solidFill>
                <a:latin typeface="Segoe UI"/>
              </a:rPr>
              <a:t>Model health check endpoint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589520" y="5257800"/>
            <a:ext cx="4206240" cy="411480"/>
          </a:xfrm>
          <a:prstGeom prst="rect">
            <a:avLst/>
          </a:prstGeom>
          <a:solidFill>
            <a:srgbClr val="E8D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7635240" y="525780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B2D8E"/>
                </a:solidFill>
                <a:latin typeface="Segoe UI"/>
              </a:rPr>
              <a:t>🔄  POST /predict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875520" y="52578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1A1A2E"/>
                </a:solidFill>
                <a:latin typeface="Segoe UI"/>
              </a:rPr>
              <a:t>Single-order real-time scoring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589520" y="5715000"/>
            <a:ext cx="420624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7635240" y="571500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B2D8E"/>
                </a:solidFill>
                <a:latin typeface="Segoe UI"/>
              </a:rPr>
              <a:t>📊  POST /predict_batch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875520" y="57150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1A1A2E"/>
                </a:solidFill>
                <a:latin typeface="Segoe UI"/>
              </a:rPr>
              <a:t>Batch CSV scoring endpoint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E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B59B6"/>
                </a:solidFill>
                <a:latin typeface="Segoe UI"/>
              </a:rPr>
              <a:t>13 / 16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82880"/>
            <a:ext cx="2011680" cy="32004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08  TABLEAU DASHBOARD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16936" y="256032"/>
            <a:ext cx="8348472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 dirty="0" err="1">
                <a:solidFill>
                  <a:srgbClr val="FFFFFF"/>
                </a:solidFill>
                <a:latin typeface="Segoe UI"/>
              </a:rPr>
              <a:t>Olist</a:t>
            </a:r>
            <a:r>
              <a:rPr sz="2600" b="1" i="0" dirty="0">
                <a:solidFill>
                  <a:srgbClr val="FFFFFF"/>
                </a:solidFill>
                <a:latin typeface="Segoe UI"/>
              </a:rPr>
              <a:t> Delivery Intelligence Hub — Dashboard Design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3657600" cy="2103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5760" y="1143000"/>
            <a:ext cx="3657600" cy="50292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188720"/>
            <a:ext cx="36576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 dirty="0">
                <a:solidFill>
                  <a:srgbClr val="FFFFFF"/>
                </a:solidFill>
                <a:latin typeface="Segoe UI"/>
              </a:rPr>
              <a:t>📊  Executive</a:t>
            </a:r>
            <a:r>
              <a:rPr lang="en-US" sz="1300" b="1" i="0" dirty="0">
                <a:solidFill>
                  <a:srgbClr val="FFFFFF"/>
                </a:solidFill>
                <a:latin typeface="Segoe UI"/>
              </a:rPr>
              <a:t> </a:t>
            </a:r>
            <a:r>
              <a:rPr sz="1300" b="1" i="0" dirty="0">
                <a:solidFill>
                  <a:srgbClr val="FFFFFF"/>
                </a:solidFill>
                <a:latin typeface="Segoe UI"/>
              </a:rPr>
              <a:t>Overview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73736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1A2E"/>
                </a:solidFill>
                <a:latin typeface="Segoe UI"/>
              </a:rPr>
              <a:t>KPI cards: late rate, avg review score,
orders at risk, total volume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60" y="1143000"/>
            <a:ext cx="3657600" cy="2103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51960" y="1143000"/>
            <a:ext cx="3657600" cy="50292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51960" y="1188720"/>
            <a:ext cx="36576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 dirty="0">
                <a:solidFill>
                  <a:srgbClr val="FFFFFF"/>
                </a:solidFill>
                <a:latin typeface="Segoe UI"/>
              </a:rPr>
              <a:t>🗺️  Geographic</a:t>
            </a:r>
            <a:r>
              <a:rPr lang="en-US" sz="1300" b="1" i="0" dirty="0">
                <a:solidFill>
                  <a:srgbClr val="FFFFFF"/>
                </a:solidFill>
                <a:latin typeface="Segoe UI"/>
              </a:rPr>
              <a:t> </a:t>
            </a:r>
            <a:r>
              <a:rPr sz="1300" b="1" i="0" dirty="0">
                <a:solidFill>
                  <a:srgbClr val="FFFFFF"/>
                </a:solidFill>
                <a:latin typeface="Segoe UI"/>
              </a:rPr>
              <a:t>Risk Map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73736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1A2E"/>
                </a:solidFill>
                <a:latin typeface="Segoe UI"/>
              </a:rPr>
              <a:t>Brazil state-level heatmap
Drill-down to city patterns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143000"/>
            <a:ext cx="3657600" cy="2103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138160" y="1143000"/>
            <a:ext cx="3657600" cy="50292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38160" y="1188720"/>
            <a:ext cx="36576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 dirty="0">
                <a:solidFill>
                  <a:srgbClr val="FFFFFF"/>
                </a:solidFill>
                <a:latin typeface="Segoe UI"/>
              </a:rPr>
              <a:t>📈  Trend</a:t>
            </a:r>
            <a:r>
              <a:rPr lang="en-US" sz="1300" b="1" i="0" dirty="0">
                <a:solidFill>
                  <a:srgbClr val="FFFFFF"/>
                </a:solidFill>
                <a:latin typeface="Segoe UI"/>
              </a:rPr>
              <a:t> </a:t>
            </a:r>
            <a:r>
              <a:rPr sz="1300" b="1" i="0" dirty="0">
                <a:solidFill>
                  <a:srgbClr val="FFFFFF"/>
                </a:solidFill>
                <a:latin typeface="Segoe UI"/>
              </a:rPr>
              <a:t>Analysis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73736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1A2E"/>
                </a:solidFill>
                <a:latin typeface="Segoe UI"/>
              </a:rPr>
              <a:t>Monthly late rate &amp; volume
Seasonal capacity planning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520440"/>
            <a:ext cx="3657600" cy="2103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3657600" cy="50292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65760" y="3566160"/>
            <a:ext cx="36576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 dirty="0">
                <a:solidFill>
                  <a:srgbClr val="FFFFFF"/>
                </a:solidFill>
                <a:latin typeface="Segoe UI"/>
              </a:rPr>
              <a:t>📦  Category</a:t>
            </a:r>
            <a:r>
              <a:rPr lang="en-US" sz="1300" b="1" i="0" dirty="0">
                <a:solidFill>
                  <a:srgbClr val="FFFFFF"/>
                </a:solidFill>
                <a:latin typeface="Segoe UI"/>
              </a:rPr>
              <a:t> </a:t>
            </a:r>
            <a:r>
              <a:rPr sz="1300" b="1" i="0" dirty="0">
                <a:solidFill>
                  <a:srgbClr val="FFFFFF"/>
                </a:solidFill>
                <a:latin typeface="Segoe UI"/>
              </a:rPr>
              <a:t>Intelligence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11480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1A2E"/>
                </a:solidFill>
                <a:latin typeface="Segoe UI"/>
              </a:rPr>
              <a:t>Late rate by product type
High-risk category identification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51960" y="3520440"/>
            <a:ext cx="3657600" cy="2103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251960" y="3520440"/>
            <a:ext cx="3657600" cy="50292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251960" y="3566160"/>
            <a:ext cx="36576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 dirty="0">
                <a:solidFill>
                  <a:srgbClr val="FFFFFF"/>
                </a:solidFill>
                <a:latin typeface="Segoe UI"/>
              </a:rPr>
              <a:t>🏪  Seller</a:t>
            </a:r>
            <a:r>
              <a:rPr lang="en-US" sz="1300" b="1" i="0" dirty="0">
                <a:solidFill>
                  <a:srgbClr val="FFFFFF"/>
                </a:solidFill>
                <a:latin typeface="Segoe UI"/>
              </a:rPr>
              <a:t> </a:t>
            </a:r>
            <a:r>
              <a:rPr sz="1300" b="1" i="0" dirty="0">
                <a:solidFill>
                  <a:srgbClr val="FFFFFF"/>
                </a:solidFill>
                <a:latin typeface="Segoe UI"/>
              </a:rPr>
              <a:t>Performance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411480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1A2E"/>
                </a:solidFill>
                <a:latin typeface="Segoe UI"/>
              </a:rPr>
              <a:t>Chronic late sellers flagged
De-listing recommendations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38160" y="3520440"/>
            <a:ext cx="3657600" cy="2103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138160" y="3520440"/>
            <a:ext cx="3657600" cy="50292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138160" y="3566160"/>
            <a:ext cx="36576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 dirty="0">
                <a:solidFill>
                  <a:srgbClr val="FFFFFF"/>
                </a:solidFill>
                <a:latin typeface="Segoe UI"/>
              </a:rPr>
              <a:t>🤖  Model Risk</a:t>
            </a:r>
            <a:r>
              <a:rPr lang="en-US" sz="1300" b="1" i="0" dirty="0">
                <a:solidFill>
                  <a:srgbClr val="FFFFFF"/>
                </a:solidFill>
                <a:latin typeface="Segoe UI"/>
              </a:rPr>
              <a:t> </a:t>
            </a:r>
            <a:r>
              <a:rPr sz="1300" b="1" i="0" dirty="0">
                <a:solidFill>
                  <a:srgbClr val="FFFFFF"/>
                </a:solidFill>
                <a:latin typeface="Segoe UI"/>
              </a:rPr>
              <a:t>Scores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411480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1A2E"/>
                </a:solidFill>
                <a:latin typeface="Segoe UI"/>
              </a:rPr>
              <a:t>Real-time prediction scores
Intervention prioritization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887200" y="1143000"/>
            <a:ext cx="228600" cy="53949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65760" y="5989320"/>
            <a:ext cx="11247120" cy="5943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65760" y="598932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  8 CSV exports power the Tableau dashboard: orders overview, geographic, monthly trends, category analysis, model predictions, SHAP importance, fairness, and payment analysis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E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B59B6"/>
                </a:solidFill>
                <a:latin typeface="Segoe UI"/>
              </a:rPr>
              <a:t>14 / 16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82880"/>
            <a:ext cx="2011680" cy="32004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08  DASHBOARD CHARTS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80944" y="256032"/>
            <a:ext cx="859536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 dirty="0">
                <a:solidFill>
                  <a:srgbClr val="FFFFFF"/>
                </a:solidFill>
                <a:latin typeface="Segoe UI"/>
              </a:rPr>
              <a:t>Dashboard Visualizations — Trends &amp; Category Risk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5486400" cy="347472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143000"/>
            <a:ext cx="5486400" cy="34747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65760" y="4846320"/>
            <a:ext cx="265176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1480" y="487375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5B2D8E"/>
                </a:solidFill>
                <a:latin typeface="Segoe UI"/>
              </a:rPr>
              <a:t>21.4%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528523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9B59B6"/>
                </a:solidFill>
                <a:latin typeface="Segoe UI"/>
              </a:rPr>
              <a:t>Peak Monthly
Late 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557784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1">
                <a:solidFill>
                  <a:srgbClr val="1A1A2E"/>
                </a:solidFill>
                <a:latin typeface="Segoe UI"/>
              </a:rPr>
              <a:t>March 2018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0" y="4846320"/>
            <a:ext cx="265176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246120" y="487375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5B2D8E"/>
                </a:solidFill>
                <a:latin typeface="Segoe UI"/>
              </a:rPr>
              <a:t>59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528523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9B59B6"/>
                </a:solidFill>
                <a:latin typeface="Segoe UI"/>
              </a:rPr>
              <a:t>Product
Categories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57784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1">
                <a:solidFill>
                  <a:srgbClr val="1A1A2E"/>
                </a:solidFill>
                <a:latin typeface="Segoe UI"/>
              </a:rPr>
              <a:t>Risk-ranked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4846320"/>
            <a:ext cx="265176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080760" y="487375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5B2D8E"/>
                </a:solidFill>
                <a:latin typeface="Segoe UI"/>
              </a:rPr>
              <a:t>27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528523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9B59B6"/>
                </a:solidFill>
                <a:latin typeface="Segoe UI"/>
              </a:rPr>
              <a:t>Brazilian
States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557784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1">
                <a:solidFill>
                  <a:srgbClr val="1A1A2E"/>
                </a:solidFill>
                <a:latin typeface="Segoe UI"/>
              </a:rPr>
              <a:t>Geographic coverage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869680" y="4846320"/>
            <a:ext cx="265176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915400" y="487375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5B2D8E"/>
                </a:solidFill>
                <a:latin typeface="Segoe UI"/>
              </a:rPr>
              <a:t>324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15400" y="528523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9B59B6"/>
                </a:solidFill>
                <a:latin typeface="Segoe UI"/>
              </a:rPr>
              <a:t>High-Risk
Sellers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15400" y="557784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1">
                <a:solidFill>
                  <a:srgbClr val="1A1A2E"/>
                </a:solidFill>
                <a:latin typeface="Segoe UI"/>
              </a:rPr>
              <a:t>&gt;20% historical late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E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B59B6"/>
                </a:solidFill>
                <a:latin typeface="Segoe UI"/>
              </a:rPr>
              <a:t>15 / 16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Key Findings &amp; Business Recommendations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548640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143000"/>
            <a:ext cx="5486400" cy="9144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5B2D8E"/>
                </a:solidFill>
                <a:latin typeface="Segoe UI"/>
              </a:rPr>
              <a:t>🔍 Finding 1: Seller Track Record Dominates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373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1A1A2E"/>
                </a:solidFill>
                <a:latin typeface="Segoe UI"/>
              </a:rPr>
              <a:t>50% of predictive power comes from seller_historical_late_rate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148840"/>
            <a:ext cx="5212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Segoe UI"/>
              </a:rPr>
              <a:t>📋 Recommendation: Implement seller performance monitoring. Flag sellers with &gt;20% late rate (324 identified). Trigger automatic review and carrier upgrade protocols.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43000"/>
            <a:ext cx="548640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17920" y="1143000"/>
            <a:ext cx="5486400" cy="9144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55080" y="128016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5B2D8E"/>
                </a:solidFill>
                <a:latin typeface="Segoe UI"/>
              </a:rPr>
              <a:t>🔍 Finding 2: Seasonal Demand Surges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7373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1A1A2E"/>
                </a:solidFill>
                <a:latin typeface="Segoe UI"/>
              </a:rPr>
              <a:t>Peak months see 21%+ late rates vs 5% in low-demand months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148840"/>
            <a:ext cx="5212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Segoe UI"/>
              </a:rPr>
              <a:t>📋 Recommendation: Pre-scale carrier capacity in Nov-Dec (holidays) and high-demand months. Use the monthly trend dashboard to forecast capacity needs 4 weeks in advance.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703320"/>
            <a:ext cx="548640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65760" y="3703320"/>
            <a:ext cx="5486400" cy="914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" y="384048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5B2D8E"/>
                </a:solidFill>
                <a:latin typeface="Segoe UI"/>
              </a:rPr>
              <a:t>🔍 Finding 3: Regional Inequality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29768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1A1A2E"/>
                </a:solidFill>
                <a:latin typeface="Segoe UI"/>
              </a:rPr>
              <a:t>North/Northeast face 2-3× higher late rates than South/Southeast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709160"/>
            <a:ext cx="5212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Segoe UI"/>
              </a:rPr>
              <a:t>📋 Recommendation: Partner with regional logistics providers in the North. Build region-specific carrier SLAs. Apply lower ML decision thresholds for these regions.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3703320"/>
            <a:ext cx="548640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17920" y="3703320"/>
            <a:ext cx="548640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55080" y="384048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5B2D8E"/>
                </a:solidFill>
                <a:latin typeface="Segoe UI"/>
              </a:rPr>
              <a:t>🔍 Finding 4: Review Score Impact is Quantifiable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429768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1A1A2E"/>
                </a:solidFill>
                <a:latin typeface="Segoe UI"/>
              </a:rPr>
              <a:t>1.73-star gap between late (2.4★) and on-time (4.3★) deliveries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4709160"/>
            <a:ext cx="5212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Segoe UI"/>
              </a:rPr>
              <a:t>📋 Recommendation: Use the model's Critical risk tier to proactively contact customers (compensation vouchers) before they experience the delivery, preventing negative reviews.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164592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Segoe U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6974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8D5F5"/>
                </a:solidFill>
                <a:latin typeface="Segoe UI"/>
              </a:rPr>
              <a:t>Alanood Alyafei
DSAI 4103 — Business Analytics
April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977639"/>
            <a:ext cx="2377440" cy="2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41148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E8D5F5"/>
                </a:solidFill>
                <a:latin typeface="Segoe UI"/>
              </a:rPr>
              <a:t>Questions Welcome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82296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Project Summary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360" y="1325880"/>
            <a:ext cx="7772400" cy="25400"/>
          </a:xfrm>
          <a:prstGeom prst="rect">
            <a:avLst/>
          </a:prstGeom>
          <a:solidFill>
            <a:srgbClr val="E8D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023360" y="1463040"/>
            <a:ext cx="7772400" cy="54864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023360" y="14630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D5F5"/>
                </a:solidFill>
                <a:latin typeface="Segoe UI"/>
              </a:rPr>
              <a:t>  Dataset: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1463040"/>
            <a:ext cx="5852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Segoe UI"/>
              </a:rPr>
              <a:t>7 tables, 96,470 orders, 17 engineered features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360" y="2057400"/>
            <a:ext cx="7772400" cy="548640"/>
          </a:xfrm>
          <a:prstGeom prst="rect">
            <a:avLst/>
          </a:prstGeom>
          <a:solidFill>
            <a:srgbClr val="4A23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023360" y="20574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D5F5"/>
                </a:solidFill>
                <a:latin typeface="Segoe UI"/>
              </a:rPr>
              <a:t>  Problem: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2057400"/>
            <a:ext cx="5852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Segoe UI"/>
              </a:rPr>
              <a:t>Predict late deliveries before they ship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360" y="2651760"/>
            <a:ext cx="7772400" cy="54864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023360" y="265176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D5F5"/>
                </a:solidFill>
                <a:latin typeface="Segoe UI"/>
              </a:rPr>
              <a:t>  Model: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0" y="2651760"/>
            <a:ext cx="5852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Segoe UI"/>
              </a:rPr>
              <a:t>LightGBM via FLAML AutoML — AUC 0.7868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3246120"/>
            <a:ext cx="7772400" cy="548640"/>
          </a:xfrm>
          <a:prstGeom prst="rect">
            <a:avLst/>
          </a:prstGeom>
          <a:solidFill>
            <a:srgbClr val="4A23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023360" y="324612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D5F5"/>
                </a:solidFill>
                <a:latin typeface="Segoe UI"/>
              </a:rPr>
              <a:t>  Impact: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0" y="3246120"/>
            <a:ext cx="5852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Segoe UI"/>
              </a:rPr>
              <a:t>Catches 55% of late orders at order placement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360" y="3840480"/>
            <a:ext cx="7772400" cy="54864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023360" y="38404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D5F5"/>
                </a:solidFill>
                <a:latin typeface="Segoe UI"/>
              </a:rPr>
              <a:t>  Explainability: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3840480"/>
            <a:ext cx="5852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Segoe UI"/>
              </a:rPr>
              <a:t>SHAP identifies seller track record as #1 driver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360" y="4434840"/>
            <a:ext cx="7772400" cy="548640"/>
          </a:xfrm>
          <a:prstGeom prst="rect">
            <a:avLst/>
          </a:prstGeom>
          <a:solidFill>
            <a:srgbClr val="4A23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023360" y="44348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D5F5"/>
                </a:solidFill>
                <a:latin typeface="Segoe UI"/>
              </a:rPr>
              <a:t>  Fairness: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2160" y="4434840"/>
            <a:ext cx="5852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Segoe UI"/>
              </a:rPr>
              <a:t>Bias found — North/NE underserved; mitigation planned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360" y="5029200"/>
            <a:ext cx="7772400" cy="54864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023360" y="50292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D5F5"/>
                </a:solidFill>
                <a:latin typeface="Segoe UI"/>
              </a:rPr>
              <a:t>  Deployment: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52160" y="5029200"/>
            <a:ext cx="5852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Segoe UI"/>
              </a:rPr>
              <a:t>score.py — production class + Flask REST API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5623560"/>
            <a:ext cx="7772400" cy="548640"/>
          </a:xfrm>
          <a:prstGeom prst="rect">
            <a:avLst/>
          </a:prstGeom>
          <a:solidFill>
            <a:srgbClr val="4A23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023360" y="562356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D5F5"/>
                </a:solidFill>
                <a:latin typeface="Segoe UI"/>
              </a:rPr>
              <a:t>  Dashboard: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0" y="5623560"/>
            <a:ext cx="5852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Segoe UI"/>
              </a:rPr>
              <a:t>Tableau: 6 pages, 8 data sources, fully interactive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23360" y="630936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E8D5F5"/>
                </a:solidFill>
                <a:latin typeface="Segoe UI"/>
              </a:rPr>
              <a:t>"From reactive firefighting to proactive prediction — data-driven operations at scale."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1758</Words>
  <Application>Microsoft Office PowerPoint</Application>
  <PresentationFormat>Custom</PresentationFormat>
  <Paragraphs>363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Mohammed, Al-Anood [60074158]</cp:lastModifiedBy>
  <cp:revision>8</cp:revision>
  <dcterms:created xsi:type="dcterms:W3CDTF">2013-01-27T09:14:16Z</dcterms:created>
  <dcterms:modified xsi:type="dcterms:W3CDTF">2026-04-06T12:06:02Z</dcterms:modified>
  <cp:category/>
</cp:coreProperties>
</file>