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6" r:id="rId7"/>
    <p:sldId id="263" r:id="rId8"/>
    <p:sldId id="273" r:id="rId9"/>
    <p:sldId id="264" r:id="rId10"/>
    <p:sldId id="274" r:id="rId11"/>
    <p:sldId id="275" r:id="rId12"/>
    <p:sldId id="266" r:id="rId13"/>
    <p:sldId id="267" r:id="rId14"/>
    <p:sldId id="269" r:id="rId15"/>
    <p:sldId id="270" r:id="rId16"/>
    <p:sldId id="272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2D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876" autoAdjust="0"/>
  </p:normalViewPr>
  <p:slideViewPr>
    <p:cSldViewPr snapToGrid="0" snapToObjects="1">
      <p:cViewPr varScale="1">
        <p:scale>
          <a:sx n="67" d="100"/>
          <a:sy n="67" d="100"/>
        </p:scale>
        <p:origin x="644" y="4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BB531-2AEC-4DA7-A960-AC7ACF6E827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32FB6-50F4-4669-AE20-71D0E9BDB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20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F37FAF3-4B21-BCBF-8B91-68E05EF5621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9FA3DD6-4DD1-1904-08AB-0A5B6B9421B5}"/>
              </a:ext>
            </a:extLst>
          </p:cNvPr>
          <p:cNvGrpSpPr/>
          <p:nvPr/>
        </p:nvGrpSpPr>
        <p:grpSpPr>
          <a:xfrm>
            <a:off x="9454242" y="0"/>
            <a:ext cx="3070968" cy="6858000"/>
            <a:chOff x="9454242" y="0"/>
            <a:chExt cx="3070968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75D721C-AB16-1289-F9E9-5DEA3F729506}"/>
                </a:ext>
              </a:extLst>
            </p:cNvPr>
            <p:cNvSpPr/>
            <p:nvPr/>
          </p:nvSpPr>
          <p:spPr>
            <a:xfrm>
              <a:off x="9454242" y="0"/>
              <a:ext cx="2734709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D7D51E7-50CE-1D61-A60C-A2EEFD217D47}"/>
                </a:ext>
              </a:extLst>
            </p:cNvPr>
            <p:cNvGrpSpPr/>
            <p:nvPr/>
          </p:nvGrpSpPr>
          <p:grpSpPr>
            <a:xfrm>
              <a:off x="9599130" y="704190"/>
              <a:ext cx="2926080" cy="5817768"/>
              <a:chOff x="8321040" y="414080"/>
              <a:chExt cx="2926080" cy="6061300"/>
            </a:xfrm>
            <a:solidFill>
              <a:srgbClr val="5B2D8E"/>
            </a:solidFill>
          </p:grpSpPr>
          <p:sp>
            <p:nvSpPr>
              <p:cNvPr id="6" name="TextBox 5"/>
              <p:cNvSpPr txBox="1"/>
              <p:nvPr/>
            </p:nvSpPr>
            <p:spPr>
              <a:xfrm>
                <a:off x="8686800" y="414080"/>
                <a:ext cx="2103120" cy="112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6400" b="0" i="0" dirty="0">
                    <a:solidFill>
                      <a:sysClr val="windowText" lastClr="000000"/>
                    </a:solidFill>
                    <a:latin typeface="Segoe UI"/>
                  </a:rPr>
                  <a:t>🛍️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8695944" y="2028957"/>
                <a:ext cx="2103120" cy="545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800" b="1" i="0" dirty="0">
                    <a:solidFill>
                      <a:sysClr val="windowText" lastClr="000000"/>
                    </a:solidFill>
                    <a:latin typeface="Segoe UI"/>
                  </a:rPr>
                  <a:t>96K+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8677656" y="2777426"/>
                <a:ext cx="2112264" cy="288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0" i="0" dirty="0">
                    <a:solidFill>
                      <a:sysClr val="windowText" lastClr="000000"/>
                    </a:solidFill>
                    <a:latin typeface="Segoe UI"/>
                  </a:rPr>
                  <a:t>Orders Analyzed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8686800" y="3217677"/>
                <a:ext cx="2112264" cy="545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800" b="1" i="0" dirty="0">
                    <a:solidFill>
                      <a:sysClr val="windowText" lastClr="000000"/>
                    </a:solidFill>
                    <a:latin typeface="Segoe UI"/>
                  </a:rPr>
                  <a:t>8.1%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8321040" y="4052460"/>
                <a:ext cx="2926080" cy="288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0" i="0" dirty="0">
                    <a:solidFill>
                      <a:sysClr val="windowText" lastClr="000000"/>
                    </a:solidFill>
                    <a:latin typeface="Segoe UI"/>
                  </a:rPr>
                  <a:t>Late Order Rate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8686800" y="4406397"/>
                <a:ext cx="2112264" cy="545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800" b="1" i="0" dirty="0">
                    <a:solidFill>
                      <a:sysClr val="windowText" lastClr="000000"/>
                    </a:solidFill>
                    <a:latin typeface="Segoe UI"/>
                  </a:rPr>
                  <a:t>0.787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8695944" y="5011914"/>
                <a:ext cx="2093976" cy="288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0" i="0" dirty="0">
                    <a:solidFill>
                      <a:sysClr val="windowText" lastClr="000000"/>
                    </a:solidFill>
                    <a:latin typeface="Segoe UI"/>
                  </a:rPr>
                  <a:t>Model AUC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8705088" y="5595117"/>
                <a:ext cx="2093976" cy="545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800" b="1" i="0" dirty="0">
                    <a:solidFill>
                      <a:sysClr val="windowText" lastClr="000000"/>
                    </a:solidFill>
                    <a:latin typeface="Segoe UI"/>
                  </a:rPr>
                  <a:t>1.73★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321040" y="6186786"/>
                <a:ext cx="2926080" cy="288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b="0" i="0" dirty="0">
                    <a:solidFill>
                      <a:sysClr val="windowText" lastClr="000000"/>
                    </a:solidFill>
                    <a:latin typeface="Segoe UI"/>
                  </a:rPr>
                  <a:t>Avg </a:t>
                </a:r>
                <a:r>
                  <a:rPr sz="1200" b="0" i="0" dirty="0">
                    <a:solidFill>
                      <a:sysClr val="windowText" lastClr="000000"/>
                    </a:solidFill>
                    <a:latin typeface="Segoe UI"/>
                  </a:rPr>
                  <a:t>Review Score Gap</a:t>
                </a: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AC52189-868E-892D-8026-0813DAA41C4E}"/>
              </a:ext>
            </a:extLst>
          </p:cNvPr>
          <p:cNvSpPr txBox="1"/>
          <p:nvPr/>
        </p:nvSpPr>
        <p:spPr>
          <a:xfrm>
            <a:off x="1104354" y="4372515"/>
            <a:ext cx="5312011" cy="1702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Course: 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DSAI 4103 — Business Analytics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Name: 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Alanood Alyafei – 60074158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Instructor: 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Dr. Elyor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Kodirov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Date: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 April 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2026</a:t>
            </a:r>
            <a:endParaRPr lang="en-US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F02907-2C0E-ACBE-C0B4-CBCEE7CD8366}"/>
              </a:ext>
            </a:extLst>
          </p:cNvPr>
          <p:cNvSpPr/>
          <p:nvPr/>
        </p:nvSpPr>
        <p:spPr>
          <a:xfrm>
            <a:off x="623259" y="4196389"/>
            <a:ext cx="8046720" cy="54864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1EA351D-7AA5-D948-C85F-7E8FB93E8A85}"/>
              </a:ext>
            </a:extLst>
          </p:cNvPr>
          <p:cNvGrpSpPr/>
          <p:nvPr/>
        </p:nvGrpSpPr>
        <p:grpSpPr>
          <a:xfrm>
            <a:off x="884355" y="1058154"/>
            <a:ext cx="7315200" cy="2811812"/>
            <a:chOff x="548640" y="1171300"/>
            <a:chExt cx="7315200" cy="281181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C458F3-0C2D-E715-8DF1-A47F4E9D8339}"/>
                </a:ext>
              </a:extLst>
            </p:cNvPr>
            <p:cNvSpPr txBox="1"/>
            <p:nvPr/>
          </p:nvSpPr>
          <p:spPr>
            <a:xfrm>
              <a:off x="548640" y="1171300"/>
              <a:ext cx="731520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5200" b="1" i="0" dirty="0">
                  <a:solidFill>
                    <a:srgbClr val="FFFFFF"/>
                  </a:solidFill>
                  <a:latin typeface="Segoe UI"/>
                </a:rPr>
                <a:t>Olist Delivery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C5E0BD-F496-C5CD-1537-6906A916E22C}"/>
                </a:ext>
              </a:extLst>
            </p:cNvPr>
            <p:cNvSpPr txBox="1"/>
            <p:nvPr/>
          </p:nvSpPr>
          <p:spPr>
            <a:xfrm>
              <a:off x="548640" y="2103120"/>
              <a:ext cx="731520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5200" b="1" i="0" dirty="0">
                  <a:solidFill>
                    <a:srgbClr val="E8D5F5"/>
                  </a:solidFill>
                  <a:latin typeface="Segoe UI"/>
                </a:rPr>
                <a:t>Intelligence Hub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213090D-1089-66D5-5750-96CB7F6AF75C}"/>
                </a:ext>
              </a:extLst>
            </p:cNvPr>
            <p:cNvSpPr txBox="1"/>
            <p:nvPr/>
          </p:nvSpPr>
          <p:spPr>
            <a:xfrm>
              <a:off x="548640" y="3154680"/>
              <a:ext cx="7315200" cy="8284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700" b="0" i="0" dirty="0">
                  <a:solidFill>
                    <a:srgbClr val="FFFFFF"/>
                  </a:solidFill>
                  <a:latin typeface="Segoe UI"/>
                </a:rPr>
                <a:t>Predicting Late Deliveries with Machine Learning
to Protect Customer Experience at Scale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2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6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A068726-2910-6E58-CB0F-AA4B4B2498FC}"/>
              </a:ext>
            </a:extLst>
          </p:cNvPr>
          <p:cNvGrpSpPr/>
          <p:nvPr/>
        </p:nvGrpSpPr>
        <p:grpSpPr>
          <a:xfrm>
            <a:off x="1271016" y="1463040"/>
            <a:ext cx="4480560" cy="764977"/>
            <a:chOff x="1188720" y="1325880"/>
            <a:chExt cx="4480560" cy="764977"/>
          </a:xfrm>
        </p:grpSpPr>
        <p:sp>
          <p:nvSpPr>
            <p:cNvPr id="9" name="TextBox 8"/>
            <p:cNvSpPr txBox="1"/>
            <p:nvPr/>
          </p:nvSpPr>
          <p:spPr>
            <a:xfrm>
              <a:off x="1188720" y="1325880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The Business Problem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88720" y="1783080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400" b="0" i="1" dirty="0">
                  <a:solidFill>
                    <a:srgbClr val="1A1A2E"/>
                  </a:solidFill>
                  <a:latin typeface="Segoe UI"/>
                </a:rPr>
                <a:t>Impact of late deliveries</a:t>
              </a:r>
              <a:endParaRPr sz="1400" b="0" i="1" dirty="0">
                <a:solidFill>
                  <a:srgbClr val="1A1A2E"/>
                </a:solidFill>
                <a:latin typeface="Segoe UI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6263640" y="1234440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5727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B004F8E-6E65-3641-CB8F-77404CF9D909}"/>
              </a:ext>
            </a:extLst>
          </p:cNvPr>
          <p:cNvGrpSpPr/>
          <p:nvPr/>
        </p:nvGrpSpPr>
        <p:grpSpPr>
          <a:xfrm>
            <a:off x="7077456" y="1463040"/>
            <a:ext cx="4480560" cy="764977"/>
            <a:chOff x="6995160" y="1325880"/>
            <a:chExt cx="4480560" cy="764977"/>
          </a:xfrm>
        </p:grpSpPr>
        <p:sp>
          <p:nvSpPr>
            <p:cNvPr id="14" name="TextBox 13"/>
            <p:cNvSpPr txBox="1"/>
            <p:nvPr/>
          </p:nvSpPr>
          <p:spPr>
            <a:xfrm>
              <a:off x="6995160" y="1325880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Dataset &amp; Preparation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995160" y="1783080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400" b="0" i="1" dirty="0">
                  <a:solidFill>
                    <a:srgbClr val="1A1A2E"/>
                  </a:solidFill>
                  <a:latin typeface="Segoe UI"/>
                </a:rPr>
                <a:t>Data sources &amp; features</a:t>
              </a:r>
              <a:endParaRPr sz="1400" b="0" i="1" dirty="0">
                <a:solidFill>
                  <a:srgbClr val="1A1A2E"/>
                </a:solidFill>
                <a:latin typeface="Segoe UI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457200" y="2560320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8986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8E74C88-8EDE-AED9-26BE-4EC2D0F4BCD4}"/>
              </a:ext>
            </a:extLst>
          </p:cNvPr>
          <p:cNvGrpSpPr/>
          <p:nvPr/>
        </p:nvGrpSpPr>
        <p:grpSpPr>
          <a:xfrm>
            <a:off x="1271016" y="2788920"/>
            <a:ext cx="4480560" cy="764977"/>
            <a:chOff x="1188720" y="2651760"/>
            <a:chExt cx="4480560" cy="764977"/>
          </a:xfrm>
        </p:grpSpPr>
        <p:sp>
          <p:nvSpPr>
            <p:cNvPr id="19" name="TextBox 18"/>
            <p:cNvSpPr txBox="1"/>
            <p:nvPr/>
          </p:nvSpPr>
          <p:spPr>
            <a:xfrm>
              <a:off x="1188720" y="2651760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Exploratory Data Analysis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8720" y="3108960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solidFill>
                    <a:srgbClr val="1A1A2E"/>
                  </a:solidFill>
                  <a:latin typeface="Segoe UI"/>
                </a:rPr>
                <a:t>Delivery days, state, category, payment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6263640" y="2560320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560320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28986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17CED9A-1A43-BE87-B4DB-2AF22037161D}"/>
              </a:ext>
            </a:extLst>
          </p:cNvPr>
          <p:cNvGrpSpPr/>
          <p:nvPr/>
        </p:nvGrpSpPr>
        <p:grpSpPr>
          <a:xfrm>
            <a:off x="7077456" y="2788920"/>
            <a:ext cx="4480560" cy="764977"/>
            <a:chOff x="6995160" y="2651760"/>
            <a:chExt cx="4480560" cy="764977"/>
          </a:xfrm>
        </p:grpSpPr>
        <p:sp>
          <p:nvSpPr>
            <p:cNvPr id="24" name="TextBox 23"/>
            <p:cNvSpPr txBox="1"/>
            <p:nvPr/>
          </p:nvSpPr>
          <p:spPr>
            <a:xfrm>
              <a:off x="6995160" y="2651760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Predictive Modeling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995160" y="3108960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400" b="0" i="1" dirty="0">
                  <a:solidFill>
                    <a:srgbClr val="1A1A2E"/>
                  </a:solidFill>
                  <a:latin typeface="Segoe UI"/>
                </a:rPr>
                <a:t>AutoML &amp; model performance</a:t>
              </a:r>
              <a:endParaRPr sz="1400" b="0" i="1" dirty="0">
                <a:solidFill>
                  <a:srgbClr val="1A1A2E"/>
                </a:solidFill>
                <a:latin typeface="Segoe UI"/>
              </a:endParaRPr>
            </a:p>
          </p:txBody>
        </p:sp>
      </p:grpSp>
      <p:sp>
        <p:nvSpPr>
          <p:cNvPr id="26" name="Rectangle 25"/>
          <p:cNvSpPr/>
          <p:nvPr/>
        </p:nvSpPr>
        <p:spPr>
          <a:xfrm>
            <a:off x="457200" y="3886200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886200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2245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6531B7D-413C-6AED-D4BF-37E728989EB1}"/>
              </a:ext>
            </a:extLst>
          </p:cNvPr>
          <p:cNvGrpSpPr/>
          <p:nvPr/>
        </p:nvGrpSpPr>
        <p:grpSpPr>
          <a:xfrm>
            <a:off x="1188720" y="3977640"/>
            <a:ext cx="4480560" cy="764977"/>
            <a:chOff x="1188720" y="3977640"/>
            <a:chExt cx="4480560" cy="764977"/>
          </a:xfrm>
        </p:grpSpPr>
        <p:sp>
          <p:nvSpPr>
            <p:cNvPr id="29" name="TextBox 28"/>
            <p:cNvSpPr txBox="1"/>
            <p:nvPr/>
          </p:nvSpPr>
          <p:spPr>
            <a:xfrm>
              <a:off x="1188720" y="3977640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Model Explainability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88720" y="4434840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1" dirty="0">
                  <a:solidFill>
                    <a:srgbClr val="1A1A2E"/>
                  </a:solidFill>
                  <a:latin typeface="Segoe UI"/>
                </a:rPr>
                <a:t>SHAP analysis — what drives late deliveries</a:t>
              </a:r>
            </a:p>
          </p:txBody>
        </p:sp>
      </p:grpSp>
      <p:sp>
        <p:nvSpPr>
          <p:cNvPr id="31" name="Rectangle 30"/>
          <p:cNvSpPr/>
          <p:nvPr/>
        </p:nvSpPr>
        <p:spPr>
          <a:xfrm>
            <a:off x="6263640" y="3886200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3886200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63640" y="42245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F370C60-0C08-A7D3-2F5B-EBF4ACC63BC9}"/>
              </a:ext>
            </a:extLst>
          </p:cNvPr>
          <p:cNvGrpSpPr/>
          <p:nvPr/>
        </p:nvGrpSpPr>
        <p:grpSpPr>
          <a:xfrm>
            <a:off x="7077456" y="4114800"/>
            <a:ext cx="4480560" cy="764977"/>
            <a:chOff x="6995160" y="3977640"/>
            <a:chExt cx="4480560" cy="764977"/>
          </a:xfrm>
        </p:grpSpPr>
        <p:sp>
          <p:nvSpPr>
            <p:cNvPr id="34" name="TextBox 33"/>
            <p:cNvSpPr txBox="1"/>
            <p:nvPr/>
          </p:nvSpPr>
          <p:spPr>
            <a:xfrm>
              <a:off x="6995160" y="3977640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Bias &amp; Fairness Analysis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995160" y="4434840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1" dirty="0">
                  <a:solidFill>
                    <a:srgbClr val="1A1A2E"/>
                  </a:solidFill>
                  <a:latin typeface="Segoe UI"/>
                </a:rPr>
                <a:t>Regional fairness audit and mitigation plan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457200" y="5212079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5212079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5550407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4D593B-6EA7-6500-87FB-E99CC5DFCCA8}"/>
              </a:ext>
            </a:extLst>
          </p:cNvPr>
          <p:cNvGrpSpPr/>
          <p:nvPr/>
        </p:nvGrpSpPr>
        <p:grpSpPr>
          <a:xfrm>
            <a:off x="1271016" y="5440679"/>
            <a:ext cx="4480560" cy="764977"/>
            <a:chOff x="1188720" y="5303519"/>
            <a:chExt cx="4480560" cy="764977"/>
          </a:xfrm>
        </p:grpSpPr>
        <p:sp>
          <p:nvSpPr>
            <p:cNvPr id="39" name="TextBox 38"/>
            <p:cNvSpPr txBox="1"/>
            <p:nvPr/>
          </p:nvSpPr>
          <p:spPr>
            <a:xfrm>
              <a:off x="1188720" y="5303519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Deployment Architecture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188720" y="5760719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solidFill>
                    <a:srgbClr val="1A1A2E"/>
                  </a:solidFill>
                  <a:latin typeface="Segoe UI"/>
                </a:rPr>
                <a:t>score.py + Flask REST API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6263640" y="5212079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63640" y="5212079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63640" y="5550407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E51407-288D-1A0B-2653-15478EF6C0AC}"/>
              </a:ext>
            </a:extLst>
          </p:cNvPr>
          <p:cNvGrpSpPr/>
          <p:nvPr/>
        </p:nvGrpSpPr>
        <p:grpSpPr>
          <a:xfrm>
            <a:off x="7077456" y="5440679"/>
            <a:ext cx="4480560" cy="764977"/>
            <a:chOff x="6995160" y="5303519"/>
            <a:chExt cx="4480560" cy="764977"/>
          </a:xfrm>
        </p:grpSpPr>
        <p:sp>
          <p:nvSpPr>
            <p:cNvPr id="44" name="TextBox 43"/>
            <p:cNvSpPr txBox="1"/>
            <p:nvPr/>
          </p:nvSpPr>
          <p:spPr>
            <a:xfrm>
              <a:off x="6995160" y="5303519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Tableau Dashboard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995160" y="5760719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solidFill>
                    <a:srgbClr val="1A1A2E"/>
                  </a:solidFill>
                  <a:latin typeface="Segoe UI"/>
                </a:rPr>
                <a:t>9 interactive dashboard views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3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6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79"/>
            <a:ext cx="2011680" cy="457199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173016"/>
            <a:ext cx="2087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01 </a:t>
            </a:r>
            <a:r>
              <a:rPr lang="en-US" sz="11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ilk Tea Font TH Bold"/>
                <a:sym typeface="Milk Tea Font TH Bold"/>
              </a:rPr>
              <a:t>Introduction  &amp; </a:t>
            </a:r>
            <a:r>
              <a:rPr sz="1100" b="1" i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9816" y="292608"/>
            <a:ext cx="54589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Segoe UI"/>
              </a:rPr>
              <a:t>The Cost of Late Deliveries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" y="1143000"/>
            <a:ext cx="8603673" cy="785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dirty="0">
                <a:solidFill>
                  <a:srgbClr val="1A1A2E"/>
                </a:solidFill>
                <a:latin typeface="Segoe UI"/>
              </a:rPr>
              <a:t>Olist is Brazil's largest e-commerce marketplace aggregator.
Every late delivery damages customer trust — and the data confirms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3383280" cy="1463040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2D8E"/>
                </a:solidFill>
                <a:latin typeface="Segoe UI"/>
              </a:rPr>
              <a:t>8.1%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A1A2E"/>
                </a:solidFill>
                <a:latin typeface="Segoe UI"/>
              </a:rPr>
              <a:t>Late Order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3383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 dirty="0">
                <a:solidFill>
                  <a:srgbClr val="9B59B6"/>
                </a:solidFill>
                <a:latin typeface="Segoe UI"/>
              </a:rPr>
              <a:t>7,826 of 96,470 delivered orders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057400"/>
            <a:ext cx="3383280" cy="1463040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2148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2D8E"/>
                </a:solidFill>
                <a:latin typeface="Segoe UI"/>
              </a:rPr>
              <a:t>2.4 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743200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A1A2E"/>
                </a:solidFill>
                <a:latin typeface="Segoe UI"/>
              </a:rPr>
              <a:t>Avg Review (Late)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06324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B59B6"/>
                </a:solidFill>
                <a:latin typeface="Segoe UI"/>
              </a:rPr>
              <a:t>vs 4.3★ for on-time orders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057400"/>
            <a:ext cx="3383280" cy="1463040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2148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2D8E"/>
                </a:solidFill>
                <a:latin typeface="Segoe UI"/>
              </a:rPr>
              <a:t>1.73★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743200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A1A2E"/>
                </a:solidFill>
                <a:latin typeface="Segoe UI"/>
              </a:rPr>
              <a:t>Review</a:t>
            </a:r>
            <a:r>
              <a:rPr sz="1200" b="0" i="0" dirty="0">
                <a:solidFill>
                  <a:srgbClr val="1A1A2E"/>
                </a:solidFill>
                <a:latin typeface="Segoe UI"/>
              </a:rPr>
              <a:t> Score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06324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9B59B6"/>
                </a:solidFill>
                <a:latin typeface="Segoe UI"/>
              </a:rPr>
              <a:t>Direct measurable cost per late order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49039"/>
            <a:ext cx="11247120" cy="9144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749039"/>
            <a:ext cx="11247120" cy="8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  <a:latin typeface="Segoe UI"/>
              </a:rPr>
              <a:t> At Olist's scale: thousands of negative reviews/month, seller de-listing risk, customer churn. The goal is to predict late deliveries BEFORE they ship — enabling proactive intervention.</a:t>
            </a:r>
            <a:endParaRPr b="0" i="0" dirty="0">
              <a:solidFill>
                <a:srgbClr val="FFFFFF"/>
              </a:solidFill>
              <a:latin typeface="Segoe U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DAF74EB-F1A4-0DBE-3CA9-1901149EC94E}"/>
              </a:ext>
            </a:extLst>
          </p:cNvPr>
          <p:cNvGrpSpPr/>
          <p:nvPr/>
        </p:nvGrpSpPr>
        <p:grpSpPr>
          <a:xfrm>
            <a:off x="653143" y="4990488"/>
            <a:ext cx="11247120" cy="1459065"/>
            <a:chOff x="457200" y="4940068"/>
            <a:chExt cx="11247120" cy="1459065"/>
          </a:xfrm>
        </p:grpSpPr>
        <p:sp>
          <p:nvSpPr>
            <p:cNvPr id="23" name="TextBox 22"/>
            <p:cNvSpPr txBox="1"/>
            <p:nvPr/>
          </p:nvSpPr>
          <p:spPr>
            <a:xfrm>
              <a:off x="457200" y="4940068"/>
              <a:ext cx="264261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i="0" dirty="0">
                  <a:solidFill>
                    <a:srgbClr val="5B2D8E"/>
                  </a:solidFill>
                  <a:latin typeface="Segoe UI"/>
                </a:rPr>
                <a:t>The Problem Statement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7200" y="5166360"/>
              <a:ext cx="11247120" cy="12327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200000"/>
                </a:lnSpc>
              </a:pPr>
              <a:r>
                <a:rPr sz="1250" b="0" i="0" dirty="0">
                  <a:solidFill>
                    <a:srgbClr val="1A1A2E"/>
                  </a:solidFill>
                  <a:latin typeface="Segoe UI"/>
                </a:rPr>
                <a:t>→  Late deliveries are currently discovered </a:t>
              </a:r>
              <a:r>
                <a:rPr sz="1250" b="1" i="0" dirty="0">
                  <a:solidFill>
                    <a:srgbClr val="1A1A2E"/>
                  </a:solidFill>
                  <a:latin typeface="Segoe UI"/>
                </a:rPr>
                <a:t>AFTER</a:t>
              </a:r>
              <a:r>
                <a:rPr sz="1250" b="0" i="0" dirty="0">
                  <a:solidFill>
                    <a:srgbClr val="1A1A2E"/>
                  </a:solidFill>
                  <a:latin typeface="Segoe UI"/>
                </a:rPr>
                <a:t> they happen — reactive, not proactive</a:t>
              </a:r>
              <a:r>
                <a:rPr lang="en-US" sz="1250" b="0" i="0" dirty="0">
                  <a:solidFill>
                    <a:srgbClr val="1A1A2E"/>
                  </a:solidFill>
                  <a:latin typeface="Segoe UI"/>
                </a:rPr>
                <a:t>.</a:t>
              </a:r>
            </a:p>
            <a:p>
              <a:pPr>
                <a:lnSpc>
                  <a:spcPct val="200000"/>
                </a:lnSpc>
              </a:pPr>
              <a:r>
                <a:rPr lang="en-US" sz="1250" dirty="0">
                  <a:solidFill>
                    <a:srgbClr val="1A1A2E"/>
                  </a:solidFill>
                  <a:latin typeface="Segoe UI"/>
                </a:rPr>
                <a:t>→  </a:t>
              </a:r>
              <a:r>
                <a:rPr lang="en-US" sz="1250" b="1" dirty="0">
                  <a:solidFill>
                    <a:srgbClr val="1A1A2E"/>
                  </a:solidFill>
                  <a:latin typeface="Segoe UI"/>
                </a:rPr>
                <a:t>Root causes </a:t>
              </a:r>
              <a:r>
                <a:rPr lang="en-US" sz="1400" dirty="0"/>
                <a:t>include</a:t>
              </a:r>
              <a:r>
                <a:rPr lang="en-US" sz="1250" dirty="0">
                  <a:solidFill>
                    <a:srgbClr val="1A1A2E"/>
                  </a:solidFill>
                  <a:latin typeface="Segoe UI"/>
                </a:rPr>
                <a:t> seller behavior, geography, seasonality, and product type.</a:t>
              </a:r>
            </a:p>
            <a:p>
              <a:pPr>
                <a:lnSpc>
                  <a:spcPct val="200000"/>
                </a:lnSpc>
              </a:pPr>
              <a:r>
                <a:rPr lang="en-US" sz="1250" dirty="0">
                  <a:solidFill>
                    <a:srgbClr val="1A1A2E"/>
                  </a:solidFill>
                  <a:latin typeface="Segoe UI"/>
                </a:rPr>
                <a:t>→  </a:t>
              </a:r>
              <a:r>
                <a:rPr lang="en-US" sz="1250" b="1" dirty="0">
                  <a:solidFill>
                    <a:srgbClr val="1A1A2E"/>
                  </a:solidFill>
                  <a:latin typeface="Segoe UI"/>
                </a:rPr>
                <a:t>Goal: </a:t>
              </a:r>
              <a:r>
                <a:rPr lang="en-US" sz="1250" dirty="0">
                  <a:solidFill>
                    <a:srgbClr val="1A1A2E"/>
                  </a:solidFill>
                  <a:latin typeface="Segoe UI"/>
                </a:rPr>
                <a:t>Predict whether an order will be late </a:t>
              </a:r>
              <a:r>
                <a:rPr lang="en-US" sz="1250" b="1" dirty="0">
                  <a:solidFill>
                    <a:srgbClr val="1A1A2E"/>
                  </a:solidFill>
                  <a:latin typeface="Segoe UI"/>
                </a:rPr>
                <a:t>BEFORE</a:t>
              </a:r>
              <a:r>
                <a:rPr lang="en-US" sz="1250" dirty="0">
                  <a:solidFill>
                    <a:srgbClr val="1A1A2E"/>
                  </a:solidFill>
                  <a:latin typeface="Segoe UI"/>
                </a:rPr>
                <a:t> it ships, enabling early intervention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4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6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02 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7797" y="274320"/>
            <a:ext cx="8138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Segoe UI"/>
              </a:rPr>
              <a:t>7 Data Sources → 1 Unified Analytics Dataset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6B4FC4D-F280-4537-C98C-D0D1051EB919}"/>
              </a:ext>
            </a:extLst>
          </p:cNvPr>
          <p:cNvGrpSpPr/>
          <p:nvPr/>
        </p:nvGrpSpPr>
        <p:grpSpPr>
          <a:xfrm>
            <a:off x="338328" y="2947416"/>
            <a:ext cx="7498080" cy="3054096"/>
            <a:chOff x="365760" y="1097280"/>
            <a:chExt cx="7498080" cy="3054096"/>
          </a:xfrm>
        </p:grpSpPr>
        <p:sp>
          <p:nvSpPr>
            <p:cNvPr id="8" name="Rectangle 7"/>
            <p:cNvSpPr/>
            <p:nvPr/>
          </p:nvSpPr>
          <p:spPr>
            <a:xfrm>
              <a:off x="365760" y="1097280"/>
              <a:ext cx="7498079" cy="365760"/>
            </a:xfrm>
            <a:prstGeom prst="rect">
              <a:avLst/>
            </a:prstGeom>
            <a:solidFill>
              <a:srgbClr val="9B59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C99AA60-5492-5DFA-DED0-E6B3546C02F6}"/>
                </a:ext>
              </a:extLst>
            </p:cNvPr>
            <p:cNvGrpSpPr/>
            <p:nvPr/>
          </p:nvGrpSpPr>
          <p:grpSpPr>
            <a:xfrm>
              <a:off x="365760" y="1133856"/>
              <a:ext cx="7498080" cy="3017520"/>
              <a:chOff x="365760" y="1133856"/>
              <a:chExt cx="7498080" cy="3017520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1967D2C2-F02E-C8C5-FF78-5C1AE846FF3F}"/>
                  </a:ext>
                </a:extLst>
              </p:cNvPr>
              <p:cNvGrpSpPr/>
              <p:nvPr/>
            </p:nvGrpSpPr>
            <p:grpSpPr>
              <a:xfrm>
                <a:off x="429768" y="1133856"/>
                <a:ext cx="7406640" cy="365760"/>
                <a:chOff x="457200" y="1097280"/>
                <a:chExt cx="7406640" cy="365760"/>
              </a:xfrm>
            </p:grpSpPr>
            <p:sp>
              <p:nvSpPr>
                <p:cNvPr id="9" name="TextBox 8"/>
                <p:cNvSpPr txBox="1"/>
                <p:nvPr/>
              </p:nvSpPr>
              <p:spPr>
                <a:xfrm>
                  <a:off x="457200" y="1097280"/>
                  <a:ext cx="4114800" cy="3657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200" b="1" i="0">
                      <a:solidFill>
                        <a:srgbClr val="FFFFFF"/>
                      </a:solidFill>
                      <a:latin typeface="Segoe UI"/>
                    </a:rPr>
                    <a:t>Dataset File</a:t>
                  </a:r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3922776" y="1097280"/>
                  <a:ext cx="1371600" cy="3657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200" b="1" i="0" dirty="0">
                      <a:solidFill>
                        <a:srgbClr val="FFFFFF"/>
                      </a:solidFill>
                      <a:latin typeface="Segoe UI"/>
                    </a:rPr>
                    <a:t>Rows</a:t>
                  </a: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6126480" y="1097280"/>
                  <a:ext cx="1737360" cy="3657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200" b="1" i="0" dirty="0">
                      <a:solidFill>
                        <a:srgbClr val="FFFFFF"/>
                      </a:solidFill>
                      <a:latin typeface="Segoe UI"/>
                    </a:rPr>
                    <a:t>Key Content</a:t>
                  </a:r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365760" y="1463040"/>
                <a:ext cx="7498079" cy="384048"/>
              </a:xfrm>
              <a:prstGeom prst="rect">
                <a:avLst/>
              </a:prstGeom>
              <a:solidFill>
                <a:srgbClr val="F0E8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365760" y="1847088"/>
                <a:ext cx="7498079" cy="384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365760" y="2231136"/>
                <a:ext cx="7498079" cy="384048"/>
              </a:xfrm>
              <a:prstGeom prst="rect">
                <a:avLst/>
              </a:prstGeom>
              <a:solidFill>
                <a:srgbClr val="F0E8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365760" y="2615184"/>
                <a:ext cx="7498079" cy="384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365760" y="2999232"/>
                <a:ext cx="7498079" cy="384048"/>
              </a:xfrm>
              <a:prstGeom prst="rect">
                <a:avLst/>
              </a:prstGeom>
              <a:solidFill>
                <a:srgbClr val="F0E8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365760" y="3383280"/>
                <a:ext cx="7498079" cy="384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365760" y="3767328"/>
                <a:ext cx="7498079" cy="384048"/>
              </a:xfrm>
              <a:prstGeom prst="rect">
                <a:avLst/>
              </a:prstGeom>
              <a:solidFill>
                <a:srgbClr val="F0E8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165037A5-6D3B-4A49-92BF-A9A3AF707AC8}"/>
                  </a:ext>
                </a:extLst>
              </p:cNvPr>
              <p:cNvGrpSpPr/>
              <p:nvPr/>
            </p:nvGrpSpPr>
            <p:grpSpPr>
              <a:xfrm>
                <a:off x="365760" y="1499616"/>
                <a:ext cx="2715768" cy="2612065"/>
                <a:chOff x="365760" y="1463040"/>
                <a:chExt cx="4206240" cy="2612065"/>
              </a:xfrm>
            </p:grpSpPr>
            <p:sp>
              <p:nvSpPr>
                <p:cNvPr id="13" name="TextBox 12"/>
                <p:cNvSpPr txBox="1"/>
                <p:nvPr/>
              </p:nvSpPr>
              <p:spPr>
                <a:xfrm>
                  <a:off x="365760" y="1463040"/>
                  <a:ext cx="42062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0" dirty="0">
                      <a:solidFill>
                        <a:srgbClr val="1A1A2E"/>
                      </a:solidFill>
                      <a:latin typeface="Segoe UI"/>
                    </a:rPr>
                    <a:t>  </a:t>
                  </a:r>
                  <a:r>
                    <a:rPr sz="1400" b="0" i="0" dirty="0" err="1">
                      <a:solidFill>
                        <a:srgbClr val="1A1A2E"/>
                      </a:solidFill>
                      <a:latin typeface="Segoe UI"/>
                    </a:rPr>
                    <a:t>olist_orders_dataset</a:t>
                  </a:r>
                  <a:endParaRPr sz="1400" b="0" i="0" dirty="0">
                    <a:solidFill>
                      <a:srgbClr val="1A1A2E"/>
                    </a:solidFill>
                    <a:latin typeface="Segoe UI"/>
                  </a:endParaRPr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365760" y="1847088"/>
                  <a:ext cx="42062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0" dirty="0">
                      <a:solidFill>
                        <a:srgbClr val="1A1A2E"/>
                      </a:solidFill>
                      <a:latin typeface="Segoe UI"/>
                    </a:rPr>
                    <a:t>  </a:t>
                  </a:r>
                  <a:r>
                    <a:rPr sz="1400" b="0" i="0" dirty="0" err="1">
                      <a:solidFill>
                        <a:srgbClr val="1A1A2E"/>
                      </a:solidFill>
                      <a:latin typeface="Segoe UI"/>
                    </a:rPr>
                    <a:t>olist_order_items_dataset</a:t>
                  </a:r>
                  <a:endParaRPr sz="1400" b="0" i="0" dirty="0">
                    <a:solidFill>
                      <a:srgbClr val="1A1A2E"/>
                    </a:solidFill>
                    <a:latin typeface="Segoe UI"/>
                  </a:endParaRPr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365760" y="2231136"/>
                  <a:ext cx="42062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0" dirty="0">
                      <a:solidFill>
                        <a:srgbClr val="1A1A2E"/>
                      </a:solidFill>
                      <a:latin typeface="Segoe UI"/>
                    </a:rPr>
                    <a:t>  </a:t>
                  </a:r>
                  <a:r>
                    <a:rPr sz="1400" b="0" i="0" dirty="0" err="1">
                      <a:solidFill>
                        <a:srgbClr val="1A1A2E"/>
                      </a:solidFill>
                      <a:latin typeface="Segoe UI"/>
                    </a:rPr>
                    <a:t>olist_order_payments_dataset</a:t>
                  </a:r>
                  <a:endParaRPr sz="1400" b="0" i="0" dirty="0">
                    <a:solidFill>
                      <a:srgbClr val="1A1A2E"/>
                    </a:solidFill>
                    <a:latin typeface="Segoe UI"/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>
                  <a:off x="365760" y="2615184"/>
                  <a:ext cx="42062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0" dirty="0">
                      <a:solidFill>
                        <a:srgbClr val="1A1A2E"/>
                      </a:solidFill>
                      <a:latin typeface="Segoe UI"/>
                    </a:rPr>
                    <a:t>  </a:t>
                  </a:r>
                  <a:r>
                    <a:rPr sz="1400" b="0" i="0" dirty="0" err="1">
                      <a:solidFill>
                        <a:srgbClr val="1A1A2E"/>
                      </a:solidFill>
                      <a:latin typeface="Segoe UI"/>
                    </a:rPr>
                    <a:t>olist_order_reviews_dataset</a:t>
                  </a:r>
                  <a:endParaRPr sz="1400" b="0" i="0" dirty="0">
                    <a:solidFill>
                      <a:srgbClr val="1A1A2E"/>
                    </a:solidFill>
                    <a:latin typeface="Segoe UI"/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365760" y="2999232"/>
                  <a:ext cx="42062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0" dirty="0">
                      <a:solidFill>
                        <a:srgbClr val="1A1A2E"/>
                      </a:solidFill>
                      <a:latin typeface="Segoe UI"/>
                    </a:rPr>
                    <a:t>  </a:t>
                  </a:r>
                  <a:r>
                    <a:rPr sz="1400" b="0" i="0" dirty="0" err="1">
                      <a:solidFill>
                        <a:srgbClr val="1A1A2E"/>
                      </a:solidFill>
                      <a:latin typeface="Segoe UI"/>
                    </a:rPr>
                    <a:t>olist_customers_dataset</a:t>
                  </a:r>
                  <a:endParaRPr sz="1400" b="0" i="0" dirty="0">
                    <a:solidFill>
                      <a:srgbClr val="1A1A2E"/>
                    </a:solidFill>
                    <a:latin typeface="Segoe UI"/>
                  </a:endParaRPr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365760" y="3383280"/>
                  <a:ext cx="42062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0" dirty="0">
                      <a:solidFill>
                        <a:srgbClr val="1A1A2E"/>
                      </a:solidFill>
                      <a:latin typeface="Segoe UI"/>
                    </a:rPr>
                    <a:t>  </a:t>
                  </a:r>
                  <a:r>
                    <a:rPr sz="1400" b="0" i="0" dirty="0" err="1">
                      <a:solidFill>
                        <a:srgbClr val="1A1A2E"/>
                      </a:solidFill>
                      <a:latin typeface="Segoe UI"/>
                    </a:rPr>
                    <a:t>olist_products_dataset</a:t>
                  </a:r>
                  <a:endParaRPr sz="1400" b="0" i="0" dirty="0">
                    <a:solidFill>
                      <a:srgbClr val="1A1A2E"/>
                    </a:solidFill>
                    <a:latin typeface="Segoe UI"/>
                  </a:endParaRPr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365760" y="3767328"/>
                  <a:ext cx="42062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0" dirty="0">
                      <a:solidFill>
                        <a:srgbClr val="1A1A2E"/>
                      </a:solidFill>
                      <a:latin typeface="Segoe UI"/>
                    </a:rPr>
                    <a:t>  </a:t>
                  </a:r>
                  <a:r>
                    <a:rPr sz="1400" b="0" i="0" dirty="0" err="1">
                      <a:solidFill>
                        <a:srgbClr val="1A1A2E"/>
                      </a:solidFill>
                      <a:latin typeface="Segoe UI"/>
                    </a:rPr>
                    <a:t>olist_sellers_dataset</a:t>
                  </a:r>
                  <a:endParaRPr sz="1400" b="0" i="0" dirty="0">
                    <a:solidFill>
                      <a:srgbClr val="1A1A2E"/>
                    </a:solidFill>
                    <a:latin typeface="Segoe UI"/>
                  </a:endParaRPr>
                </a:p>
              </p:txBody>
            </p:sp>
          </p:grp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DAB6A548-791D-68B6-58C0-04787DAE8E4A}"/>
                  </a:ext>
                </a:extLst>
              </p:cNvPr>
              <p:cNvGrpSpPr/>
              <p:nvPr/>
            </p:nvGrpSpPr>
            <p:grpSpPr>
              <a:xfrm>
                <a:off x="3520440" y="1499616"/>
                <a:ext cx="1371600" cy="2612065"/>
                <a:chOff x="4663440" y="1463040"/>
                <a:chExt cx="1371600" cy="2612065"/>
              </a:xfrm>
            </p:grpSpPr>
            <p:sp>
              <p:nvSpPr>
                <p:cNvPr id="14" name="TextBox 13"/>
                <p:cNvSpPr txBox="1"/>
                <p:nvPr/>
              </p:nvSpPr>
              <p:spPr>
                <a:xfrm>
                  <a:off x="4663440" y="1463040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400" b="1" i="0" dirty="0">
                      <a:solidFill>
                        <a:srgbClr val="5B2D8E"/>
                      </a:solidFill>
                      <a:latin typeface="Segoe UI"/>
                    </a:rPr>
                    <a:t>99,441</a:t>
                  </a: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4663440" y="1847088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400" b="1" i="0">
                      <a:solidFill>
                        <a:srgbClr val="5B2D8E"/>
                      </a:solidFill>
                      <a:latin typeface="Segoe UI"/>
                    </a:rPr>
                    <a:t>112,650</a:t>
                  </a:r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4663440" y="2231136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400" b="1" i="0">
                      <a:solidFill>
                        <a:srgbClr val="5B2D8E"/>
                      </a:solidFill>
                      <a:latin typeface="Segoe UI"/>
                    </a:rPr>
                    <a:t>103,886</a:t>
                  </a:r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4663440" y="2615184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400" b="1" i="0">
                      <a:solidFill>
                        <a:srgbClr val="5B2D8E"/>
                      </a:solidFill>
                      <a:latin typeface="Segoe UI"/>
                    </a:rPr>
                    <a:t>99,224</a:t>
                  </a:r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4663440" y="2999232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400" b="1" i="0">
                      <a:solidFill>
                        <a:srgbClr val="5B2D8E"/>
                      </a:solidFill>
                      <a:latin typeface="Segoe UI"/>
                    </a:rPr>
                    <a:t>99,441</a:t>
                  </a:r>
                </a:p>
              </p:txBody>
            </p:sp>
            <p:sp>
              <p:nvSpPr>
                <p:cNvPr id="34" name="TextBox 33"/>
                <p:cNvSpPr txBox="1"/>
                <p:nvPr/>
              </p:nvSpPr>
              <p:spPr>
                <a:xfrm>
                  <a:off x="4663440" y="3383280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400" b="1" i="0">
                      <a:solidFill>
                        <a:srgbClr val="5B2D8E"/>
                      </a:solidFill>
                      <a:latin typeface="Segoe UI"/>
                    </a:rPr>
                    <a:t>32,951</a:t>
                  </a:r>
                </a:p>
              </p:txBody>
            </p:sp>
            <p:sp>
              <p:nvSpPr>
                <p:cNvPr id="38" name="TextBox 37"/>
                <p:cNvSpPr txBox="1"/>
                <p:nvPr/>
              </p:nvSpPr>
              <p:spPr>
                <a:xfrm>
                  <a:off x="4663440" y="3767328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400" b="1" i="0">
                      <a:solidFill>
                        <a:srgbClr val="5B2D8E"/>
                      </a:solidFill>
                      <a:latin typeface="Segoe UI"/>
                    </a:rPr>
                    <a:t>3,095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C6353B3A-88FC-FF05-EF39-CDB0FE2CABD9}"/>
                  </a:ext>
                </a:extLst>
              </p:cNvPr>
              <p:cNvGrpSpPr/>
              <p:nvPr/>
            </p:nvGrpSpPr>
            <p:grpSpPr>
              <a:xfrm>
                <a:off x="5431536" y="1499616"/>
                <a:ext cx="2432304" cy="2612065"/>
                <a:chOff x="6126480" y="1463040"/>
                <a:chExt cx="1737360" cy="2612065"/>
              </a:xfrm>
            </p:grpSpPr>
            <p:sp>
              <p:nvSpPr>
                <p:cNvPr id="15" name="TextBox 14"/>
                <p:cNvSpPr txBox="1"/>
                <p:nvPr/>
              </p:nvSpPr>
              <p:spPr>
                <a:xfrm>
                  <a:off x="6126480" y="1463040"/>
                  <a:ext cx="173736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1" dirty="0">
                      <a:solidFill>
                        <a:srgbClr val="1A1A2E"/>
                      </a:solidFill>
                      <a:latin typeface="Segoe UI"/>
                    </a:rPr>
                    <a:t>Order lifecycle timestamps</a:t>
                  </a: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6126480" y="1847088"/>
                  <a:ext cx="173736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1">
                      <a:solidFill>
                        <a:srgbClr val="1A1A2E"/>
                      </a:solidFill>
                      <a:latin typeface="Segoe UI"/>
                    </a:rPr>
                    <a:t>Products, sellers, prices</a:t>
                  </a: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6126480" y="2231136"/>
                  <a:ext cx="173736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1">
                      <a:solidFill>
                        <a:srgbClr val="1A1A2E"/>
                      </a:solidFill>
                      <a:latin typeface="Segoe UI"/>
                    </a:rPr>
                    <a:t>Payment type &amp; installments</a:t>
                  </a:r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6126480" y="2615184"/>
                  <a:ext cx="173736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1">
                      <a:solidFill>
                        <a:srgbClr val="1A1A2E"/>
                      </a:solidFill>
                      <a:latin typeface="Segoe UI"/>
                    </a:rPr>
                    <a:t>Customer review scores</a:t>
                  </a: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6126480" y="2999232"/>
                  <a:ext cx="173736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1" dirty="0">
                      <a:solidFill>
                        <a:srgbClr val="1A1A2E"/>
                      </a:solidFill>
                      <a:latin typeface="Segoe UI"/>
                    </a:rPr>
                    <a:t>Customer state &amp; city</a:t>
                  </a:r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6126480" y="3383280"/>
                  <a:ext cx="173736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1">
                      <a:solidFill>
                        <a:srgbClr val="1A1A2E"/>
                      </a:solidFill>
                      <a:latin typeface="Segoe UI"/>
                    </a:rPr>
                    <a:t>Category, weight, volume</a:t>
                  </a:r>
                </a:p>
              </p:txBody>
            </p:sp>
            <p:sp>
              <p:nvSpPr>
                <p:cNvPr id="39" name="TextBox 38"/>
                <p:cNvSpPr txBox="1"/>
                <p:nvPr/>
              </p:nvSpPr>
              <p:spPr>
                <a:xfrm>
                  <a:off x="6126480" y="3767328"/>
                  <a:ext cx="173736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1" dirty="0">
                      <a:solidFill>
                        <a:srgbClr val="1A1A2E"/>
                      </a:solidFill>
                      <a:latin typeface="Segoe UI"/>
                    </a:rPr>
                    <a:t>Seller state &amp; city</a:t>
                  </a:r>
                </a:p>
              </p:txBody>
            </p:sp>
          </p:grp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9561D74-F771-7230-8986-C30E1AE97C7D}"/>
              </a:ext>
            </a:extLst>
          </p:cNvPr>
          <p:cNvGrpSpPr/>
          <p:nvPr/>
        </p:nvGrpSpPr>
        <p:grpSpPr>
          <a:xfrm>
            <a:off x="8229600" y="1252728"/>
            <a:ext cx="3474720" cy="5111496"/>
            <a:chOff x="8229600" y="1097280"/>
            <a:chExt cx="3474720" cy="5111496"/>
          </a:xfrm>
        </p:grpSpPr>
        <p:sp>
          <p:nvSpPr>
            <p:cNvPr id="40" name="Rectangle 39"/>
            <p:cNvSpPr/>
            <p:nvPr/>
          </p:nvSpPr>
          <p:spPr>
            <a:xfrm>
              <a:off x="8229600" y="1097280"/>
              <a:ext cx="3474720" cy="51114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8229600" y="1097280"/>
              <a:ext cx="3474720" cy="457200"/>
            </a:xfrm>
            <a:prstGeom prst="rect">
              <a:avLst/>
            </a:prstGeom>
            <a:solidFill>
              <a:srgbClr val="5B2D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229600" y="1152696"/>
              <a:ext cx="347472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i="0" dirty="0">
                  <a:solidFill>
                    <a:srgbClr val="FFFFFF"/>
                  </a:solidFill>
                  <a:latin typeface="Segoe UI"/>
                </a:rPr>
                <a:t>Final Dataset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321040" y="1691640"/>
              <a:ext cx="32918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5B2D8E"/>
                  </a:solidFill>
                  <a:latin typeface="Segoe UI"/>
                </a:rPr>
                <a:t>96,470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321040" y="2057400"/>
              <a:ext cx="32918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1A1A2E"/>
                  </a:solidFill>
                  <a:latin typeface="Segoe UI"/>
                </a:rPr>
                <a:t>Delivered Orders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595360" y="2377440"/>
              <a:ext cx="2743200" cy="1270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321040" y="2441448"/>
              <a:ext cx="32918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5B2D8E"/>
                  </a:solidFill>
                  <a:latin typeface="Segoe UI"/>
                </a:rPr>
                <a:t>34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21040" y="2807208"/>
              <a:ext cx="32918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1A1A2E"/>
                  </a:solidFill>
                  <a:latin typeface="Segoe UI"/>
                </a:rPr>
                <a:t>Total Columns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595360" y="3127248"/>
              <a:ext cx="2743200" cy="1270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321040" y="3191256"/>
              <a:ext cx="32918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5B2D8E"/>
                  </a:solidFill>
                  <a:latin typeface="Segoe UI"/>
                </a:rPr>
                <a:t>17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321040" y="3557016"/>
              <a:ext cx="32918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1A1A2E"/>
                  </a:solidFill>
                  <a:latin typeface="Segoe UI"/>
                </a:rPr>
                <a:t>Engineered Features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595360" y="3877056"/>
              <a:ext cx="2743200" cy="1270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321040" y="3941064"/>
              <a:ext cx="32918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5B2D8E"/>
                  </a:solidFill>
                  <a:latin typeface="Segoe UI"/>
                </a:rPr>
                <a:t>8.1%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321040" y="4306824"/>
              <a:ext cx="32918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1A1A2E"/>
                  </a:solidFill>
                  <a:latin typeface="Segoe UI"/>
                </a:rPr>
                <a:t>Class Imbalance (Late)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595360" y="4626864"/>
              <a:ext cx="2743200" cy="1270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321040" y="4690872"/>
              <a:ext cx="32918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5B2D8E"/>
                  </a:solidFill>
                  <a:latin typeface="Segoe UI"/>
                </a:rPr>
                <a:t>12.1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321040" y="5056632"/>
              <a:ext cx="32918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1A1A2E"/>
                  </a:solidFill>
                  <a:latin typeface="Segoe UI"/>
                </a:rPr>
                <a:t>Mean Delivery Days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595360" y="5376672"/>
              <a:ext cx="2743200" cy="1270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321040" y="5440679"/>
              <a:ext cx="32918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5B2D8E"/>
                  </a:solidFill>
                  <a:latin typeface="Segoe UI"/>
                </a:rPr>
                <a:t>7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321040" y="5806439"/>
              <a:ext cx="32918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 dirty="0">
                  <a:solidFill>
                    <a:srgbClr val="1A1A2E"/>
                  </a:solidFill>
                  <a:latin typeface="Segoe UI"/>
                </a:rPr>
                <a:t>Data Sources Merged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D03C6EF-FE02-5DF6-35ED-E7A4B461F661}"/>
              </a:ext>
            </a:extLst>
          </p:cNvPr>
          <p:cNvSpPr txBox="1"/>
          <p:nvPr/>
        </p:nvSpPr>
        <p:spPr>
          <a:xfrm>
            <a:off x="158749" y="1105301"/>
            <a:ext cx="79121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4521" lvl="1" indent="-302261" algn="l">
              <a:lnSpc>
                <a:spcPct val="15000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Source:</a:t>
            </a:r>
            <a:r>
              <a:rPr lang="en-US" sz="1800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Kaggle –   Brazilian E-Commerce Public Dataset by Olist </a:t>
            </a:r>
          </a:p>
          <a:p>
            <a:pPr marL="604521" lvl="1" indent="-302261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7</a:t>
            </a:r>
            <a:r>
              <a:rPr lang="en-US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data sources merged using Order ID  </a:t>
            </a:r>
          </a:p>
          <a:p>
            <a:pPr marL="604521" lvl="1" indent="-302261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Final dataset: </a:t>
            </a:r>
            <a:r>
              <a:rPr lang="en-US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96,470 records with 34 columns </a:t>
            </a:r>
            <a:endParaRPr lang="en-US" sz="1800" dirty="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  <a:p>
            <a:pPr marL="604521" lvl="1" indent="-302261" algn="l">
              <a:lnSpc>
                <a:spcPct val="15000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Target variable: </a:t>
            </a:r>
            <a:r>
              <a:rPr lang="en-US" sz="1800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is_late  (</a:t>
            </a:r>
            <a:r>
              <a:rPr lang="en-US" sz="1800" b="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0</a:t>
            </a:r>
            <a:r>
              <a:rPr lang="en-US" sz="1800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= On-Time | </a:t>
            </a:r>
            <a:r>
              <a:rPr lang="en-US" sz="1800" b="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1</a:t>
            </a:r>
            <a:r>
              <a:rPr lang="en-US" sz="1800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= Late)</a:t>
            </a:r>
          </a:p>
          <a:p>
            <a:pPr marL="604521" lvl="1" indent="-302261" algn="l">
              <a:lnSpc>
                <a:spcPct val="150000"/>
              </a:lnSpc>
              <a:buFont typeface="Arial"/>
              <a:buChar char="•"/>
            </a:pPr>
            <a:endParaRPr lang="en-US" sz="1800" dirty="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5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6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201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Segoe UI"/>
              </a:rPr>
              <a:t>03  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274320"/>
            <a:ext cx="76260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Segoe UI"/>
              </a:rPr>
              <a:t>EDA — Delivery Time &amp; Class Distribution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5909370"/>
            <a:ext cx="11247120" cy="785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Segoe UI"/>
              </a:rPr>
              <a:t>Right-skewed delivery distribution (mean &gt; median) reveals outlier orders. 91.9% on-time vs 8.1% late — severe class imbalance justifies ROC-AUC as primary metric.</a:t>
            </a:r>
            <a:endParaRPr sz="1600" b="1" i="0" dirty="0">
              <a:latin typeface="Segoe UI"/>
            </a:endParaRPr>
          </a:p>
        </p:txBody>
      </p:sp>
      <p:pic>
        <p:nvPicPr>
          <p:cNvPr id="2" name="Picture 1" descr="01_delivery_days_distribution.png">
            <a:extLst>
              <a:ext uri="{FF2B5EF4-FFF2-40B4-BE49-F238E27FC236}">
                <a16:creationId xmlns:a16="http://schemas.microsoft.com/office/drawing/2014/main" id="{EA2D9DD3-3D29-7AD9-354E-FEF6DDBD4F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3"/>
          <a:stretch>
            <a:fillRect/>
          </a:stretch>
        </p:blipFill>
        <p:spPr>
          <a:xfrm>
            <a:off x="27305" y="1097280"/>
            <a:ext cx="5615846" cy="3474720"/>
          </a:xfrm>
          <a:prstGeom prst="rect">
            <a:avLst/>
          </a:prstGeom>
        </p:spPr>
      </p:pic>
      <p:pic>
        <p:nvPicPr>
          <p:cNvPr id="58" name="Picture 57" descr="02_target_variable_distribution.png">
            <a:extLst>
              <a:ext uri="{FF2B5EF4-FFF2-40B4-BE49-F238E27FC236}">
                <a16:creationId xmlns:a16="http://schemas.microsoft.com/office/drawing/2014/main" id="{42BF632A-A79F-A4D5-E30D-28BAF1D236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35"/>
          <a:stretch>
            <a:fillRect/>
          </a:stretch>
        </p:blipFill>
        <p:spPr>
          <a:xfrm>
            <a:off x="5694561" y="1576856"/>
            <a:ext cx="6466959" cy="2537944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9EDDFE0E-E329-E326-CE55-8C42008F88A7}"/>
              </a:ext>
            </a:extLst>
          </p:cNvPr>
          <p:cNvGrpSpPr/>
          <p:nvPr/>
        </p:nvGrpSpPr>
        <p:grpSpPr>
          <a:xfrm>
            <a:off x="365760" y="4800600"/>
            <a:ext cx="11155680" cy="960120"/>
            <a:chOff x="365760" y="4800600"/>
            <a:chExt cx="11155680" cy="96012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17EFD32-AFDA-A3A9-8E3C-486F14185304}"/>
                </a:ext>
              </a:extLst>
            </p:cNvPr>
            <p:cNvSpPr/>
            <p:nvPr/>
          </p:nvSpPr>
          <p:spPr>
            <a:xfrm>
              <a:off x="365760" y="4800600"/>
              <a:ext cx="2651760" cy="9601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14F5976-BD29-2F45-AE87-957331DC143E}"/>
                </a:ext>
              </a:extLst>
            </p:cNvPr>
            <p:cNvSpPr txBox="1"/>
            <p:nvPr/>
          </p:nvSpPr>
          <p:spPr>
            <a:xfrm>
              <a:off x="365760" y="4846320"/>
              <a:ext cx="265176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i="0" dirty="0">
                  <a:solidFill>
                    <a:srgbClr val="5B2D8E"/>
                  </a:solidFill>
                  <a:latin typeface="Segoe UI"/>
                </a:rPr>
                <a:t>12.1 days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D3987D4-16D7-8127-093E-34E5E29A544E}"/>
                </a:ext>
              </a:extLst>
            </p:cNvPr>
            <p:cNvSpPr txBox="1"/>
            <p:nvPr/>
          </p:nvSpPr>
          <p:spPr>
            <a:xfrm>
              <a:off x="365760" y="5303520"/>
              <a:ext cx="26517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 dirty="0">
                  <a:solidFill>
                    <a:srgbClr val="1A1A2E"/>
                  </a:solidFill>
                  <a:latin typeface="Segoe UI"/>
                </a:rPr>
                <a:t>Mean Delivery Time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EBD3467-DE01-DB63-11E9-47065E9B1CAA}"/>
                </a:ext>
              </a:extLst>
            </p:cNvPr>
            <p:cNvSpPr/>
            <p:nvPr/>
          </p:nvSpPr>
          <p:spPr>
            <a:xfrm>
              <a:off x="3200400" y="4800600"/>
              <a:ext cx="2651760" cy="9601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7B35183-83A4-28FC-B566-4545952D9776}"/>
                </a:ext>
              </a:extLst>
            </p:cNvPr>
            <p:cNvSpPr txBox="1"/>
            <p:nvPr/>
          </p:nvSpPr>
          <p:spPr>
            <a:xfrm>
              <a:off x="3200400" y="4846320"/>
              <a:ext cx="265176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i="0">
                  <a:solidFill>
                    <a:srgbClr val="5B2D8E"/>
                  </a:solidFill>
                  <a:latin typeface="Segoe UI"/>
                </a:rPr>
                <a:t>10 days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362448-E727-1053-31EB-539611DFCF38}"/>
                </a:ext>
              </a:extLst>
            </p:cNvPr>
            <p:cNvSpPr txBox="1"/>
            <p:nvPr/>
          </p:nvSpPr>
          <p:spPr>
            <a:xfrm>
              <a:off x="3200400" y="5303520"/>
              <a:ext cx="26517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1A1A2E"/>
                  </a:solidFill>
                  <a:latin typeface="Segoe UI"/>
                </a:rPr>
                <a:t>Median Delivery Time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A456429-4A03-646F-FB7D-63F9244569D4}"/>
                </a:ext>
              </a:extLst>
            </p:cNvPr>
            <p:cNvSpPr/>
            <p:nvPr/>
          </p:nvSpPr>
          <p:spPr>
            <a:xfrm>
              <a:off x="6035040" y="4800600"/>
              <a:ext cx="2651760" cy="9601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655E453-F38B-6C0B-C1D0-47D24701118B}"/>
                </a:ext>
              </a:extLst>
            </p:cNvPr>
            <p:cNvSpPr txBox="1"/>
            <p:nvPr/>
          </p:nvSpPr>
          <p:spPr>
            <a:xfrm>
              <a:off x="6035040" y="4846320"/>
              <a:ext cx="265176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i="0">
                  <a:solidFill>
                    <a:srgbClr val="5B2D8E"/>
                  </a:solidFill>
                  <a:latin typeface="Segoe UI"/>
                </a:rPr>
                <a:t>8.1%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352906C-57E1-14DF-F11A-0D8FE246C632}"/>
                </a:ext>
              </a:extLst>
            </p:cNvPr>
            <p:cNvSpPr txBox="1"/>
            <p:nvPr/>
          </p:nvSpPr>
          <p:spPr>
            <a:xfrm>
              <a:off x="6035040" y="5303520"/>
              <a:ext cx="26517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1A1A2E"/>
                  </a:solidFill>
                  <a:latin typeface="Segoe UI"/>
                </a:rPr>
                <a:t>Late Order Rate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2BEBED6-8756-0D17-8F49-880D957A2EA3}"/>
                </a:ext>
              </a:extLst>
            </p:cNvPr>
            <p:cNvSpPr/>
            <p:nvPr/>
          </p:nvSpPr>
          <p:spPr>
            <a:xfrm>
              <a:off x="8869680" y="4800600"/>
              <a:ext cx="2651760" cy="9601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B9E7A73-2460-A465-5DAD-45CB7609981F}"/>
                </a:ext>
              </a:extLst>
            </p:cNvPr>
            <p:cNvSpPr txBox="1"/>
            <p:nvPr/>
          </p:nvSpPr>
          <p:spPr>
            <a:xfrm>
              <a:off x="8869680" y="4846320"/>
              <a:ext cx="265176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i="0">
                  <a:solidFill>
                    <a:srgbClr val="5B2D8E"/>
                  </a:solidFill>
                  <a:latin typeface="Segoe UI"/>
                </a:rPr>
                <a:t>11.3:1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D9FCEC4-95F8-5765-EF51-1C41BEF64D71}"/>
                </a:ext>
              </a:extLst>
            </p:cNvPr>
            <p:cNvSpPr txBox="1"/>
            <p:nvPr/>
          </p:nvSpPr>
          <p:spPr>
            <a:xfrm>
              <a:off x="8869680" y="5303520"/>
              <a:ext cx="26517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1A1A2E"/>
                  </a:solidFill>
                  <a:latin typeface="Segoe UI"/>
                </a:rPr>
                <a:t>Class Imbalance Ratio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F964D-287C-FDD4-5CC9-8842976A9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010D85-4186-BBDD-09FB-C8B570EDE98C}"/>
              </a:ext>
            </a:extLst>
          </p:cNvPr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rgbClr val="9B59B6"/>
                </a:solidFill>
                <a:latin typeface="Segoe UI"/>
              </a:rPr>
              <a:t>6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6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391E7-F7AE-0173-FEFC-1EBBF6B15C21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B55A8B-CCF0-E5A4-0ADE-1B556F434F82}"/>
              </a:ext>
            </a:extLst>
          </p:cNvPr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DBEFCC-852C-0221-24FA-5CDE3A439F95}"/>
              </a:ext>
            </a:extLst>
          </p:cNvPr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03  EDA CONTINUED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401EAB-3C3F-045E-EA5C-E5E6224CB1F7}"/>
              </a:ext>
            </a:extLst>
          </p:cNvPr>
          <p:cNvSpPr txBox="1"/>
          <p:nvPr/>
        </p:nvSpPr>
        <p:spPr>
          <a:xfrm>
            <a:off x="2688336" y="256032"/>
            <a:ext cx="8548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Segoe UI"/>
              </a:rPr>
              <a:t>EDA — Monthly Trends &amp; Feature Correlations</a:t>
            </a:r>
          </a:p>
        </p:txBody>
      </p:sp>
      <p:pic>
        <p:nvPicPr>
          <p:cNvPr id="9" name="Picture 8" descr="05_monthly_volume_vs_late_rate.png">
            <a:extLst>
              <a:ext uri="{FF2B5EF4-FFF2-40B4-BE49-F238E27FC236}">
                <a16:creationId xmlns:a16="http://schemas.microsoft.com/office/drawing/2014/main" id="{238256C6-30BA-9E77-96E8-EB7724CE7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6858000" cy="3200400"/>
          </a:xfrm>
          <a:prstGeom prst="rect">
            <a:avLst/>
          </a:prstGeom>
        </p:spPr>
      </p:pic>
      <p:pic>
        <p:nvPicPr>
          <p:cNvPr id="10" name="Picture 9" descr="07_correlation_heatmap.png">
            <a:extLst>
              <a:ext uri="{FF2B5EF4-FFF2-40B4-BE49-F238E27FC236}">
                <a16:creationId xmlns:a16="http://schemas.microsoft.com/office/drawing/2014/main" id="{77F10C61-E867-06FE-571D-D8962D2BD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097280"/>
            <a:ext cx="4297680" cy="50292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EFD34CE-713A-29DC-BFB9-A684DCD8C5FE}"/>
              </a:ext>
            </a:extLst>
          </p:cNvPr>
          <p:cNvGrpSpPr/>
          <p:nvPr/>
        </p:nvGrpSpPr>
        <p:grpSpPr>
          <a:xfrm>
            <a:off x="365760" y="4480560"/>
            <a:ext cx="6492240" cy="868680"/>
            <a:chOff x="365760" y="4480560"/>
            <a:chExt cx="6492240" cy="8686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1074AA-A4B2-12DB-A40B-3D17FC8DEBFD}"/>
                </a:ext>
              </a:extLst>
            </p:cNvPr>
            <p:cNvSpPr/>
            <p:nvPr/>
          </p:nvSpPr>
          <p:spPr>
            <a:xfrm>
              <a:off x="365760" y="4480560"/>
              <a:ext cx="20116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2A83967-86A7-746E-D491-31D06348886F}"/>
                </a:ext>
              </a:extLst>
            </p:cNvPr>
            <p:cNvSpPr txBox="1"/>
            <p:nvPr/>
          </p:nvSpPr>
          <p:spPr>
            <a:xfrm>
              <a:off x="365760" y="4507992"/>
              <a:ext cx="20116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i="0">
                  <a:solidFill>
                    <a:srgbClr val="5B2D8E"/>
                  </a:solidFill>
                  <a:latin typeface="Segoe UI"/>
                </a:rPr>
                <a:t>21.4%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9F11ED3-F698-288A-DB4B-9781D5AD3311}"/>
                </a:ext>
              </a:extLst>
            </p:cNvPr>
            <p:cNvSpPr txBox="1"/>
            <p:nvPr/>
          </p:nvSpPr>
          <p:spPr>
            <a:xfrm>
              <a:off x="365760" y="4892040"/>
              <a:ext cx="20116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1">
                  <a:solidFill>
                    <a:srgbClr val="1A1A2E"/>
                  </a:solidFill>
                  <a:latin typeface="Segoe UI"/>
                </a:rPr>
                <a:t>Peak monthly
late rate (Mar 2018)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30FD00-F40C-D648-E84E-0B230AD9C13C}"/>
                </a:ext>
              </a:extLst>
            </p:cNvPr>
            <p:cNvSpPr/>
            <p:nvPr/>
          </p:nvSpPr>
          <p:spPr>
            <a:xfrm>
              <a:off x="2606040" y="4480560"/>
              <a:ext cx="20116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BCFAF92-F66A-D004-6D38-719A4E60925B}"/>
                </a:ext>
              </a:extLst>
            </p:cNvPr>
            <p:cNvSpPr txBox="1"/>
            <p:nvPr/>
          </p:nvSpPr>
          <p:spPr>
            <a:xfrm>
              <a:off x="2606040" y="4507992"/>
              <a:ext cx="20116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i="0">
                  <a:solidFill>
                    <a:srgbClr val="5B2D8E"/>
                  </a:solidFill>
                  <a:latin typeface="Segoe UI"/>
                </a:rPr>
                <a:t>5%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A0E1510-C95E-35A7-B30F-E13B90CFB201}"/>
                </a:ext>
              </a:extLst>
            </p:cNvPr>
            <p:cNvSpPr txBox="1"/>
            <p:nvPr/>
          </p:nvSpPr>
          <p:spPr>
            <a:xfrm>
              <a:off x="2606040" y="4892040"/>
              <a:ext cx="20116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1">
                  <a:solidFill>
                    <a:srgbClr val="1A1A2E"/>
                  </a:solidFill>
                  <a:latin typeface="Segoe UI"/>
                </a:rPr>
                <a:t>Lowest monthly
late rate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2643A94-E156-AF5D-38B7-653665FCBBDB}"/>
                </a:ext>
              </a:extLst>
            </p:cNvPr>
            <p:cNvSpPr/>
            <p:nvPr/>
          </p:nvSpPr>
          <p:spPr>
            <a:xfrm>
              <a:off x="4846320" y="4480560"/>
              <a:ext cx="20116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757E48-1FBC-DFFA-86C0-F9A217959A4B}"/>
                </a:ext>
              </a:extLst>
            </p:cNvPr>
            <p:cNvSpPr txBox="1"/>
            <p:nvPr/>
          </p:nvSpPr>
          <p:spPr>
            <a:xfrm>
              <a:off x="4846320" y="4507992"/>
              <a:ext cx="20116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i="0">
                  <a:solidFill>
                    <a:srgbClr val="5B2D8E"/>
                  </a:solidFill>
                  <a:latin typeface="Segoe UI"/>
                </a:rPr>
                <a:t>Weak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862B8C-FF32-6E3A-A7B1-AE7CF03083C4}"/>
                </a:ext>
              </a:extLst>
            </p:cNvPr>
            <p:cNvSpPr txBox="1"/>
            <p:nvPr/>
          </p:nvSpPr>
          <p:spPr>
            <a:xfrm>
              <a:off x="4846320" y="4892040"/>
              <a:ext cx="20116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1">
                  <a:solidFill>
                    <a:srgbClr val="1A1A2E"/>
                  </a:solidFill>
                  <a:latin typeface="Segoe UI"/>
                </a:rPr>
                <a:t>Linear correlations
with target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05CCD76-C324-AED2-E06D-AEC9A9852A2E}"/>
              </a:ext>
            </a:extLst>
          </p:cNvPr>
          <p:cNvSpPr txBox="1"/>
          <p:nvPr/>
        </p:nvSpPr>
        <p:spPr>
          <a:xfrm>
            <a:off x="365760" y="5989320"/>
            <a:ext cx="11430000" cy="785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dirty="0">
                <a:latin typeface="Segoe UI"/>
              </a:rPr>
              <a:t>Demand surges in peak months overwhelm carrier networks. Weak linear correlations confirm tree-based models will outperform linear regression.</a:t>
            </a:r>
          </a:p>
        </p:txBody>
      </p:sp>
    </p:spTree>
    <p:extLst>
      <p:ext uri="{BB962C8B-B14F-4D97-AF65-F5344CB8AC3E}">
        <p14:creationId xmlns:p14="http://schemas.microsoft.com/office/powerpoint/2010/main" val="3767577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rgbClr val="9B59B6"/>
                </a:solidFill>
                <a:latin typeface="Segoe UI"/>
              </a:rPr>
              <a:t>7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6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04  PREDICTIVE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256032"/>
            <a:ext cx="92262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Segoe UI"/>
              </a:rPr>
              <a:t>AutoML Pipeline — From Data to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1508760"/>
            <a:ext cx="411480" cy="25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1640" y="1232176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1143000" cy="8686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Data
Prep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1143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B2D8E"/>
                </a:solidFill>
                <a:latin typeface="Segoe UI"/>
              </a:rPr>
              <a:t>96,470</a:t>
            </a:r>
            <a:r>
              <a:rPr lang="en-US" sz="1100" b="0" i="0" dirty="0">
                <a:solidFill>
                  <a:srgbClr val="5B2D8E"/>
                </a:solidFill>
                <a:latin typeface="Segoe UI"/>
              </a:rPr>
              <a:t> </a:t>
            </a:r>
            <a:r>
              <a:rPr sz="1100" b="0" i="0" dirty="0">
                <a:solidFill>
                  <a:srgbClr val="5B2D8E"/>
                </a:solidFill>
                <a:latin typeface="Segoe UI"/>
              </a:rPr>
              <a:t>orders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508760"/>
            <a:ext cx="411480" cy="25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1232176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1143000"/>
            <a:ext cx="1143000" cy="8686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0" y="11430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Feature
Engineering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77440" y="1607820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B2D8E"/>
                </a:solidFill>
                <a:latin typeface="Segoe UI"/>
              </a:rPr>
              <a:t>17 features</a:t>
            </a:r>
            <a:r>
              <a:rPr lang="en-US" sz="1100" b="0" i="0" dirty="0">
                <a:solidFill>
                  <a:srgbClr val="5B2D8E"/>
                </a:solidFill>
                <a:latin typeface="Segoe UI"/>
              </a:rPr>
              <a:t> </a:t>
            </a:r>
            <a:r>
              <a:rPr sz="1100" b="0" i="0" dirty="0">
                <a:solidFill>
                  <a:srgbClr val="5B2D8E"/>
                </a:solidFill>
                <a:latin typeface="Segoe UI"/>
              </a:rPr>
              <a:t>created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1508760"/>
            <a:ext cx="411480" cy="25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32120" y="1232176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143000"/>
            <a:ext cx="1143000" cy="8686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0" y="11430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FLAML
AutoML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4592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0" y="1607820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B2D8E"/>
                </a:solidFill>
                <a:latin typeface="Segoe UI"/>
              </a:rPr>
              <a:t>3-minute</a:t>
            </a:r>
            <a:r>
              <a:rPr lang="en-US" sz="1100" b="0" i="0" dirty="0">
                <a:solidFill>
                  <a:srgbClr val="5B2D8E"/>
                </a:solidFill>
                <a:latin typeface="Segoe UI"/>
              </a:rPr>
              <a:t> </a:t>
            </a:r>
            <a:r>
              <a:rPr sz="1100" b="0" i="0" dirty="0">
                <a:solidFill>
                  <a:srgbClr val="5B2D8E"/>
                </a:solidFill>
                <a:latin typeface="Segoe UI"/>
              </a:rPr>
              <a:t>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1508760"/>
            <a:ext cx="411480" cy="25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52360" y="1232176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143000"/>
            <a:ext cx="1143000" cy="8686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11430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LightGBM
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64592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1607820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B2D8E"/>
                </a:solidFill>
                <a:latin typeface="Segoe UI"/>
              </a:rPr>
              <a:t>Best algo</a:t>
            </a:r>
            <a:r>
              <a:rPr lang="en-US" sz="1100" b="0" i="0" dirty="0">
                <a:solidFill>
                  <a:srgbClr val="5B2D8E"/>
                </a:solidFill>
                <a:latin typeface="Segoe UI"/>
              </a:rPr>
              <a:t> </a:t>
            </a:r>
            <a:r>
              <a:rPr sz="1100" b="0" i="0" dirty="0">
                <a:solidFill>
                  <a:srgbClr val="5B2D8E"/>
                </a:solidFill>
                <a:latin typeface="Segoe UI"/>
              </a:rPr>
              <a:t>selected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1508760"/>
            <a:ext cx="411480" cy="25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72600" y="1232176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1143000"/>
            <a:ext cx="1143000" cy="8686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38160" y="11430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Threshold
Tuning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64592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38160" y="1607820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B2D8E"/>
                </a:solidFill>
                <a:latin typeface="Segoe UI"/>
              </a:rPr>
              <a:t>0.30 optimal</a:t>
            </a:r>
            <a:r>
              <a:rPr lang="en-US" sz="1100" b="0" i="0" dirty="0">
                <a:solidFill>
                  <a:srgbClr val="5B2D8E"/>
                </a:solidFill>
                <a:latin typeface="Segoe UI"/>
              </a:rPr>
              <a:t> </a:t>
            </a:r>
            <a:r>
              <a:rPr sz="1100" b="0" i="0" dirty="0">
                <a:solidFill>
                  <a:srgbClr val="5B2D8E"/>
                </a:solidFill>
                <a:latin typeface="Segoe UI"/>
              </a:rPr>
              <a:t>threshold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1143000"/>
            <a:ext cx="1143000" cy="8686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0" y="11430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Deploy
Ready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164592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0" y="1607820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B2D8E"/>
                </a:solidFill>
                <a:latin typeface="Segoe UI"/>
              </a:rPr>
              <a:t>score.py
+ Flask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331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2D8E"/>
                </a:solidFill>
                <a:latin typeface="Segoe UI"/>
              </a:rPr>
              <a:t>Model Comparison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788920"/>
            <a:ext cx="10012680" cy="38404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27889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27889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ROC-AUC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27889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F1 Score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27889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Precision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27889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Recall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27889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Accuracy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3172968"/>
            <a:ext cx="10012680" cy="438912"/>
          </a:xfrm>
          <a:prstGeom prst="rect">
            <a:avLst/>
          </a:prstGeom>
          <a:solidFill>
            <a:srgbClr val="F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31729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Logistic Regression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08960" y="31729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0.7253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31729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0.2501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52160" y="31729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0.1565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31729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0.6224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31729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0.6972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611879"/>
            <a:ext cx="10012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7200" y="3611879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Random Forest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08960" y="3611879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0.7775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60" y="3611879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0.3057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52160" y="3611879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0.2022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0" y="3611879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0.6262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3611879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0.7693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050792"/>
            <a:ext cx="10012680" cy="438912"/>
          </a:xfrm>
          <a:prstGeom prst="rect">
            <a:avLst/>
          </a:prstGeom>
          <a:solidFill>
            <a:srgbClr val="F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405079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Gradient Boosting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08960" y="405079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0.7815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60" y="405079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0.0610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52160" y="405079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0.6757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0" y="405079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0.0319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95360" y="405079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0.9202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489704"/>
            <a:ext cx="10012680" cy="438912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" y="448970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5B2D8E"/>
                </a:solidFill>
                <a:latin typeface="Segoe UI"/>
              </a:rPr>
              <a:t>FLAML LightGBM 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08960" y="448970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2D8E"/>
                </a:solidFill>
                <a:latin typeface="Segoe UI"/>
              </a:rPr>
              <a:t>0.7868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80560" y="448970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2D8E"/>
                </a:solidFill>
                <a:latin typeface="Segoe UI"/>
              </a:rPr>
              <a:t>0.3304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52160" y="448970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2D8E"/>
                </a:solidFill>
                <a:latin typeface="Segoe UI"/>
              </a:rPr>
              <a:t>0.2360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23760" y="448970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2D8E"/>
                </a:solidFill>
                <a:latin typeface="Segoe UI"/>
              </a:rPr>
              <a:t>0.5508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95360" y="448970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2D8E"/>
                </a:solidFill>
                <a:latin typeface="Segoe UI"/>
              </a:rPr>
              <a:t>0.8189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0060" y="5137758"/>
            <a:ext cx="10012680" cy="1203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Best model</a:t>
            </a:r>
            <a:r>
              <a:rPr sz="1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: </a:t>
            </a:r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FLAML AutoML selected </a:t>
            </a:r>
            <a:r>
              <a:rPr sz="16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LightGBM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. </a:t>
            </a:r>
            <a:endParaRPr lang="en-US" sz="1600" b="0" i="0" dirty="0">
              <a:solidFill>
                <a:schemeClr val="tx1">
                  <a:lumMod val="75000"/>
                  <a:lumOff val="25000"/>
                </a:schemeClr>
              </a:solidFill>
              <a:latin typeface="Segoe UI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AUC: </a:t>
            </a:r>
            <a:r>
              <a:rPr 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0.787 | F1: 0.33 | Recall: 55% 
</a:t>
            </a:r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Catches 1 in 2 late deliveries at order placement time </a:t>
            </a:r>
            <a:r>
              <a:rPr lang="en-US" sz="1600" dirty="0"/>
              <a:t>before shipping </a:t>
            </a:r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— enabling proactive intervention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A2288-9F8B-B3B5-EAB0-45CC58F7D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25D4B8-D89A-6563-7B4D-D0003B6130F7}"/>
              </a:ext>
            </a:extLst>
          </p:cNvPr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6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6D126F-7A55-57DC-02A0-80BBF43B0891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046FAD-9691-C0BF-E888-95C2174B70BA}"/>
              </a:ext>
            </a:extLst>
          </p:cNvPr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8A7ADC-5EE3-05D2-45E2-E1108FB26BFE}"/>
              </a:ext>
            </a:extLst>
          </p:cNvPr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04  PREDICTIVE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E9A0A5-7ADE-C375-4A1B-7C899FD3A0CB}"/>
              </a:ext>
            </a:extLst>
          </p:cNvPr>
          <p:cNvSpPr txBox="1"/>
          <p:nvPr/>
        </p:nvSpPr>
        <p:spPr>
          <a:xfrm>
            <a:off x="2615184" y="256032"/>
            <a:ext cx="92262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Segoe UI"/>
              </a:rPr>
              <a:t>Predictive Modeling — AutoML Model Comparison</a:t>
            </a:r>
          </a:p>
        </p:txBody>
      </p:sp>
      <p:pic>
        <p:nvPicPr>
          <p:cNvPr id="2" name="Picture 1" descr="12_model_comparison.png">
            <a:extLst>
              <a:ext uri="{FF2B5EF4-FFF2-40B4-BE49-F238E27FC236}">
                <a16:creationId xmlns:a16="http://schemas.microsoft.com/office/drawing/2014/main" id="{552522FB-EB03-F892-5B42-C10B9D6E5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7132320" cy="4663440"/>
          </a:xfrm>
          <a:prstGeom prst="rect">
            <a:avLst/>
          </a:prstGeom>
        </p:spPr>
      </p:pic>
      <p:pic>
        <p:nvPicPr>
          <p:cNvPr id="78" name="Picture 77" descr="13_roc_curves.png">
            <a:extLst>
              <a:ext uri="{FF2B5EF4-FFF2-40B4-BE49-F238E27FC236}">
                <a16:creationId xmlns:a16="http://schemas.microsoft.com/office/drawing/2014/main" id="{ABF524D0-C9AA-505B-8A0F-C4084CEBC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097280"/>
            <a:ext cx="4114800" cy="466344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034233E7-D789-0874-F3B4-716C4963FB34}"/>
              </a:ext>
            </a:extLst>
          </p:cNvPr>
          <p:cNvSpPr txBox="1"/>
          <p:nvPr/>
        </p:nvSpPr>
        <p:spPr>
          <a:xfrm>
            <a:off x="365760" y="5989320"/>
            <a:ext cx="11430000" cy="785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dirty="0">
                <a:latin typeface="Segoe UI"/>
              </a:rPr>
              <a:t>  FLAML AutoML selected </a:t>
            </a:r>
            <a:r>
              <a:rPr sz="1600" b="0" i="0" dirty="0" err="1">
                <a:latin typeface="Segoe UI"/>
              </a:rPr>
              <a:t>LightGBM</a:t>
            </a:r>
            <a:r>
              <a:rPr sz="1600" b="0" i="0" dirty="0">
                <a:latin typeface="Segoe UI"/>
              </a:rPr>
              <a:t> — best balance of AUC (0.787), F1 (0.33), and Recall (55%). Catches 1 in 2 late deliveries at order placement time.</a:t>
            </a:r>
          </a:p>
        </p:txBody>
      </p:sp>
    </p:spTree>
    <p:extLst>
      <p:ext uri="{BB962C8B-B14F-4D97-AF65-F5344CB8AC3E}">
        <p14:creationId xmlns:p14="http://schemas.microsoft.com/office/powerpoint/2010/main" val="262854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9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6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04  MODEL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27239" y="256032"/>
            <a:ext cx="87599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rgbClr val="FFFFFF"/>
                </a:solidFill>
                <a:latin typeface="Segoe UI"/>
              </a:rPr>
              <a:t>Model </a:t>
            </a:r>
            <a:r>
              <a:rPr lang="fr-FR" sz="2800" b="1" dirty="0" err="1">
                <a:solidFill>
                  <a:srgbClr val="FFFFFF"/>
                </a:solidFill>
                <a:latin typeface="Segoe UI"/>
              </a:rPr>
              <a:t>Results</a:t>
            </a:r>
            <a:r>
              <a:rPr lang="fr-FR" sz="2800" b="1" dirty="0">
                <a:solidFill>
                  <a:srgbClr val="FFFFFF"/>
                </a:solidFill>
                <a:latin typeface="Segoe UI"/>
              </a:rPr>
              <a:t> — Confusion Matrix &amp; </a:t>
            </a:r>
            <a:r>
              <a:rPr lang="fr-FR" sz="2800" b="1" dirty="0" err="1">
                <a:solidFill>
                  <a:srgbClr val="FFFFFF"/>
                </a:solidFill>
                <a:latin typeface="Segoe UI"/>
              </a:rPr>
              <a:t>Regression</a:t>
            </a:r>
            <a:endParaRPr lang="fr-FR" sz="2800" b="1" dirty="0">
              <a:solidFill>
                <a:srgbClr val="FFFFFF"/>
              </a:solidFill>
              <a:latin typeface="Segoe UI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C6DFA6F-1067-C000-6D2F-B1A73032CEE8}"/>
              </a:ext>
            </a:extLst>
          </p:cNvPr>
          <p:cNvGrpSpPr/>
          <p:nvPr/>
        </p:nvGrpSpPr>
        <p:grpSpPr>
          <a:xfrm>
            <a:off x="630872" y="5084064"/>
            <a:ext cx="10927079" cy="1417320"/>
            <a:chOff x="365760" y="1143000"/>
            <a:chExt cx="10927079" cy="1417320"/>
          </a:xfrm>
        </p:grpSpPr>
        <p:sp>
          <p:nvSpPr>
            <p:cNvPr id="8" name="Rectangle 7"/>
            <p:cNvSpPr/>
            <p:nvPr/>
          </p:nvSpPr>
          <p:spPr>
            <a:xfrm>
              <a:off x="365760" y="1143000"/>
              <a:ext cx="2560320" cy="141732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5760" y="1234440"/>
              <a:ext cx="256032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 i="0">
                  <a:solidFill>
                    <a:srgbClr val="5B2D8E"/>
                  </a:solidFill>
                  <a:latin typeface="Segoe UI"/>
                </a:rPr>
                <a:t>0.7868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5760" y="1828800"/>
              <a:ext cx="25603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 dirty="0">
                  <a:solidFill>
                    <a:srgbClr val="1A1A2E"/>
                  </a:solidFill>
                  <a:latin typeface="Segoe UI"/>
                </a:rPr>
                <a:t>ROC-AUC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5760" y="2148840"/>
              <a:ext cx="25603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1" dirty="0">
                  <a:solidFill>
                    <a:srgbClr val="9B59B6"/>
                  </a:solidFill>
                  <a:latin typeface="Segoe UI"/>
                </a:rPr>
                <a:t>Primary evaluation metric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154679" y="1143000"/>
              <a:ext cx="2560320" cy="141732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154679" y="1234440"/>
              <a:ext cx="256032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 i="0">
                  <a:solidFill>
                    <a:srgbClr val="5B2D8E"/>
                  </a:solidFill>
                  <a:latin typeface="Segoe UI"/>
                </a:rPr>
                <a:t>55.1%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54679" y="1828800"/>
              <a:ext cx="25603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 dirty="0">
                  <a:solidFill>
                    <a:srgbClr val="1A1A2E"/>
                  </a:solidFill>
                  <a:latin typeface="Segoe UI"/>
                </a:rPr>
                <a:t>Recall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154679" y="2148840"/>
              <a:ext cx="25603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1" dirty="0">
                  <a:solidFill>
                    <a:srgbClr val="9B59B6"/>
                  </a:solidFill>
                  <a:latin typeface="Segoe UI"/>
                </a:rPr>
                <a:t>Late orders caught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943600" y="1143000"/>
              <a:ext cx="2560320" cy="141732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943600" y="1234440"/>
              <a:ext cx="256032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000" b="1" i="0" dirty="0">
                  <a:solidFill>
                    <a:srgbClr val="5B2D8E"/>
                  </a:solidFill>
                  <a:latin typeface="Segoe UI"/>
                </a:rPr>
                <a:t>4.69d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43600" y="1828800"/>
              <a:ext cx="25603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0" i="0" dirty="0">
                  <a:solidFill>
                    <a:srgbClr val="1A1A2E"/>
                  </a:solidFill>
                  <a:latin typeface="Segoe UI"/>
                </a:rPr>
                <a:t>Reg. MAE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43600" y="2148840"/>
              <a:ext cx="25603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0" i="1" dirty="0">
                  <a:solidFill>
                    <a:srgbClr val="9B59B6"/>
                  </a:solidFill>
                  <a:latin typeface="Segoe UI"/>
                </a:rPr>
                <a:t>Delivery day error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732519" y="1143000"/>
              <a:ext cx="2560320" cy="141732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732519" y="1234440"/>
              <a:ext cx="256032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000" b="1" i="0" dirty="0">
                  <a:solidFill>
                    <a:srgbClr val="5B2D8E"/>
                  </a:solidFill>
                  <a:latin typeface="Segoe UI"/>
                </a:rPr>
                <a:t>0.343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32519" y="1828800"/>
              <a:ext cx="25603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0" i="0" dirty="0">
                  <a:solidFill>
                    <a:srgbClr val="1A1A2E"/>
                  </a:solidFill>
                  <a:latin typeface="Segoe UI"/>
                </a:rPr>
                <a:t>Reg. R2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732519" y="2148840"/>
              <a:ext cx="25603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0" i="1" dirty="0">
                  <a:solidFill>
                    <a:srgbClr val="9B59B6"/>
                  </a:solidFill>
                  <a:latin typeface="Segoe UI"/>
                </a:rPr>
                <a:t>Variance explained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8F3E0BA-7B10-D2E6-0D92-738258A269B6}"/>
              </a:ext>
            </a:extLst>
          </p:cNvPr>
          <p:cNvGrpSpPr/>
          <p:nvPr/>
        </p:nvGrpSpPr>
        <p:grpSpPr>
          <a:xfrm>
            <a:off x="696688" y="1018102"/>
            <a:ext cx="11095806" cy="4007531"/>
            <a:chOff x="696688" y="2645587"/>
            <a:chExt cx="11095806" cy="4048100"/>
          </a:xfrm>
        </p:grpSpPr>
        <p:pic>
          <p:nvPicPr>
            <p:cNvPr id="40" name="Picture 39" descr="09_actual_vs_predicted_days.png">
              <a:extLst>
                <a:ext uri="{FF2B5EF4-FFF2-40B4-BE49-F238E27FC236}">
                  <a16:creationId xmlns:a16="http://schemas.microsoft.com/office/drawing/2014/main" id="{72F28578-FA76-1537-D2B1-483E0AD2E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56471" y="2904955"/>
              <a:ext cx="4336023" cy="3744747"/>
            </a:xfrm>
            <a:prstGeom prst="rect">
              <a:avLst/>
            </a:prstGeom>
          </p:spPr>
        </p:pic>
        <p:pic>
          <p:nvPicPr>
            <p:cNvPr id="41" name="Picture 40" descr="14_confusion_matrix.png">
              <a:extLst>
                <a:ext uri="{FF2B5EF4-FFF2-40B4-BE49-F238E27FC236}">
                  <a16:creationId xmlns:a16="http://schemas.microsoft.com/office/drawing/2014/main" id="{ACB2F4D9-903D-C751-B939-54A1D3B1C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0635" b="739"/>
            <a:stretch>
              <a:fillRect/>
            </a:stretch>
          </p:blipFill>
          <p:spPr>
            <a:xfrm>
              <a:off x="696688" y="2645587"/>
              <a:ext cx="6643723" cy="4048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FF83B-20EF-1D8C-F745-52DC7B5B3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74D00A-C426-60EE-CE11-4B4C036A012D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2E422D-A60A-2C97-A920-536053857E12}"/>
              </a:ext>
            </a:extLst>
          </p:cNvPr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516A28-7CDB-F96B-EC8B-20D3278DC7AD}"/>
              </a:ext>
            </a:extLst>
          </p:cNvPr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05  EXPLAINABILITY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43D28F-90F7-64C4-7C4E-FD035C0E04F0}"/>
              </a:ext>
            </a:extLst>
          </p:cNvPr>
          <p:cNvSpPr txBox="1"/>
          <p:nvPr/>
        </p:nvSpPr>
        <p:spPr>
          <a:xfrm>
            <a:off x="2816352" y="256032"/>
            <a:ext cx="8092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Segoe UI"/>
              </a:rPr>
              <a:t>SHAP Analysis — Global Feature Importance</a:t>
            </a:r>
          </a:p>
        </p:txBody>
      </p:sp>
      <p:pic>
        <p:nvPicPr>
          <p:cNvPr id="26" name="Picture 25" descr="18_shap_global_importance.png">
            <a:extLst>
              <a:ext uri="{FF2B5EF4-FFF2-40B4-BE49-F238E27FC236}">
                <a16:creationId xmlns:a16="http://schemas.microsoft.com/office/drawing/2014/main" id="{6C6A89F9-19DA-661B-FB2C-0A7760BEE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261762" cy="4657953"/>
          </a:xfrm>
          <a:prstGeom prst="rect">
            <a:avLst/>
          </a:prstGeom>
        </p:spPr>
      </p:pic>
      <p:pic>
        <p:nvPicPr>
          <p:cNvPr id="27" name="Picture 26" descr="19_shap_beeswarm.png">
            <a:extLst>
              <a:ext uri="{FF2B5EF4-FFF2-40B4-BE49-F238E27FC236}">
                <a16:creationId xmlns:a16="http://schemas.microsoft.com/office/drawing/2014/main" id="{C36015D6-834E-81CB-F575-F428571DD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97280"/>
            <a:ext cx="5175504" cy="465795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67863CB-E31C-4232-8520-E86E217E32B9}"/>
              </a:ext>
            </a:extLst>
          </p:cNvPr>
          <p:cNvSpPr txBox="1"/>
          <p:nvPr/>
        </p:nvSpPr>
        <p:spPr>
          <a:xfrm>
            <a:off x="1581912" y="5919825"/>
            <a:ext cx="9326880" cy="878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0" i="0" dirty="0">
                <a:latin typeface="Segoe UI"/>
              </a:rPr>
              <a:t> SHAP </a:t>
            </a:r>
            <a:r>
              <a:rPr lang="en-US" sz="1800" b="0" i="0" dirty="0" err="1">
                <a:latin typeface="Segoe UI"/>
              </a:rPr>
              <a:t>beeswarm</a:t>
            </a:r>
            <a:r>
              <a:rPr lang="en-US" sz="1800" b="0" i="0" dirty="0">
                <a:latin typeface="Segoe UI"/>
              </a:rPr>
              <a:t> confirms direction: high seller late rate strongly pushes toward late prediction. Purchase month and same-state delivery also show clear directional effects.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F1E4C4-89D4-01C8-FB86-3B13A4863673}"/>
              </a:ext>
            </a:extLst>
          </p:cNvPr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0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6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80432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1614E-96D2-2792-E633-00CA9BB8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251D07-906B-CE75-1A89-CDA68F646267}"/>
              </a:ext>
            </a:extLst>
          </p:cNvPr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1</a:t>
            </a:r>
            <a:r>
              <a:rPr lang="en-US" sz="900" dirty="0">
                <a:solidFill>
                  <a:srgbClr val="9B59B6"/>
                </a:solidFill>
                <a:latin typeface="Segoe UI"/>
              </a:rPr>
              <a:t>1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6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FE66B5-27F1-6F16-7AE4-89496C6A58C7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11A7DC-1AC9-4179-AF01-536B90AD0A9E}"/>
              </a:ext>
            </a:extLst>
          </p:cNvPr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4494E8-1210-C35C-E604-4BB41F56D6B2}"/>
              </a:ext>
            </a:extLst>
          </p:cNvPr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05  EXPLAINABILITY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67A3FC-35DA-4546-B6AF-B7AEA192D6C1}"/>
              </a:ext>
            </a:extLst>
          </p:cNvPr>
          <p:cNvSpPr txBox="1"/>
          <p:nvPr/>
        </p:nvSpPr>
        <p:spPr>
          <a:xfrm>
            <a:off x="2816352" y="256032"/>
            <a:ext cx="954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Segoe UI"/>
              </a:rPr>
              <a:t>SHAP — Dependence &amp; Individual Order Explanation</a:t>
            </a:r>
          </a:p>
        </p:txBody>
      </p:sp>
      <p:pic>
        <p:nvPicPr>
          <p:cNvPr id="26" name="Picture 25" descr="20_shap_dependence.png">
            <a:extLst>
              <a:ext uri="{FF2B5EF4-FFF2-40B4-BE49-F238E27FC236}">
                <a16:creationId xmlns:a16="http://schemas.microsoft.com/office/drawing/2014/main" id="{6EE1146B-3DF2-BCE3-7565-8B44D15DB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577840" cy="4937760"/>
          </a:xfrm>
          <a:prstGeom prst="rect">
            <a:avLst/>
          </a:prstGeom>
        </p:spPr>
      </p:pic>
      <p:pic>
        <p:nvPicPr>
          <p:cNvPr id="27" name="Picture 26" descr="21_shap_waterfall.png">
            <a:extLst>
              <a:ext uri="{FF2B5EF4-FFF2-40B4-BE49-F238E27FC236}">
                <a16:creationId xmlns:a16="http://schemas.microsoft.com/office/drawing/2014/main" id="{7875F77F-DA96-E799-9466-3BAACDDC9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97280"/>
            <a:ext cx="5486400" cy="493776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BDD87E0-E3A2-8602-30BC-EAE0E28249E6}"/>
              </a:ext>
            </a:extLst>
          </p:cNvPr>
          <p:cNvSpPr txBox="1"/>
          <p:nvPr/>
        </p:nvSpPr>
        <p:spPr>
          <a:xfrm>
            <a:off x="365760" y="5989320"/>
            <a:ext cx="11430000" cy="8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b="0" i="0" dirty="0">
                <a:latin typeface="Segoe UI"/>
              </a:rPr>
              <a:t>  Dependence plot reveals non-linear threshold effects in seller late rate. Waterfall plot shows exactly which features pushed this specific order to 98.4% predicted late probability.</a:t>
            </a:r>
          </a:p>
        </p:txBody>
      </p:sp>
    </p:spTree>
    <p:extLst>
      <p:ext uri="{BB962C8B-B14F-4D97-AF65-F5344CB8AC3E}">
        <p14:creationId xmlns:p14="http://schemas.microsoft.com/office/powerpoint/2010/main" val="3608179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06  FAIRNESS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6244" y="256032"/>
            <a:ext cx="7543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Segoe UI"/>
              </a:rPr>
              <a:t>Is the Model Fair Across Regions?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376" y="1043649"/>
            <a:ext cx="11905552" cy="785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dirty="0">
                <a:latin typeface="Segoe UI"/>
              </a:rPr>
              <a:t>  FINDING:</a:t>
            </a:r>
            <a:r>
              <a:rPr sz="1600" i="0" dirty="0">
                <a:latin typeface="Segoe UI"/>
              </a:rPr>
              <a:t> The model is NOT fully fair across regions. North &amp; Northeast — already highest-risk regions — receive the weakest predictions.</a:t>
            </a:r>
          </a:p>
        </p:txBody>
      </p:sp>
      <p:pic>
        <p:nvPicPr>
          <p:cNvPr id="2" name="Picture 1" descr="22_fairness_by_region.png">
            <a:extLst>
              <a:ext uri="{FF2B5EF4-FFF2-40B4-BE49-F238E27FC236}">
                <a16:creationId xmlns:a16="http://schemas.microsoft.com/office/drawing/2014/main" id="{D80685F9-F8AE-2E6E-8C93-174E57E23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0"/>
            <a:ext cx="11430000" cy="393192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23D5AEB1-83EB-C98C-1058-4C99F2ABC9C8}"/>
              </a:ext>
            </a:extLst>
          </p:cNvPr>
          <p:cNvGrpSpPr/>
          <p:nvPr/>
        </p:nvGrpSpPr>
        <p:grpSpPr>
          <a:xfrm>
            <a:off x="653732" y="5971032"/>
            <a:ext cx="10881361" cy="923544"/>
            <a:chOff x="365760" y="5897880"/>
            <a:chExt cx="11197900" cy="96012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B9CF6A0-685F-35C2-4ABA-E93455789B33}"/>
                </a:ext>
              </a:extLst>
            </p:cNvPr>
            <p:cNvGrpSpPr/>
            <p:nvPr/>
          </p:nvGrpSpPr>
          <p:grpSpPr>
            <a:xfrm>
              <a:off x="365760" y="5897880"/>
              <a:ext cx="3703320" cy="960120"/>
              <a:chOff x="365760" y="5897880"/>
              <a:chExt cx="3703320" cy="96012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AC22F4E-A8B8-7D3E-92EC-A3FD80F3C393}"/>
                  </a:ext>
                </a:extLst>
              </p:cNvPr>
              <p:cNvSpPr/>
              <p:nvPr/>
            </p:nvSpPr>
            <p:spPr>
              <a:xfrm>
                <a:off x="365760" y="5897880"/>
                <a:ext cx="3474720" cy="777240"/>
              </a:xfrm>
              <a:prstGeom prst="rect">
                <a:avLst/>
              </a:prstGeom>
              <a:solidFill>
                <a:srgbClr val="C0392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48CDB2C-2B4B-576B-D845-69B8D04987FE}"/>
                  </a:ext>
                </a:extLst>
              </p:cNvPr>
              <p:cNvSpPr txBox="1"/>
              <p:nvPr/>
            </p:nvSpPr>
            <p:spPr>
              <a:xfrm>
                <a:off x="365760" y="6080760"/>
                <a:ext cx="1097280" cy="7772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200" b="1" i="0" dirty="0">
                    <a:solidFill>
                      <a:srgbClr val="FFFFFF"/>
                    </a:solidFill>
                    <a:latin typeface="Segoe UI"/>
                  </a:rPr>
                  <a:t>0.741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55E1CB0-8CBE-929D-E5CD-A9FA7347DEA7}"/>
                  </a:ext>
                </a:extLst>
              </p:cNvPr>
              <p:cNvSpPr txBox="1"/>
              <p:nvPr/>
            </p:nvSpPr>
            <p:spPr>
              <a:xfrm>
                <a:off x="1536192" y="5934456"/>
                <a:ext cx="2532888" cy="6985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400" b="0" i="0" dirty="0">
                    <a:solidFill>
                      <a:srgbClr val="FFFFFF"/>
                    </a:solidFill>
                    <a:latin typeface="Segoe UI"/>
                  </a:rPr>
                  <a:t>Northeast AUC
(worst — 14.1% actual late)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EFA9CCB-B46D-8C1A-43CD-4AA87B3DFF4D}"/>
                </a:ext>
              </a:extLst>
            </p:cNvPr>
            <p:cNvGrpSpPr/>
            <p:nvPr/>
          </p:nvGrpSpPr>
          <p:grpSpPr>
            <a:xfrm>
              <a:off x="4069080" y="5897880"/>
              <a:ext cx="3474720" cy="960120"/>
              <a:chOff x="4069080" y="5897880"/>
              <a:chExt cx="3474720" cy="96012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0E06EEF-F974-611A-05B7-EA8B5ABC68BB}"/>
                  </a:ext>
                </a:extLst>
              </p:cNvPr>
              <p:cNvSpPr/>
              <p:nvPr/>
            </p:nvSpPr>
            <p:spPr>
              <a:xfrm>
                <a:off x="4069080" y="5897880"/>
                <a:ext cx="3474720" cy="777240"/>
              </a:xfrm>
              <a:prstGeom prst="rect">
                <a:avLst/>
              </a:prstGeom>
              <a:solidFill>
                <a:srgbClr val="F39C1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4220766-9454-8DC5-09F3-E7ED47EC7DF8}"/>
                  </a:ext>
                </a:extLst>
              </p:cNvPr>
              <p:cNvSpPr txBox="1"/>
              <p:nvPr/>
            </p:nvSpPr>
            <p:spPr>
              <a:xfrm>
                <a:off x="4069080" y="6080760"/>
                <a:ext cx="1097280" cy="7772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200" b="1" i="0" dirty="0">
                    <a:solidFill>
                      <a:srgbClr val="FFFFFF"/>
                    </a:solidFill>
                    <a:latin typeface="Segoe UI"/>
                  </a:rPr>
                  <a:t>0.752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5B3FE29-1DDD-E194-352D-0FD57EEFD053}"/>
                  </a:ext>
                </a:extLst>
              </p:cNvPr>
              <p:cNvSpPr txBox="1"/>
              <p:nvPr/>
            </p:nvSpPr>
            <p:spPr>
              <a:xfrm>
                <a:off x="5239512" y="5934456"/>
                <a:ext cx="2286000" cy="6985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400" b="0" i="0" dirty="0">
                    <a:solidFill>
                      <a:srgbClr val="FFFFFF"/>
                    </a:solidFill>
                    <a:latin typeface="Segoe UI"/>
                  </a:rPr>
                  <a:t>North AUC
(10.1% actual late)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6819F58-15FA-5AC1-6C62-A5150ACD99CE}"/>
                </a:ext>
              </a:extLst>
            </p:cNvPr>
            <p:cNvGrpSpPr/>
            <p:nvPr/>
          </p:nvGrpSpPr>
          <p:grpSpPr>
            <a:xfrm>
              <a:off x="7772400" y="5897880"/>
              <a:ext cx="3791260" cy="960120"/>
              <a:chOff x="7772400" y="5897880"/>
              <a:chExt cx="3791260" cy="96012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A60BBCC-C3F1-4260-4A22-4C5422317CFB}"/>
                  </a:ext>
                </a:extLst>
              </p:cNvPr>
              <p:cNvSpPr/>
              <p:nvPr/>
            </p:nvSpPr>
            <p:spPr>
              <a:xfrm>
                <a:off x="7772400" y="5897880"/>
                <a:ext cx="3735388" cy="777240"/>
              </a:xfrm>
              <a:prstGeom prst="rect">
                <a:avLst/>
              </a:prstGeom>
              <a:solidFill>
                <a:srgbClr val="5B2D8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4B930BD-5311-86AB-2087-5EF681B84A3E}"/>
                  </a:ext>
                </a:extLst>
              </p:cNvPr>
              <p:cNvSpPr txBox="1"/>
              <p:nvPr/>
            </p:nvSpPr>
            <p:spPr>
              <a:xfrm>
                <a:off x="7772400" y="6080760"/>
                <a:ext cx="1097280" cy="7772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200" b="1" i="0" dirty="0">
                    <a:solidFill>
                      <a:srgbClr val="FFFFFF"/>
                    </a:solidFill>
                    <a:latin typeface="Segoe UI"/>
                  </a:rPr>
                  <a:t>0.797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0785071-B985-00FF-122D-F0275A6D73B9}"/>
                  </a:ext>
                </a:extLst>
              </p:cNvPr>
              <p:cNvSpPr txBox="1"/>
              <p:nvPr/>
            </p:nvSpPr>
            <p:spPr>
              <a:xfrm>
                <a:off x="8942832" y="5934456"/>
                <a:ext cx="2620828" cy="726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400" b="0" i="0" dirty="0">
                    <a:solidFill>
                      <a:srgbClr val="FFFFFF"/>
                    </a:solidFill>
                    <a:latin typeface="Segoe UI"/>
                  </a:rPr>
                  <a:t>Southeast AUC
(best — 68% of training data)</a:t>
                </a: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1015ADB-CE28-91AF-4F92-582DE39AC5A0}"/>
              </a:ext>
            </a:extLst>
          </p:cNvPr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2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/ 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16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 dirty="0">
                <a:solidFill>
                  <a:srgbClr val="9B59B6"/>
                </a:solidFill>
                <a:latin typeface="Segoe UI"/>
              </a:rPr>
              <a:t>1</a:t>
            </a:r>
            <a:r>
              <a:rPr lang="en-US" sz="1050" b="0" i="0" dirty="0">
                <a:solidFill>
                  <a:srgbClr val="9B59B6"/>
                </a:solidFill>
                <a:latin typeface="Segoe UI"/>
              </a:rPr>
              <a:t>3</a:t>
            </a:r>
            <a:r>
              <a:rPr sz="105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1050" b="0" i="0" dirty="0">
                <a:solidFill>
                  <a:srgbClr val="9B59B6"/>
                </a:solidFill>
                <a:latin typeface="Segoe UI"/>
              </a:rPr>
              <a:t>6</a:t>
            </a:r>
            <a:endParaRPr sz="105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9250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07 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0944" y="256032"/>
            <a:ext cx="7260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Segoe UI"/>
              </a:rPr>
              <a:t>Production-Ready Scoring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920240" cy="13716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"/>
              </a:rPr>
              <a:t>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Segoe UI"/>
              </a:rPr>
              <a:t>Order</a:t>
            </a:r>
            <a:r>
              <a:rPr lang="en-US" sz="16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Placed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92024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1920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FFFFFF"/>
                </a:solidFill>
                <a:latin typeface="Segoe UI"/>
              </a:rPr>
              <a:t>New order
data enters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783080"/>
            <a:ext cx="320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234440"/>
            <a:ext cx="1920240" cy="13716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2697480" y="128016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"/>
              </a:rP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783080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Segoe UI"/>
              </a:rPr>
              <a:t>Feature</a:t>
            </a:r>
            <a:r>
              <a:rPr lang="en-US" sz="16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Extract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2194560"/>
            <a:ext cx="192024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2697480" y="2213414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  <a:latin typeface="Segoe UI"/>
              </a:rPr>
              <a:t>17 features</a:t>
            </a:r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engineered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1783080"/>
            <a:ext cx="320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234440"/>
            <a:ext cx="1920240" cy="13716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4937760" y="128016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1783080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Segoe UI"/>
              </a:rPr>
              <a:t>LightGBM</a:t>
            </a:r>
            <a:r>
              <a:rPr lang="en-US" sz="16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2194560"/>
            <a:ext cx="192024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4937760" y="2147425"/>
            <a:ext cx="1920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  <a:latin typeface="Segoe UI"/>
              </a:rPr>
              <a:t>Predicts late
probability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783080"/>
            <a:ext cx="320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1234440"/>
            <a:ext cx="1920240" cy="13716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7178040" y="128016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1783080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Segoe UI"/>
              </a:rPr>
              <a:t>Risk</a:t>
            </a:r>
            <a:r>
              <a:rPr lang="en-US" sz="16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Tier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2194560"/>
            <a:ext cx="192024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7178040" y="2194560"/>
            <a:ext cx="1920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Low / Med /
High / Critical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1783080"/>
            <a:ext cx="320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0" y="1234440"/>
            <a:ext cx="1920240" cy="13716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9418320" y="128016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"/>
              </a:rPr>
              <a:t>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1783081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Segoe UI"/>
              </a:rPr>
              <a:t>Action</a:t>
            </a:r>
            <a:r>
              <a:rPr lang="en-US" sz="16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Triggered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2194560"/>
            <a:ext cx="192024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9418320" y="2194560"/>
            <a:ext cx="1920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  <a:latin typeface="Segoe UI"/>
              </a:rPr>
              <a:t>Ops team
alerted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926080"/>
            <a:ext cx="6858000" cy="3200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Rectangle 37"/>
          <p:cNvSpPr/>
          <p:nvPr/>
        </p:nvSpPr>
        <p:spPr>
          <a:xfrm>
            <a:off x="365760" y="2926080"/>
            <a:ext cx="6858000" cy="3657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365760" y="2926080"/>
            <a:ext cx="685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  score.py — LateDeliveryScorer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3337560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from score import LateDeliveryScorer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3511296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3685032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86FC"/>
                </a:solidFill>
                <a:latin typeface="Segoe UI"/>
              </a:rPr>
              <a:t>  # Load production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3858768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D9FF"/>
                </a:solidFill>
                <a:latin typeface="Segoe UI"/>
              </a:rPr>
              <a:t>  scorer = LateDeliveryScorer()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032504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206240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86FC"/>
                </a:solidFill>
                <a:latin typeface="Segoe UI"/>
              </a:rPr>
              <a:t>  # Score new orders (batch or single)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379976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D9FF"/>
                </a:solidFill>
                <a:latin typeface="Segoe UI"/>
              </a:rPr>
              <a:t>  predictions = scorer.predict(orders_df)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4553712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727448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86FC"/>
                </a:solidFill>
                <a:latin typeface="Segoe UI"/>
              </a:rPr>
              <a:t>  # Output: late_probability, risk_tier,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901183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86FC"/>
                </a:solidFill>
                <a:latin typeface="Segoe UI"/>
              </a:rPr>
              <a:t>  #         is_late_pred, recommended_action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5074920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5248656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86FC"/>
                </a:solidFill>
                <a:latin typeface="Segoe UI"/>
              </a:rPr>
              <a:t>  # Or serve as REST API: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5422392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86FC"/>
                </a:solidFill>
                <a:latin typeface="Segoe UI"/>
              </a:rPr>
              <a:t>  # python score.py --serve --port 5000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596128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86FC"/>
                </a:solidFill>
                <a:latin typeface="Segoe UI"/>
              </a:rPr>
              <a:t>  # POST /predict  →  real-time JSON response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9520" y="2926080"/>
            <a:ext cx="4206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5B2D8E"/>
                </a:solidFill>
                <a:latin typeface="Segoe UI"/>
              </a:rPr>
              <a:t>Packaged Artifacts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29000"/>
            <a:ext cx="4206240" cy="411480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6" name="TextBox 55"/>
          <p:cNvSpPr txBox="1"/>
          <p:nvPr/>
        </p:nvSpPr>
        <p:spPr>
          <a:xfrm>
            <a:off x="7635240" y="3513843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5B2D8E"/>
                </a:solidFill>
                <a:latin typeface="Segoe UI"/>
              </a:rPr>
              <a:t>📦  </a:t>
            </a:r>
            <a:r>
              <a:rPr sz="1100" b="1" i="0" dirty="0" err="1">
                <a:solidFill>
                  <a:srgbClr val="5B2D8E"/>
                </a:solidFill>
                <a:latin typeface="Segoe UI"/>
              </a:rPr>
              <a:t>late_delivery_model.pkl</a:t>
            </a:r>
            <a:endParaRPr sz="1100" b="1" i="0" dirty="0">
              <a:solidFill>
                <a:srgbClr val="5B2D8E"/>
              </a:solidFill>
              <a:latin typeface="Segoe U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790677" y="3532697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1A1A2E"/>
                </a:solidFill>
                <a:latin typeface="Segoe UI"/>
              </a:rPr>
              <a:t>Trained LightGBM (serialized)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0" y="3886200"/>
            <a:ext cx="4206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TextBox 58"/>
          <p:cNvSpPr txBox="1"/>
          <p:nvPr/>
        </p:nvSpPr>
        <p:spPr>
          <a:xfrm>
            <a:off x="7635240" y="3971043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D8E"/>
                </a:solidFill>
                <a:latin typeface="Segoe UI"/>
              </a:rPr>
              <a:t>📋  model_features.json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90677" y="3989897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1A1A2E"/>
                </a:solidFill>
                <a:latin typeface="Segoe UI"/>
              </a:rPr>
              <a:t>Feature manifest (17 features)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0" y="4343400"/>
            <a:ext cx="4206240" cy="411480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2" name="TextBox 61"/>
          <p:cNvSpPr txBox="1"/>
          <p:nvPr/>
        </p:nvSpPr>
        <p:spPr>
          <a:xfrm>
            <a:off x="7635240" y="4428243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D8E"/>
                </a:solidFill>
                <a:latin typeface="Segoe UI"/>
              </a:rPr>
              <a:t>🐍  score.py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90677" y="4447097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Segoe UI"/>
              </a:rPr>
              <a:t>Scoring class + Flask API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89520" y="4800600"/>
            <a:ext cx="4206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7635240" y="4885443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D8E"/>
                </a:solidFill>
                <a:latin typeface="Segoe UI"/>
              </a:rPr>
              <a:t>🌐  GET  /health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90677" y="4904297"/>
            <a:ext cx="2087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1A1A2E"/>
                </a:solidFill>
                <a:latin typeface="Segoe UI"/>
              </a:rPr>
              <a:t>Model health check endpoint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89520" y="5257800"/>
            <a:ext cx="4206240" cy="411480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8" name="TextBox 67"/>
          <p:cNvSpPr txBox="1"/>
          <p:nvPr/>
        </p:nvSpPr>
        <p:spPr>
          <a:xfrm>
            <a:off x="7635240" y="5342643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D8E"/>
                </a:solidFill>
                <a:latin typeface="Segoe UI"/>
              </a:rPr>
              <a:t>🔄  POST /predict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90677" y="5361497"/>
            <a:ext cx="2087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1A1A2E"/>
                </a:solidFill>
                <a:latin typeface="Segoe UI"/>
              </a:rPr>
              <a:t>Single-order real-time scoring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89520" y="5715000"/>
            <a:ext cx="4206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1" name="TextBox 70"/>
          <p:cNvSpPr txBox="1"/>
          <p:nvPr/>
        </p:nvSpPr>
        <p:spPr>
          <a:xfrm>
            <a:off x="7635240" y="5799843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D8E"/>
                </a:solidFill>
                <a:latin typeface="Segoe UI"/>
              </a:rPr>
              <a:t>📊  POST /predict_batch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90677" y="5818697"/>
            <a:ext cx="23134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Segoe UI"/>
              </a:rPr>
              <a:t>Batch CSV scoring endpoint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14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6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044700" y="-41435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08  DASHBOARD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0944" y="256032"/>
            <a:ext cx="8595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Segoe UI"/>
              </a:rPr>
              <a:t>Tableau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9649BB-0BD6-B8D0-AC87-C8C6DDAF5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893" y="1048165"/>
            <a:ext cx="9805038" cy="55538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5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6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Segoe UI"/>
              </a:rPr>
              <a:t>Key Findings &amp; Business Recommendations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CE7A45-54A6-49E3-C1DA-7F914979E3B8}"/>
              </a:ext>
            </a:extLst>
          </p:cNvPr>
          <p:cNvGrpSpPr/>
          <p:nvPr/>
        </p:nvGrpSpPr>
        <p:grpSpPr>
          <a:xfrm>
            <a:off x="365760" y="1447800"/>
            <a:ext cx="11580812" cy="4892040"/>
            <a:chOff x="365760" y="1143000"/>
            <a:chExt cx="11580812" cy="489204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6EEFDCE-3756-C5A0-72C9-925764A6E942}"/>
                </a:ext>
              </a:extLst>
            </p:cNvPr>
            <p:cNvGrpSpPr/>
            <p:nvPr/>
          </p:nvGrpSpPr>
          <p:grpSpPr>
            <a:xfrm>
              <a:off x="365760" y="1143000"/>
              <a:ext cx="5728652" cy="2331720"/>
              <a:chOff x="365760" y="1143000"/>
              <a:chExt cx="5728652" cy="233172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365760" y="1143000"/>
                <a:ext cx="5486400" cy="2331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365760" y="1143000"/>
                <a:ext cx="5486400" cy="91440"/>
              </a:xfrm>
              <a:prstGeom prst="rect">
                <a:avLst/>
              </a:prstGeom>
              <a:solidFill>
                <a:srgbClr val="9B59B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02920" y="1336722"/>
                <a:ext cx="52120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1" i="0">
                    <a:solidFill>
                      <a:srgbClr val="5B2D8E"/>
                    </a:solidFill>
                    <a:latin typeface="Segoe UI"/>
                  </a:rPr>
                  <a:t>🔍 Finding 1: Seller Track Record Dominates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02920" y="1737360"/>
                <a:ext cx="559149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0" i="1" dirty="0">
                    <a:solidFill>
                      <a:srgbClr val="1A1A2E"/>
                    </a:solidFill>
                    <a:latin typeface="Segoe UI"/>
                  </a:rPr>
                  <a:t>50% of predictive power comes from </a:t>
                </a:r>
                <a:r>
                  <a:rPr sz="1400" b="0" i="1" dirty="0" err="1">
                    <a:solidFill>
                      <a:srgbClr val="1A1A2E"/>
                    </a:solidFill>
                    <a:latin typeface="Segoe UI"/>
                  </a:rPr>
                  <a:t>seller_historical_late_rate</a:t>
                </a:r>
                <a:endParaRPr sz="1400" b="0" i="1" dirty="0">
                  <a:solidFill>
                    <a:srgbClr val="1A1A2E"/>
                  </a:solidFill>
                  <a:latin typeface="Segoe UI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02920" y="2299669"/>
                <a:ext cx="5212080" cy="1055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sz="1100" b="1" i="0" dirty="0">
                    <a:solidFill>
                      <a:srgbClr val="1A1A2E"/>
                    </a:solidFill>
                    <a:latin typeface="Segoe UI"/>
                  </a:rPr>
                  <a:t>📋 Recommendation: </a:t>
                </a:r>
                <a:r>
                  <a:rPr sz="1100" b="0" i="0" dirty="0">
                    <a:solidFill>
                      <a:srgbClr val="1A1A2E"/>
                    </a:solidFill>
                    <a:latin typeface="Segoe UI"/>
                  </a:rPr>
                  <a:t>Implement seller performance monitoring. Flag sellers with &gt;20% late rate (324 identified). Trigger automatic review and carrier upgrade protocols.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8BC7EA1-0098-C5F7-1541-5CF8DC2B81AA}"/>
                </a:ext>
              </a:extLst>
            </p:cNvPr>
            <p:cNvGrpSpPr/>
            <p:nvPr/>
          </p:nvGrpSpPr>
          <p:grpSpPr>
            <a:xfrm>
              <a:off x="6217920" y="1143000"/>
              <a:ext cx="5728652" cy="2331720"/>
              <a:chOff x="6217920" y="1143000"/>
              <a:chExt cx="5728652" cy="233172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6217920" y="1143000"/>
                <a:ext cx="5486400" cy="2331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6217920" y="1143000"/>
                <a:ext cx="5486400" cy="91440"/>
              </a:xfrm>
              <a:prstGeom prst="rect">
                <a:avLst/>
              </a:prstGeom>
              <a:solidFill>
                <a:srgbClr val="9B59B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6355080" y="1336722"/>
                <a:ext cx="52120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1" i="0">
                    <a:solidFill>
                      <a:srgbClr val="5B2D8E"/>
                    </a:solidFill>
                    <a:latin typeface="Segoe UI"/>
                  </a:rPr>
                  <a:t>🔍 Finding 2: Seasonal Demand Surges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355080" y="1737360"/>
                <a:ext cx="559149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0" i="1" dirty="0">
                    <a:solidFill>
                      <a:srgbClr val="1A1A2E"/>
                    </a:solidFill>
                    <a:latin typeface="Segoe UI"/>
                  </a:rPr>
                  <a:t>Peak months see 21%+ late rates vs 5% in low-demand months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355080" y="2299669"/>
                <a:ext cx="5212080" cy="1055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sz="1100" b="1" i="0" dirty="0">
                    <a:solidFill>
                      <a:srgbClr val="1A1A2E"/>
                    </a:solidFill>
                    <a:latin typeface="Segoe UI"/>
                  </a:rPr>
                  <a:t>📋 Recommendation: </a:t>
                </a:r>
                <a:r>
                  <a:rPr sz="1100" b="0" i="0" dirty="0">
                    <a:solidFill>
                      <a:srgbClr val="1A1A2E"/>
                    </a:solidFill>
                    <a:latin typeface="Segoe UI"/>
                  </a:rPr>
                  <a:t>Pre-scale carrier capacity in Nov-Dec (holidays) and high-demand months. Use the monthly trend dashboard to forecast capacity needs 4 weeks in advance.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C6B4965-A3AA-37C9-FF22-EE4E50B653C7}"/>
                </a:ext>
              </a:extLst>
            </p:cNvPr>
            <p:cNvGrpSpPr/>
            <p:nvPr/>
          </p:nvGrpSpPr>
          <p:grpSpPr>
            <a:xfrm>
              <a:off x="365760" y="3703320"/>
              <a:ext cx="5728652" cy="2331720"/>
              <a:chOff x="365760" y="3703320"/>
              <a:chExt cx="5728652" cy="233172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65760" y="3703320"/>
                <a:ext cx="5486400" cy="2331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65760" y="3703320"/>
                <a:ext cx="5486400" cy="91440"/>
              </a:xfrm>
              <a:prstGeom prst="rect">
                <a:avLst/>
              </a:prstGeom>
              <a:solidFill>
                <a:srgbClr val="C0392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02920" y="3897042"/>
                <a:ext cx="52120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1" i="0">
                    <a:solidFill>
                      <a:srgbClr val="5B2D8E"/>
                    </a:solidFill>
                    <a:latin typeface="Segoe UI"/>
                  </a:rPr>
                  <a:t>🔍 Finding 3: Regional Inequality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502920" y="4297680"/>
                <a:ext cx="559149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0" i="1" dirty="0">
                    <a:solidFill>
                      <a:srgbClr val="1A1A2E"/>
                    </a:solidFill>
                    <a:latin typeface="Segoe UI"/>
                  </a:rPr>
                  <a:t>North/Northeast face 2-3× higher late rates than South/Southeast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502920" y="4859989"/>
                <a:ext cx="5212080" cy="1055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sz="1100" b="1" i="0" dirty="0">
                    <a:solidFill>
                      <a:srgbClr val="1A1A2E"/>
                    </a:solidFill>
                    <a:latin typeface="Segoe UI"/>
                  </a:rPr>
                  <a:t>📋 Recommendation: </a:t>
                </a:r>
                <a:r>
                  <a:rPr sz="1100" b="0" i="0" dirty="0">
                    <a:solidFill>
                      <a:srgbClr val="1A1A2E"/>
                    </a:solidFill>
                    <a:latin typeface="Segoe UI"/>
                  </a:rPr>
                  <a:t>Partner with regional logistics providers in the North. Build region-specific carrier SLAs. Apply lower ML decision thresholds for these regions.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C87A602-0B38-9B83-CECD-180415EB99EA}"/>
                </a:ext>
              </a:extLst>
            </p:cNvPr>
            <p:cNvGrpSpPr/>
            <p:nvPr/>
          </p:nvGrpSpPr>
          <p:grpSpPr>
            <a:xfrm>
              <a:off x="6217920" y="3703320"/>
              <a:ext cx="5728652" cy="2331720"/>
              <a:chOff x="6217920" y="3703320"/>
              <a:chExt cx="5728652" cy="233172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6217920" y="3703320"/>
                <a:ext cx="5486400" cy="2331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6217920" y="3703320"/>
                <a:ext cx="5486400" cy="91440"/>
              </a:xfrm>
              <a:prstGeom prst="rect">
                <a:avLst/>
              </a:prstGeom>
              <a:solidFill>
                <a:srgbClr val="27AE6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6355080" y="3897042"/>
                <a:ext cx="52120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1" i="0">
                    <a:solidFill>
                      <a:srgbClr val="5B2D8E"/>
                    </a:solidFill>
                    <a:latin typeface="Segoe UI"/>
                  </a:rPr>
                  <a:t>🔍 Finding 4: Review Score Impact is Quantifiable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355080" y="4297680"/>
                <a:ext cx="559149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0" i="1">
                    <a:solidFill>
                      <a:srgbClr val="1A1A2E"/>
                    </a:solidFill>
                    <a:latin typeface="Segoe UI"/>
                  </a:rPr>
                  <a:t>1.73-star gap between late (2.4★) and on-time (4.3★) deliveries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6355080" y="4859989"/>
                <a:ext cx="5212080" cy="1055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sz="1100" b="1" i="0" dirty="0">
                    <a:solidFill>
                      <a:srgbClr val="1A1A2E"/>
                    </a:solidFill>
                    <a:latin typeface="Segoe UI"/>
                  </a:rPr>
                  <a:t>📋 Recommendation: </a:t>
                </a:r>
                <a:r>
                  <a:rPr sz="1100" b="0" i="0" dirty="0">
                    <a:solidFill>
                      <a:srgbClr val="1A1A2E"/>
                    </a:solidFill>
                    <a:latin typeface="Segoe UI"/>
                  </a:rPr>
                  <a:t>Use the model's Critical risk tier to proactively contact customers (compensation vouchers) before they experience the delivery, preventing negative reviews.</a:t>
                </a: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7CA2328-8123-F159-745B-C44D479F517F}"/>
              </a:ext>
            </a:extLst>
          </p:cNvPr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11AB62-D65E-EC8B-164E-76F39F8F69C4}"/>
              </a:ext>
            </a:extLst>
          </p:cNvPr>
          <p:cNvSpPr txBox="1"/>
          <p:nvPr/>
        </p:nvSpPr>
        <p:spPr>
          <a:xfrm>
            <a:off x="503725" y="19089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08  TABLEAU DASHBOARD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E57DB-2E0D-5356-157E-635622E1C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7AEEC0-443C-307E-FD51-4786F95AD7CC}"/>
              </a:ext>
            </a:extLst>
          </p:cNvPr>
          <p:cNvSpPr/>
          <p:nvPr/>
        </p:nvSpPr>
        <p:spPr>
          <a:xfrm rot="5400000">
            <a:off x="4265613" y="-2219540"/>
            <a:ext cx="3657600" cy="10915049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097EC2-C2DD-C992-845E-2BE9B55677F5}"/>
              </a:ext>
            </a:extLst>
          </p:cNvPr>
          <p:cNvGrpSpPr/>
          <p:nvPr/>
        </p:nvGrpSpPr>
        <p:grpSpPr>
          <a:xfrm>
            <a:off x="3234088" y="2253978"/>
            <a:ext cx="4499811" cy="2350044"/>
            <a:chOff x="274320" y="2418921"/>
            <a:chExt cx="3108960" cy="235004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C5C08B3-2965-EF08-F0B3-95DB88F4D64A}"/>
                </a:ext>
              </a:extLst>
            </p:cNvPr>
            <p:cNvSpPr txBox="1"/>
            <p:nvPr/>
          </p:nvSpPr>
          <p:spPr>
            <a:xfrm>
              <a:off x="274320" y="2418921"/>
              <a:ext cx="3108960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6000" b="1" i="0" dirty="0">
                  <a:solidFill>
                    <a:srgbClr val="FFFFFF"/>
                  </a:solidFill>
                  <a:latin typeface="Segoe UI"/>
                </a:rPr>
                <a:t>Thank You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A077887-98FF-B684-B040-448DCF65A582}"/>
                </a:ext>
              </a:extLst>
            </p:cNvPr>
            <p:cNvSpPr/>
            <p:nvPr/>
          </p:nvSpPr>
          <p:spPr>
            <a:xfrm>
              <a:off x="640080" y="3977639"/>
              <a:ext cx="2377440" cy="2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5708A1-7315-13AA-C013-BA0838976B5D}"/>
                </a:ext>
              </a:extLst>
            </p:cNvPr>
            <p:cNvSpPr txBox="1"/>
            <p:nvPr/>
          </p:nvSpPr>
          <p:spPr>
            <a:xfrm>
              <a:off x="274320" y="4307300"/>
              <a:ext cx="310896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0" i="1" dirty="0">
                  <a:solidFill>
                    <a:srgbClr val="E8D5F5"/>
                  </a:solidFill>
                  <a:latin typeface="Segoe UI"/>
                </a:rPr>
                <a:t>Any </a:t>
              </a:r>
              <a:r>
                <a:rPr sz="2400" b="0" i="1" dirty="0">
                  <a:solidFill>
                    <a:srgbClr val="E8D5F5"/>
                  </a:solidFill>
                  <a:latin typeface="Segoe UI"/>
                </a:rPr>
                <a:t>Question</a:t>
              </a:r>
              <a:r>
                <a:rPr lang="en-US" sz="2400" b="0" i="1" dirty="0">
                  <a:solidFill>
                    <a:srgbClr val="E8D5F5"/>
                  </a:solidFill>
                  <a:latin typeface="Segoe UI"/>
                </a:rPr>
                <a:t>s?</a:t>
              </a:r>
              <a:endParaRPr sz="2400" b="0" i="1" dirty="0">
                <a:solidFill>
                  <a:srgbClr val="E8D5F5"/>
                </a:solidFill>
                <a:latin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8476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3247</TotalTime>
  <Words>1386</Words>
  <Application>Microsoft Office PowerPoint</Application>
  <PresentationFormat>Custom</PresentationFormat>
  <Paragraphs>286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Comic Sans</vt:lpstr>
      <vt:lpstr>Segoe UI</vt:lpstr>
      <vt:lpstr>Segoe UI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Alanood Alyafei</dc:creator>
  <cp:keywords/>
  <dc:description/>
  <cp:lastModifiedBy>Mohammed, Al-Anood [60074158]</cp:lastModifiedBy>
  <cp:revision>51</cp:revision>
  <dcterms:created xsi:type="dcterms:W3CDTF">2013-01-27T09:14:16Z</dcterms:created>
  <dcterms:modified xsi:type="dcterms:W3CDTF">2026-04-14T16:17:43Z</dcterms:modified>
  <cp:category/>
</cp:coreProperties>
</file>