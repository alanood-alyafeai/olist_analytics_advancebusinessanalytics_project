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76" r:id="rId7"/>
    <p:sldId id="277" r:id="rId8"/>
    <p:sldId id="263" r:id="rId9"/>
    <p:sldId id="273" r:id="rId10"/>
    <p:sldId id="264" r:id="rId11"/>
    <p:sldId id="265" r:id="rId12"/>
    <p:sldId id="274" r:id="rId13"/>
    <p:sldId id="275" r:id="rId14"/>
    <p:sldId id="266" r:id="rId15"/>
    <p:sldId id="267" r:id="rId16"/>
    <p:sldId id="269" r:id="rId17"/>
    <p:sldId id="270" r:id="rId18"/>
    <p:sldId id="272" r:id="rId19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B2D8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0073" autoAdjust="0"/>
  </p:normalViewPr>
  <p:slideViewPr>
    <p:cSldViewPr snapToGrid="0" snapToObjects="1">
      <p:cViewPr varScale="1">
        <p:scale>
          <a:sx n="59" d="100"/>
          <a:sy n="59" d="100"/>
        </p:scale>
        <p:origin x="940" y="56"/>
      </p:cViewPr>
      <p:guideLst>
        <p:guide orient="horz" pos="2160"/>
        <p:guide pos="2880"/>
      </p:guideLst>
    </p:cSldViewPr>
  </p:slideViewPr>
  <p:notesTextViewPr>
    <p:cViewPr>
      <p:scale>
        <a:sx n="150" d="100"/>
        <a:sy n="15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2BB531-2AEC-4DA7-A960-AC7ACF6E8278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A32FB6-50F4-4669-AE20-71D0E9BDB9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7208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A32FB6-50F4-4669-AE20-71D0E9BDB9B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51702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A32FB6-50F4-4669-AE20-71D0E9BDB9B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10753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E3D88-B7EF-3419-53E0-F5F034E32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9A2C0D-0A6D-3FB7-A33F-6DB45148B3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4C59A5-9A08-C08E-3AD8-363E4AA71E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8F1139-D793-3594-4057-CC3B5485A8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A32FB6-50F4-4669-AE20-71D0E9BDB9B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0263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6D9FA-7EAC-ACF3-D583-4FE99D586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8A3174-F659-27AF-F559-EEE3AA578C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728C87-50E2-877A-79E0-3350475BF8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E48EFF-2FE1-22AA-6567-98618F7B96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A32FB6-50F4-4669-AE20-71D0E9BDB9B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91066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A32FB6-50F4-4669-AE20-71D0E9BDB9B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461393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2DF96-A1FF-CCF2-D39E-0DF1B095F2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ABD3FE-8DD1-6198-B5DF-3EEA8E8EF0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BE3C09-0879-0185-A701-F08D7D6EB8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2DBDAA-C66D-E24C-4148-2F1BE747EC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A32FB6-50F4-4669-AE20-71D0E9BDB9B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747277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A32FB6-50F4-4669-AE20-71D0E9BDB9B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49231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drfdxrcfgtvgt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A32FB6-50F4-4669-AE20-71D0E9BDB9B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0560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A32FB6-50F4-4669-AE20-71D0E9BDB9B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446446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A32FB6-50F4-4669-AE20-71D0E9BDB9B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44519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F37FAF3-4B21-BCBF-8B91-68E05EF5621A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9FA3DD6-4DD1-1904-08AB-0A5B6B9421B5}"/>
              </a:ext>
            </a:extLst>
          </p:cNvPr>
          <p:cNvGrpSpPr/>
          <p:nvPr/>
        </p:nvGrpSpPr>
        <p:grpSpPr>
          <a:xfrm>
            <a:off x="9454242" y="0"/>
            <a:ext cx="3070968" cy="6858000"/>
            <a:chOff x="9454242" y="0"/>
            <a:chExt cx="3070968" cy="6858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75D721C-AB16-1289-F9E9-5DEA3F729506}"/>
                </a:ext>
              </a:extLst>
            </p:cNvPr>
            <p:cNvSpPr/>
            <p:nvPr/>
          </p:nvSpPr>
          <p:spPr>
            <a:xfrm>
              <a:off x="9454242" y="0"/>
              <a:ext cx="2734709" cy="685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1D7D51E7-50CE-1D61-A60C-A2EEFD217D47}"/>
                </a:ext>
              </a:extLst>
            </p:cNvPr>
            <p:cNvGrpSpPr/>
            <p:nvPr/>
          </p:nvGrpSpPr>
          <p:grpSpPr>
            <a:xfrm>
              <a:off x="9599130" y="704190"/>
              <a:ext cx="2926080" cy="5817768"/>
              <a:chOff x="8321040" y="414080"/>
              <a:chExt cx="2926080" cy="6061300"/>
            </a:xfrm>
            <a:solidFill>
              <a:srgbClr val="5B2D8E"/>
            </a:solidFill>
          </p:grpSpPr>
          <p:sp>
            <p:nvSpPr>
              <p:cNvPr id="6" name="TextBox 5"/>
              <p:cNvSpPr txBox="1"/>
              <p:nvPr/>
            </p:nvSpPr>
            <p:spPr>
              <a:xfrm>
                <a:off x="8686800" y="414080"/>
                <a:ext cx="2103120" cy="11223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sz="6400" b="0" i="0" dirty="0">
                    <a:solidFill>
                      <a:sysClr val="windowText" lastClr="000000"/>
                    </a:solidFill>
                    <a:latin typeface="Segoe UI"/>
                  </a:rPr>
                  <a:t>🛍️</a:t>
                </a:r>
              </a:p>
            </p:txBody>
          </p:sp>
          <p:sp>
            <p:nvSpPr>
              <p:cNvPr id="17" name="TextBox 16"/>
              <p:cNvSpPr txBox="1"/>
              <p:nvPr/>
            </p:nvSpPr>
            <p:spPr>
              <a:xfrm>
                <a:off x="8695944" y="2028957"/>
                <a:ext cx="2103120" cy="5451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sz="2800" b="1" i="0" dirty="0">
                    <a:solidFill>
                      <a:sysClr val="windowText" lastClr="000000"/>
                    </a:solidFill>
                    <a:latin typeface="Segoe UI"/>
                  </a:rPr>
                  <a:t>96K+</a:t>
                </a:r>
              </a:p>
            </p:txBody>
          </p:sp>
          <p:sp>
            <p:nvSpPr>
              <p:cNvPr id="18" name="TextBox 17"/>
              <p:cNvSpPr txBox="1"/>
              <p:nvPr/>
            </p:nvSpPr>
            <p:spPr>
              <a:xfrm>
                <a:off x="8677656" y="2777426"/>
                <a:ext cx="2112264" cy="2885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sz="1200" b="0" i="0" dirty="0">
                    <a:solidFill>
                      <a:sysClr val="windowText" lastClr="000000"/>
                    </a:solidFill>
                    <a:latin typeface="Segoe UI"/>
                  </a:rPr>
                  <a:t>Orders Analyzed</a:t>
                </a:r>
              </a:p>
            </p:txBody>
          </p:sp>
          <p:sp>
            <p:nvSpPr>
              <p:cNvPr id="19" name="TextBox 18"/>
              <p:cNvSpPr txBox="1"/>
              <p:nvPr/>
            </p:nvSpPr>
            <p:spPr>
              <a:xfrm>
                <a:off x="8686800" y="3217677"/>
                <a:ext cx="2112264" cy="5451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sz="2800" b="1" i="0" dirty="0">
                    <a:solidFill>
                      <a:sysClr val="windowText" lastClr="000000"/>
                    </a:solidFill>
                    <a:latin typeface="Segoe UI"/>
                  </a:rPr>
                  <a:t>8.1%</a:t>
                </a:r>
              </a:p>
            </p:txBody>
          </p:sp>
          <p:sp>
            <p:nvSpPr>
              <p:cNvPr id="20" name="TextBox 19"/>
              <p:cNvSpPr txBox="1"/>
              <p:nvPr/>
            </p:nvSpPr>
            <p:spPr>
              <a:xfrm>
                <a:off x="8321040" y="4052460"/>
                <a:ext cx="2926080" cy="2885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sz="1200" b="0" i="0" dirty="0">
                    <a:solidFill>
                      <a:sysClr val="windowText" lastClr="000000"/>
                    </a:solidFill>
                    <a:latin typeface="Segoe UI"/>
                  </a:rPr>
                  <a:t>Late Order Rate</a:t>
                </a:r>
              </a:p>
            </p:txBody>
          </p:sp>
          <p:sp>
            <p:nvSpPr>
              <p:cNvPr id="21" name="TextBox 20"/>
              <p:cNvSpPr txBox="1"/>
              <p:nvPr/>
            </p:nvSpPr>
            <p:spPr>
              <a:xfrm>
                <a:off x="8686800" y="4406397"/>
                <a:ext cx="2112264" cy="5451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sz="2800" b="1" i="0" dirty="0">
                    <a:solidFill>
                      <a:sysClr val="windowText" lastClr="000000"/>
                    </a:solidFill>
                    <a:latin typeface="Segoe UI"/>
                  </a:rPr>
                  <a:t>0.787</a:t>
                </a:r>
              </a:p>
            </p:txBody>
          </p:sp>
          <p:sp>
            <p:nvSpPr>
              <p:cNvPr id="22" name="TextBox 21"/>
              <p:cNvSpPr txBox="1"/>
              <p:nvPr/>
            </p:nvSpPr>
            <p:spPr>
              <a:xfrm>
                <a:off x="8695944" y="5011914"/>
                <a:ext cx="2093976" cy="2885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sz="1200" b="0" i="0" dirty="0">
                    <a:solidFill>
                      <a:sysClr val="windowText" lastClr="000000"/>
                    </a:solidFill>
                    <a:latin typeface="Segoe UI"/>
                  </a:rPr>
                  <a:t>Model AUC</a:t>
                </a:r>
              </a:p>
            </p:txBody>
          </p:sp>
          <p:sp>
            <p:nvSpPr>
              <p:cNvPr id="23" name="TextBox 22"/>
              <p:cNvSpPr txBox="1"/>
              <p:nvPr/>
            </p:nvSpPr>
            <p:spPr>
              <a:xfrm>
                <a:off x="8705088" y="5595117"/>
                <a:ext cx="2093976" cy="5451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sz="2800" b="1" i="0" dirty="0">
                    <a:solidFill>
                      <a:sysClr val="windowText" lastClr="000000"/>
                    </a:solidFill>
                    <a:latin typeface="Segoe UI"/>
                  </a:rPr>
                  <a:t>1.73★</a:t>
                </a:r>
              </a:p>
            </p:txBody>
          </p:sp>
          <p:sp>
            <p:nvSpPr>
              <p:cNvPr id="24" name="TextBox 23"/>
              <p:cNvSpPr txBox="1"/>
              <p:nvPr/>
            </p:nvSpPr>
            <p:spPr>
              <a:xfrm>
                <a:off x="8321040" y="6186786"/>
                <a:ext cx="2926080" cy="2885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200" b="0" i="0" dirty="0">
                    <a:solidFill>
                      <a:sysClr val="windowText" lastClr="000000"/>
                    </a:solidFill>
                    <a:latin typeface="Segoe UI"/>
                  </a:rPr>
                  <a:t>Avg </a:t>
                </a:r>
                <a:r>
                  <a:rPr sz="1200" b="0" i="0" dirty="0">
                    <a:solidFill>
                      <a:sysClr val="windowText" lastClr="000000"/>
                    </a:solidFill>
                    <a:latin typeface="Segoe UI"/>
                  </a:rPr>
                  <a:t>Review Score Gap</a:t>
                </a:r>
              </a:p>
            </p:txBody>
          </p:sp>
        </p:grp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1AC52189-868E-892D-8026-0813DAA41C4E}"/>
              </a:ext>
            </a:extLst>
          </p:cNvPr>
          <p:cNvSpPr txBox="1"/>
          <p:nvPr/>
        </p:nvSpPr>
        <p:spPr>
          <a:xfrm>
            <a:off x="1104354" y="4372515"/>
            <a:ext cx="5312011" cy="1702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Course: </a:t>
            </a:r>
            <a:r>
              <a:rPr lang="en-US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DSAI 4103 — Business Analytics</a:t>
            </a:r>
          </a:p>
          <a:p>
            <a:pPr>
              <a:lnSpc>
                <a:spcPct val="150000"/>
              </a:lnSpc>
            </a:pPr>
            <a:r>
              <a:rPr lang="en-US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Name: </a:t>
            </a:r>
            <a:r>
              <a:rPr lang="en-US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Alanood Alyafei – 60074158</a:t>
            </a:r>
          </a:p>
          <a:p>
            <a:pPr>
              <a:lnSpc>
                <a:spcPct val="150000"/>
              </a:lnSpc>
            </a:pPr>
            <a:r>
              <a:rPr lang="en-US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Instructor: </a:t>
            </a:r>
            <a:r>
              <a:rPr lang="en-US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Dr. Elyor </a:t>
            </a:r>
          </a:p>
          <a:p>
            <a:pPr>
              <a:lnSpc>
                <a:spcPct val="150000"/>
              </a:lnSpc>
            </a:pPr>
            <a:r>
              <a:rPr lang="en-US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Date:</a:t>
            </a:r>
            <a:r>
              <a:rPr lang="en-US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9 March 2026</a:t>
            </a:r>
            <a:endParaRPr lang="en-US" b="1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BF02907-2C0E-ACBE-C0B4-CBCEE7CD8366}"/>
              </a:ext>
            </a:extLst>
          </p:cNvPr>
          <p:cNvSpPr/>
          <p:nvPr/>
        </p:nvSpPr>
        <p:spPr>
          <a:xfrm>
            <a:off x="623259" y="4196389"/>
            <a:ext cx="8046720" cy="54864"/>
          </a:xfrm>
          <a:prstGeom prst="rect">
            <a:avLst/>
          </a:prstGeom>
          <a:solidFill>
            <a:srgbClr val="E8D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1EA351D-7AA5-D948-C85F-7E8FB93E8A85}"/>
              </a:ext>
            </a:extLst>
          </p:cNvPr>
          <p:cNvGrpSpPr/>
          <p:nvPr/>
        </p:nvGrpSpPr>
        <p:grpSpPr>
          <a:xfrm>
            <a:off x="884355" y="1058154"/>
            <a:ext cx="7315200" cy="2811812"/>
            <a:chOff x="548640" y="1171300"/>
            <a:chExt cx="7315200" cy="281181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FC458F3-0C2D-E715-8DF1-A47F4E9D8339}"/>
                </a:ext>
              </a:extLst>
            </p:cNvPr>
            <p:cNvSpPr txBox="1"/>
            <p:nvPr/>
          </p:nvSpPr>
          <p:spPr>
            <a:xfrm>
              <a:off x="548640" y="1171300"/>
              <a:ext cx="7315200" cy="9144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5200" b="1" i="0" dirty="0">
                  <a:solidFill>
                    <a:srgbClr val="FFFFFF"/>
                  </a:solidFill>
                  <a:latin typeface="Segoe UI"/>
                </a:rPr>
                <a:t>Olist Delivery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5C5E0BD-F496-C5CD-1537-6906A916E22C}"/>
                </a:ext>
              </a:extLst>
            </p:cNvPr>
            <p:cNvSpPr txBox="1"/>
            <p:nvPr/>
          </p:nvSpPr>
          <p:spPr>
            <a:xfrm>
              <a:off x="548640" y="2103120"/>
              <a:ext cx="7315200" cy="9144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5200" b="1" i="0" dirty="0">
                  <a:solidFill>
                    <a:srgbClr val="E8D5F5"/>
                  </a:solidFill>
                  <a:latin typeface="Segoe UI"/>
                </a:rPr>
                <a:t>Intelligence Hub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213090D-1089-66D5-5750-96CB7F6AF75C}"/>
                </a:ext>
              </a:extLst>
            </p:cNvPr>
            <p:cNvSpPr txBox="1"/>
            <p:nvPr/>
          </p:nvSpPr>
          <p:spPr>
            <a:xfrm>
              <a:off x="548640" y="3154680"/>
              <a:ext cx="7315200" cy="8284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sz="1700" b="0" i="0" dirty="0">
                  <a:solidFill>
                    <a:srgbClr val="FFFFFF"/>
                  </a:solidFill>
                  <a:latin typeface="Segoe UI"/>
                </a:rPr>
                <a:t>Predicting Late Deliveries with Machine Learning
to Protect Customer Experience at Scale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1247120" y="6492240"/>
            <a:ext cx="9144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 dirty="0">
                <a:solidFill>
                  <a:srgbClr val="9B59B6"/>
                </a:solidFill>
                <a:latin typeface="Segoe UI"/>
              </a:rPr>
              <a:t>2 / 1</a:t>
            </a:r>
            <a:r>
              <a:rPr lang="en-US" sz="900" b="0" i="0" dirty="0">
                <a:solidFill>
                  <a:srgbClr val="9B59B6"/>
                </a:solidFill>
                <a:latin typeface="Segoe UI"/>
              </a:rPr>
              <a:t>7</a:t>
            </a:r>
            <a:endParaRPr sz="900" b="0" i="0" dirty="0">
              <a:solidFill>
                <a:srgbClr val="9B59B6"/>
              </a:solidFill>
              <a:latin typeface="Segoe UI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Segoe U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539496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640080" cy="114300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572768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8A068726-2910-6E58-CB0F-AA4B4B2498FC}"/>
              </a:ext>
            </a:extLst>
          </p:cNvPr>
          <p:cNvGrpSpPr/>
          <p:nvPr/>
        </p:nvGrpSpPr>
        <p:grpSpPr>
          <a:xfrm>
            <a:off x="1271016" y="1463040"/>
            <a:ext cx="4480560" cy="764977"/>
            <a:chOff x="1188720" y="1325880"/>
            <a:chExt cx="4480560" cy="764977"/>
          </a:xfrm>
        </p:grpSpPr>
        <p:sp>
          <p:nvSpPr>
            <p:cNvPr id="9" name="TextBox 8"/>
            <p:cNvSpPr txBox="1"/>
            <p:nvPr/>
          </p:nvSpPr>
          <p:spPr>
            <a:xfrm>
              <a:off x="1188720" y="1325880"/>
              <a:ext cx="448056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 dirty="0">
                  <a:solidFill>
                    <a:srgbClr val="5B2D8E"/>
                  </a:solidFill>
                  <a:latin typeface="Segoe UI"/>
                </a:rPr>
                <a:t>The Business Problem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188720" y="1783080"/>
              <a:ext cx="448056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US" sz="1400" b="0" i="1" dirty="0">
                  <a:solidFill>
                    <a:srgbClr val="1A1A2E"/>
                  </a:solidFill>
                  <a:latin typeface="Segoe UI"/>
                </a:rPr>
                <a:t>Impact of late deliveries</a:t>
              </a:r>
              <a:endParaRPr sz="1400" b="0" i="1" dirty="0">
                <a:solidFill>
                  <a:srgbClr val="1A1A2E"/>
                </a:solidFill>
                <a:latin typeface="Segoe UI"/>
              </a:endParaRPr>
            </a:p>
          </p:txBody>
        </p:sp>
      </p:grpSp>
      <p:sp>
        <p:nvSpPr>
          <p:cNvPr id="11" name="Rectangle 10"/>
          <p:cNvSpPr/>
          <p:nvPr/>
        </p:nvSpPr>
        <p:spPr>
          <a:xfrm>
            <a:off x="6263640" y="1234440"/>
            <a:ext cx="539496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63640" y="1234440"/>
            <a:ext cx="640080" cy="114300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63640" y="1572768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 dirty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DB004F8E-6E65-3641-CB8F-77404CF9D909}"/>
              </a:ext>
            </a:extLst>
          </p:cNvPr>
          <p:cNvGrpSpPr/>
          <p:nvPr/>
        </p:nvGrpSpPr>
        <p:grpSpPr>
          <a:xfrm>
            <a:off x="7077456" y="1463040"/>
            <a:ext cx="4480560" cy="764977"/>
            <a:chOff x="6995160" y="1325880"/>
            <a:chExt cx="4480560" cy="764977"/>
          </a:xfrm>
        </p:grpSpPr>
        <p:sp>
          <p:nvSpPr>
            <p:cNvPr id="14" name="TextBox 13"/>
            <p:cNvSpPr txBox="1"/>
            <p:nvPr/>
          </p:nvSpPr>
          <p:spPr>
            <a:xfrm>
              <a:off x="6995160" y="1325880"/>
              <a:ext cx="448056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 dirty="0">
                  <a:solidFill>
                    <a:srgbClr val="5B2D8E"/>
                  </a:solidFill>
                  <a:latin typeface="Segoe UI"/>
                </a:rPr>
                <a:t>Dataset &amp; Preparation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995160" y="1783080"/>
              <a:ext cx="448056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US" sz="1400" b="0" i="1" dirty="0">
                  <a:solidFill>
                    <a:srgbClr val="1A1A2E"/>
                  </a:solidFill>
                  <a:latin typeface="Segoe UI"/>
                </a:rPr>
                <a:t>Data sources &amp; features</a:t>
              </a:r>
              <a:endParaRPr sz="1400" b="0" i="1" dirty="0">
                <a:solidFill>
                  <a:srgbClr val="1A1A2E"/>
                </a:solidFill>
                <a:latin typeface="Segoe UI"/>
              </a:endParaRPr>
            </a:p>
          </p:txBody>
        </p:sp>
      </p:grpSp>
      <p:sp>
        <p:nvSpPr>
          <p:cNvPr id="16" name="Rectangle 15"/>
          <p:cNvSpPr/>
          <p:nvPr/>
        </p:nvSpPr>
        <p:spPr>
          <a:xfrm>
            <a:off x="457200" y="2560320"/>
            <a:ext cx="539496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7" name="Rectangle 16"/>
          <p:cNvSpPr/>
          <p:nvPr/>
        </p:nvSpPr>
        <p:spPr>
          <a:xfrm>
            <a:off x="457200" y="2560320"/>
            <a:ext cx="640080" cy="114300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2898648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D8E74C88-8EDE-AED9-26BE-4EC2D0F4BCD4}"/>
              </a:ext>
            </a:extLst>
          </p:cNvPr>
          <p:cNvGrpSpPr/>
          <p:nvPr/>
        </p:nvGrpSpPr>
        <p:grpSpPr>
          <a:xfrm>
            <a:off x="1271016" y="2788920"/>
            <a:ext cx="4480560" cy="764977"/>
            <a:chOff x="1188720" y="2651760"/>
            <a:chExt cx="4480560" cy="764977"/>
          </a:xfrm>
        </p:grpSpPr>
        <p:sp>
          <p:nvSpPr>
            <p:cNvPr id="19" name="TextBox 18"/>
            <p:cNvSpPr txBox="1"/>
            <p:nvPr/>
          </p:nvSpPr>
          <p:spPr>
            <a:xfrm>
              <a:off x="1188720" y="2651760"/>
              <a:ext cx="448056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 dirty="0">
                  <a:solidFill>
                    <a:srgbClr val="5B2D8E"/>
                  </a:solidFill>
                  <a:latin typeface="Segoe UI"/>
                </a:rPr>
                <a:t>Exploratory Data Analysis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188720" y="3108960"/>
              <a:ext cx="448056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i="1" dirty="0">
                  <a:solidFill>
                    <a:srgbClr val="1A1A2E"/>
                  </a:solidFill>
                  <a:latin typeface="Segoe UI"/>
                </a:rPr>
                <a:t>Delivery days, state, category, payment</a:t>
              </a:r>
            </a:p>
          </p:txBody>
        </p:sp>
      </p:grpSp>
      <p:sp>
        <p:nvSpPr>
          <p:cNvPr id="21" name="Rectangle 20"/>
          <p:cNvSpPr/>
          <p:nvPr/>
        </p:nvSpPr>
        <p:spPr>
          <a:xfrm>
            <a:off x="6263640" y="2560320"/>
            <a:ext cx="539496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63640" y="2560320"/>
            <a:ext cx="640080" cy="114300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263640" y="2898648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417CED9A-1A43-BE87-B4DB-2AF22037161D}"/>
              </a:ext>
            </a:extLst>
          </p:cNvPr>
          <p:cNvGrpSpPr/>
          <p:nvPr/>
        </p:nvGrpSpPr>
        <p:grpSpPr>
          <a:xfrm>
            <a:off x="7077456" y="2788920"/>
            <a:ext cx="4480560" cy="764977"/>
            <a:chOff x="6995160" y="2651760"/>
            <a:chExt cx="4480560" cy="764977"/>
          </a:xfrm>
        </p:grpSpPr>
        <p:sp>
          <p:nvSpPr>
            <p:cNvPr id="24" name="TextBox 23"/>
            <p:cNvSpPr txBox="1"/>
            <p:nvPr/>
          </p:nvSpPr>
          <p:spPr>
            <a:xfrm>
              <a:off x="6995160" y="2651760"/>
              <a:ext cx="448056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 dirty="0">
                  <a:solidFill>
                    <a:srgbClr val="5B2D8E"/>
                  </a:solidFill>
                  <a:latin typeface="Segoe UI"/>
                </a:rPr>
                <a:t>Predictive Modeling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6995160" y="3108960"/>
              <a:ext cx="448056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US" sz="1400" b="0" i="1" dirty="0">
                  <a:solidFill>
                    <a:srgbClr val="1A1A2E"/>
                  </a:solidFill>
                  <a:latin typeface="Segoe UI"/>
                </a:rPr>
                <a:t>AutoML &amp; model performance</a:t>
              </a:r>
              <a:endParaRPr sz="1400" b="0" i="1" dirty="0">
                <a:solidFill>
                  <a:srgbClr val="1A1A2E"/>
                </a:solidFill>
                <a:latin typeface="Segoe UI"/>
              </a:endParaRPr>
            </a:p>
          </p:txBody>
        </p:sp>
      </p:grpSp>
      <p:sp>
        <p:nvSpPr>
          <p:cNvPr id="26" name="Rectangle 25"/>
          <p:cNvSpPr/>
          <p:nvPr/>
        </p:nvSpPr>
        <p:spPr>
          <a:xfrm>
            <a:off x="457200" y="3886200"/>
            <a:ext cx="539496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57200" y="3886200"/>
            <a:ext cx="640080" cy="114300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7200" y="4224528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D6531B7D-413C-6AED-D4BF-37E728989EB1}"/>
              </a:ext>
            </a:extLst>
          </p:cNvPr>
          <p:cNvGrpSpPr/>
          <p:nvPr/>
        </p:nvGrpSpPr>
        <p:grpSpPr>
          <a:xfrm>
            <a:off x="1188720" y="3977640"/>
            <a:ext cx="4480560" cy="764977"/>
            <a:chOff x="1188720" y="3977640"/>
            <a:chExt cx="4480560" cy="764977"/>
          </a:xfrm>
        </p:grpSpPr>
        <p:sp>
          <p:nvSpPr>
            <p:cNvPr id="29" name="TextBox 28"/>
            <p:cNvSpPr txBox="1"/>
            <p:nvPr/>
          </p:nvSpPr>
          <p:spPr>
            <a:xfrm>
              <a:off x="1188720" y="3977640"/>
              <a:ext cx="448056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 dirty="0">
                  <a:solidFill>
                    <a:srgbClr val="5B2D8E"/>
                  </a:solidFill>
                  <a:latin typeface="Segoe UI"/>
                </a:rPr>
                <a:t>Model Explainability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188720" y="4434840"/>
              <a:ext cx="448056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1" dirty="0">
                  <a:solidFill>
                    <a:srgbClr val="1A1A2E"/>
                  </a:solidFill>
                  <a:latin typeface="Segoe UI"/>
                </a:rPr>
                <a:t>SHAP analysis — what drives late deliveries</a:t>
              </a:r>
            </a:p>
          </p:txBody>
        </p:sp>
      </p:grpSp>
      <p:sp>
        <p:nvSpPr>
          <p:cNvPr id="31" name="Rectangle 30"/>
          <p:cNvSpPr/>
          <p:nvPr/>
        </p:nvSpPr>
        <p:spPr>
          <a:xfrm>
            <a:off x="6263640" y="3886200"/>
            <a:ext cx="539496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263640" y="3886200"/>
            <a:ext cx="640080" cy="114300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263640" y="4224528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06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F370C60-0C08-A7D3-2F5B-EBF4ACC63BC9}"/>
              </a:ext>
            </a:extLst>
          </p:cNvPr>
          <p:cNvGrpSpPr/>
          <p:nvPr/>
        </p:nvGrpSpPr>
        <p:grpSpPr>
          <a:xfrm>
            <a:off x="7077456" y="4114800"/>
            <a:ext cx="4480560" cy="764977"/>
            <a:chOff x="6995160" y="3977640"/>
            <a:chExt cx="4480560" cy="764977"/>
          </a:xfrm>
        </p:grpSpPr>
        <p:sp>
          <p:nvSpPr>
            <p:cNvPr id="34" name="TextBox 33"/>
            <p:cNvSpPr txBox="1"/>
            <p:nvPr/>
          </p:nvSpPr>
          <p:spPr>
            <a:xfrm>
              <a:off x="6995160" y="3977640"/>
              <a:ext cx="448056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 dirty="0">
                  <a:solidFill>
                    <a:srgbClr val="5B2D8E"/>
                  </a:solidFill>
                  <a:latin typeface="Segoe UI"/>
                </a:rPr>
                <a:t>Bias &amp; Fairness Analysis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6995160" y="4434840"/>
              <a:ext cx="448056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1" dirty="0">
                  <a:solidFill>
                    <a:srgbClr val="1A1A2E"/>
                  </a:solidFill>
                  <a:latin typeface="Segoe UI"/>
                </a:rPr>
                <a:t>Regional fairness audit and mitigation plan</a:t>
              </a:r>
            </a:p>
          </p:txBody>
        </p:sp>
      </p:grpSp>
      <p:sp>
        <p:nvSpPr>
          <p:cNvPr id="36" name="Rectangle 35"/>
          <p:cNvSpPr/>
          <p:nvPr/>
        </p:nvSpPr>
        <p:spPr>
          <a:xfrm>
            <a:off x="457200" y="5212079"/>
            <a:ext cx="539496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57200" y="5212079"/>
            <a:ext cx="640080" cy="114300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57200" y="5550407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07</a:t>
            </a:r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84D593B-6EA7-6500-87FB-E99CC5DFCCA8}"/>
              </a:ext>
            </a:extLst>
          </p:cNvPr>
          <p:cNvGrpSpPr/>
          <p:nvPr/>
        </p:nvGrpSpPr>
        <p:grpSpPr>
          <a:xfrm>
            <a:off x="1271016" y="5440679"/>
            <a:ext cx="4480560" cy="764977"/>
            <a:chOff x="1188720" y="5303519"/>
            <a:chExt cx="4480560" cy="764977"/>
          </a:xfrm>
        </p:grpSpPr>
        <p:sp>
          <p:nvSpPr>
            <p:cNvPr id="39" name="TextBox 38"/>
            <p:cNvSpPr txBox="1"/>
            <p:nvPr/>
          </p:nvSpPr>
          <p:spPr>
            <a:xfrm>
              <a:off x="1188720" y="5303519"/>
              <a:ext cx="448056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 dirty="0">
                  <a:solidFill>
                    <a:srgbClr val="5B2D8E"/>
                  </a:solidFill>
                  <a:latin typeface="Segoe UI"/>
                </a:rPr>
                <a:t>Deployment Architecture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1188720" y="5760719"/>
              <a:ext cx="448056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i="1" dirty="0">
                  <a:solidFill>
                    <a:srgbClr val="1A1A2E"/>
                  </a:solidFill>
                  <a:latin typeface="Segoe UI"/>
                </a:rPr>
                <a:t>score.py + Flask REST API</a:t>
              </a:r>
            </a:p>
          </p:txBody>
        </p:sp>
      </p:grpSp>
      <p:sp>
        <p:nvSpPr>
          <p:cNvPr id="41" name="Rectangle 40"/>
          <p:cNvSpPr/>
          <p:nvPr/>
        </p:nvSpPr>
        <p:spPr>
          <a:xfrm>
            <a:off x="6263640" y="5212079"/>
            <a:ext cx="539496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263640" y="5212079"/>
            <a:ext cx="640080" cy="114300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263640" y="5550407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Segoe UI"/>
              </a:rPr>
              <a:t>08</a:t>
            </a:r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49E51407-288D-1A0B-2653-15478EF6C0AC}"/>
              </a:ext>
            </a:extLst>
          </p:cNvPr>
          <p:cNvGrpSpPr/>
          <p:nvPr/>
        </p:nvGrpSpPr>
        <p:grpSpPr>
          <a:xfrm>
            <a:off x="7077456" y="5440679"/>
            <a:ext cx="4480560" cy="764977"/>
            <a:chOff x="6995160" y="5303519"/>
            <a:chExt cx="4480560" cy="764977"/>
          </a:xfrm>
        </p:grpSpPr>
        <p:sp>
          <p:nvSpPr>
            <p:cNvPr id="44" name="TextBox 43"/>
            <p:cNvSpPr txBox="1"/>
            <p:nvPr/>
          </p:nvSpPr>
          <p:spPr>
            <a:xfrm>
              <a:off x="6995160" y="5303519"/>
              <a:ext cx="448056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600" b="1" i="0" dirty="0">
                  <a:solidFill>
                    <a:srgbClr val="5B2D8E"/>
                  </a:solidFill>
                  <a:latin typeface="Segoe UI"/>
                </a:rPr>
                <a:t>Tableau Dashboard</a:t>
              </a: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6995160" y="5760719"/>
              <a:ext cx="448056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i="1" dirty="0">
                  <a:solidFill>
                    <a:srgbClr val="1A1A2E"/>
                  </a:solidFill>
                  <a:latin typeface="Segoe UI"/>
                </a:rPr>
                <a:t>9 interactive dashboard views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1247120" y="6492240"/>
            <a:ext cx="9144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 dirty="0">
                <a:solidFill>
                  <a:srgbClr val="9B59B6"/>
                </a:solidFill>
                <a:latin typeface="Segoe UI"/>
              </a:rPr>
              <a:t>3 / 1</a:t>
            </a:r>
            <a:r>
              <a:rPr lang="en-US" sz="900" b="0" i="0" dirty="0">
                <a:solidFill>
                  <a:srgbClr val="9B59B6"/>
                </a:solidFill>
                <a:latin typeface="Segoe UI"/>
              </a:rPr>
              <a:t>7</a:t>
            </a:r>
            <a:endParaRPr sz="900" b="0" i="0" dirty="0">
              <a:solidFill>
                <a:srgbClr val="9B59B6"/>
              </a:solidFill>
              <a:latin typeface="Segoe UI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82879"/>
            <a:ext cx="2011680" cy="457199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81000" y="173016"/>
            <a:ext cx="208788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01 </a:t>
            </a:r>
            <a:r>
              <a:rPr lang="en-US" sz="1100" b="1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Milk Tea Font TH Bold"/>
                <a:sym typeface="Milk Tea Font TH Bold"/>
              </a:rPr>
              <a:t>Introduction  &amp; </a:t>
            </a:r>
            <a:r>
              <a:rPr sz="1100" b="1" i="0" dirty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BUSINESS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99816" y="292608"/>
            <a:ext cx="5458968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dirty="0">
                <a:solidFill>
                  <a:srgbClr val="FFFFFF"/>
                </a:solidFill>
                <a:latin typeface="Segoe UI"/>
              </a:rPr>
              <a:t>The Cost of Late Deliveries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199" y="1143000"/>
            <a:ext cx="8603673" cy="7851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 dirty="0">
                <a:solidFill>
                  <a:srgbClr val="1A1A2E"/>
                </a:solidFill>
                <a:latin typeface="Segoe UI"/>
              </a:rPr>
              <a:t>Olist is Brazil's largest e-commerce marketplace aggregator.
Every late delivery damages customer trust — and the data confirms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057400"/>
            <a:ext cx="3383280" cy="1463040"/>
          </a:xfrm>
          <a:prstGeom prst="rect">
            <a:avLst/>
          </a:prstGeom>
          <a:solidFill>
            <a:srgbClr val="E8D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214884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5B2D8E"/>
                </a:solidFill>
                <a:latin typeface="Segoe UI"/>
              </a:rPr>
              <a:t>8.1%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743200"/>
            <a:ext cx="33832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 dirty="0">
                <a:solidFill>
                  <a:srgbClr val="1A1A2E"/>
                </a:solidFill>
                <a:latin typeface="Segoe UI"/>
              </a:rPr>
              <a:t>Late Order 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063240"/>
            <a:ext cx="338328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1" dirty="0">
                <a:solidFill>
                  <a:srgbClr val="9B59B6"/>
                </a:solidFill>
                <a:latin typeface="Segoe UI"/>
              </a:rPr>
              <a:t>7,826 of 96,470 delivered orders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2057400"/>
            <a:ext cx="3383280" cy="1463040"/>
          </a:xfrm>
          <a:prstGeom prst="rect">
            <a:avLst/>
          </a:prstGeom>
          <a:solidFill>
            <a:srgbClr val="E8D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06240" y="214884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5B2D8E"/>
                </a:solidFill>
                <a:latin typeface="Segoe UI"/>
              </a:rPr>
              <a:t>2.4 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2743200"/>
            <a:ext cx="33832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 dirty="0">
                <a:solidFill>
                  <a:srgbClr val="1A1A2E"/>
                </a:solidFill>
                <a:latin typeface="Segoe UI"/>
              </a:rPr>
              <a:t>Avg Review (Late)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3063240"/>
            <a:ext cx="33832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9B59B6"/>
                </a:solidFill>
                <a:latin typeface="Segoe UI"/>
              </a:rPr>
              <a:t>vs 4.3★ for on-time orders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55279" y="2057400"/>
            <a:ext cx="3383280" cy="1463040"/>
          </a:xfrm>
          <a:prstGeom prst="rect">
            <a:avLst/>
          </a:prstGeom>
          <a:solidFill>
            <a:srgbClr val="E8D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55279" y="214884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5B2D8E"/>
                </a:solidFill>
                <a:latin typeface="Segoe UI"/>
              </a:rPr>
              <a:t>1.73★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2743200"/>
            <a:ext cx="33832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 dirty="0">
                <a:solidFill>
                  <a:srgbClr val="1A1A2E"/>
                </a:solidFill>
                <a:latin typeface="Segoe UI"/>
              </a:rPr>
              <a:t>Review</a:t>
            </a:r>
            <a:r>
              <a:rPr sz="1200" b="0" i="0" dirty="0">
                <a:solidFill>
                  <a:srgbClr val="1A1A2E"/>
                </a:solidFill>
                <a:latin typeface="Segoe UI"/>
              </a:rPr>
              <a:t> Score Gap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3063240"/>
            <a:ext cx="33832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 dirty="0">
                <a:solidFill>
                  <a:srgbClr val="9B59B6"/>
                </a:solidFill>
                <a:latin typeface="Segoe UI"/>
              </a:rPr>
              <a:t>Direct measurable cost per late order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749039"/>
            <a:ext cx="11247120" cy="91440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3749039"/>
            <a:ext cx="11247120" cy="8717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rgbClr val="FFFFFF"/>
                </a:solidFill>
                <a:latin typeface="Segoe UI"/>
              </a:rPr>
              <a:t> At Olist's scale: thousands of negative reviews/month, seller de-listing risk, customer churn. The goal is to predict late deliveries BEFORE they ship — enabling proactive intervention.</a:t>
            </a:r>
            <a:endParaRPr b="0" i="0" dirty="0">
              <a:solidFill>
                <a:srgbClr val="FFFFFF"/>
              </a:solidFill>
              <a:latin typeface="Segoe UI"/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DAF74EB-F1A4-0DBE-3CA9-1901149EC94E}"/>
              </a:ext>
            </a:extLst>
          </p:cNvPr>
          <p:cNvGrpSpPr/>
          <p:nvPr/>
        </p:nvGrpSpPr>
        <p:grpSpPr>
          <a:xfrm>
            <a:off x="653143" y="4990488"/>
            <a:ext cx="11247120" cy="1459065"/>
            <a:chOff x="457200" y="4940068"/>
            <a:chExt cx="11247120" cy="1459065"/>
          </a:xfrm>
        </p:grpSpPr>
        <p:sp>
          <p:nvSpPr>
            <p:cNvPr id="23" name="TextBox 22"/>
            <p:cNvSpPr txBox="1"/>
            <p:nvPr/>
          </p:nvSpPr>
          <p:spPr>
            <a:xfrm>
              <a:off x="457200" y="4940068"/>
              <a:ext cx="2642616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US" sz="1600" b="1" i="0" dirty="0">
                  <a:solidFill>
                    <a:srgbClr val="5B2D8E"/>
                  </a:solidFill>
                  <a:latin typeface="Segoe UI"/>
                </a:rPr>
                <a:t>The Problem Statement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57200" y="5166360"/>
              <a:ext cx="11247120" cy="123277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200000"/>
                </a:lnSpc>
              </a:pPr>
              <a:r>
                <a:rPr sz="1250" b="0" i="0" dirty="0">
                  <a:solidFill>
                    <a:srgbClr val="1A1A2E"/>
                  </a:solidFill>
                  <a:latin typeface="Segoe UI"/>
                </a:rPr>
                <a:t>→  Late deliveries are currently discovered </a:t>
              </a:r>
              <a:r>
                <a:rPr sz="1250" b="1" i="0" dirty="0">
                  <a:solidFill>
                    <a:srgbClr val="1A1A2E"/>
                  </a:solidFill>
                  <a:latin typeface="Segoe UI"/>
                </a:rPr>
                <a:t>AFTER</a:t>
              </a:r>
              <a:r>
                <a:rPr sz="1250" b="0" i="0" dirty="0">
                  <a:solidFill>
                    <a:srgbClr val="1A1A2E"/>
                  </a:solidFill>
                  <a:latin typeface="Segoe UI"/>
                </a:rPr>
                <a:t> they happen — reactive, not proactive</a:t>
              </a:r>
              <a:r>
                <a:rPr lang="en-US" sz="1250" b="0" i="0" dirty="0">
                  <a:solidFill>
                    <a:srgbClr val="1A1A2E"/>
                  </a:solidFill>
                  <a:latin typeface="Segoe UI"/>
                </a:rPr>
                <a:t>.</a:t>
              </a:r>
            </a:p>
            <a:p>
              <a:pPr>
                <a:lnSpc>
                  <a:spcPct val="200000"/>
                </a:lnSpc>
              </a:pPr>
              <a:r>
                <a:rPr lang="en-US" sz="1250" dirty="0">
                  <a:solidFill>
                    <a:srgbClr val="1A1A2E"/>
                  </a:solidFill>
                  <a:latin typeface="Segoe UI"/>
                </a:rPr>
                <a:t>→  </a:t>
              </a:r>
              <a:r>
                <a:rPr lang="en-US" sz="1250" b="1" dirty="0">
                  <a:solidFill>
                    <a:srgbClr val="1A1A2E"/>
                  </a:solidFill>
                  <a:latin typeface="Segoe UI"/>
                </a:rPr>
                <a:t>Root causes </a:t>
              </a:r>
              <a:r>
                <a:rPr lang="en-US" sz="1400" dirty="0"/>
                <a:t>include</a:t>
              </a:r>
              <a:r>
                <a:rPr lang="en-US" sz="1250" dirty="0">
                  <a:solidFill>
                    <a:srgbClr val="1A1A2E"/>
                  </a:solidFill>
                  <a:latin typeface="Segoe UI"/>
                </a:rPr>
                <a:t> seller behavior, geography, seasonality, and product type.</a:t>
              </a:r>
            </a:p>
            <a:p>
              <a:pPr>
                <a:lnSpc>
                  <a:spcPct val="200000"/>
                </a:lnSpc>
              </a:pPr>
              <a:r>
                <a:rPr lang="en-US" sz="1250" dirty="0">
                  <a:solidFill>
                    <a:srgbClr val="1A1A2E"/>
                  </a:solidFill>
                  <a:latin typeface="Segoe UI"/>
                </a:rPr>
                <a:t>→  </a:t>
              </a:r>
              <a:r>
                <a:rPr lang="en-US" sz="1250" b="1" dirty="0">
                  <a:solidFill>
                    <a:srgbClr val="1A1A2E"/>
                  </a:solidFill>
                  <a:latin typeface="Segoe UI"/>
                </a:rPr>
                <a:t>Goal: </a:t>
              </a:r>
              <a:r>
                <a:rPr lang="en-US" sz="1250" dirty="0">
                  <a:solidFill>
                    <a:srgbClr val="1A1A2E"/>
                  </a:solidFill>
                  <a:latin typeface="Segoe UI"/>
                </a:rPr>
                <a:t>Predict whether an order will be late </a:t>
              </a:r>
              <a:r>
                <a:rPr lang="en-US" sz="1250" b="1" dirty="0">
                  <a:solidFill>
                    <a:srgbClr val="1A1A2E"/>
                  </a:solidFill>
                  <a:latin typeface="Segoe UI"/>
                </a:rPr>
                <a:t>BEFORE</a:t>
              </a:r>
              <a:r>
                <a:rPr lang="en-US" sz="1250" dirty="0">
                  <a:solidFill>
                    <a:srgbClr val="1A1A2E"/>
                  </a:solidFill>
                  <a:latin typeface="Segoe UI"/>
                </a:rPr>
                <a:t> it ships, enabling early intervention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1247120" y="6492240"/>
            <a:ext cx="9144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 dirty="0">
                <a:solidFill>
                  <a:srgbClr val="9B59B6"/>
                </a:solidFill>
                <a:latin typeface="Segoe UI"/>
              </a:rPr>
              <a:t>4 / 1</a:t>
            </a:r>
            <a:r>
              <a:rPr lang="en-US" sz="900" b="0" i="0" dirty="0">
                <a:solidFill>
                  <a:srgbClr val="9B59B6"/>
                </a:solidFill>
                <a:latin typeface="Segoe UI"/>
              </a:rPr>
              <a:t>7</a:t>
            </a:r>
            <a:endParaRPr sz="900" b="0" i="0" dirty="0">
              <a:solidFill>
                <a:srgbClr val="9B59B6"/>
              </a:solidFill>
              <a:latin typeface="Segoe UI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82880"/>
            <a:ext cx="2011680" cy="32004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02  DATASET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47797" y="274320"/>
            <a:ext cx="8138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FFFFFF"/>
                </a:solidFill>
                <a:latin typeface="Segoe UI"/>
              </a:rPr>
              <a:t>7 Data Sources → 1 Unified Analytics Dataset</a:t>
            </a:r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86B4FC4D-F280-4537-C98C-D0D1051EB919}"/>
              </a:ext>
            </a:extLst>
          </p:cNvPr>
          <p:cNvGrpSpPr/>
          <p:nvPr/>
        </p:nvGrpSpPr>
        <p:grpSpPr>
          <a:xfrm>
            <a:off x="338328" y="2947416"/>
            <a:ext cx="7498080" cy="3054096"/>
            <a:chOff x="365760" y="1097280"/>
            <a:chExt cx="7498080" cy="3054096"/>
          </a:xfrm>
        </p:grpSpPr>
        <p:sp>
          <p:nvSpPr>
            <p:cNvPr id="8" name="Rectangle 7"/>
            <p:cNvSpPr/>
            <p:nvPr/>
          </p:nvSpPr>
          <p:spPr>
            <a:xfrm>
              <a:off x="365760" y="1097280"/>
              <a:ext cx="7498079" cy="365760"/>
            </a:xfrm>
            <a:prstGeom prst="rect">
              <a:avLst/>
            </a:prstGeom>
            <a:solidFill>
              <a:srgbClr val="9B59B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6C99AA60-5492-5DFA-DED0-E6B3546C02F6}"/>
                </a:ext>
              </a:extLst>
            </p:cNvPr>
            <p:cNvGrpSpPr/>
            <p:nvPr/>
          </p:nvGrpSpPr>
          <p:grpSpPr>
            <a:xfrm>
              <a:off x="365760" y="1133856"/>
              <a:ext cx="7498080" cy="3017520"/>
              <a:chOff x="365760" y="1133856"/>
              <a:chExt cx="7498080" cy="3017520"/>
            </a:xfrm>
          </p:grpSpPr>
          <p:grpSp>
            <p:nvGrpSpPr>
              <p:cNvPr id="63" name="Group 62">
                <a:extLst>
                  <a:ext uri="{FF2B5EF4-FFF2-40B4-BE49-F238E27FC236}">
                    <a16:creationId xmlns:a16="http://schemas.microsoft.com/office/drawing/2014/main" id="{1967D2C2-F02E-C8C5-FF78-5C1AE846FF3F}"/>
                  </a:ext>
                </a:extLst>
              </p:cNvPr>
              <p:cNvGrpSpPr/>
              <p:nvPr/>
            </p:nvGrpSpPr>
            <p:grpSpPr>
              <a:xfrm>
                <a:off x="429768" y="1133856"/>
                <a:ext cx="7406640" cy="365760"/>
                <a:chOff x="457200" y="1097280"/>
                <a:chExt cx="7406640" cy="365760"/>
              </a:xfrm>
            </p:grpSpPr>
            <p:sp>
              <p:nvSpPr>
                <p:cNvPr id="9" name="TextBox 8"/>
                <p:cNvSpPr txBox="1"/>
                <p:nvPr/>
              </p:nvSpPr>
              <p:spPr>
                <a:xfrm>
                  <a:off x="457200" y="1097280"/>
                  <a:ext cx="4114800" cy="36576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l"/>
                  <a:r>
                    <a:rPr sz="1200" b="1" i="0">
                      <a:solidFill>
                        <a:srgbClr val="FFFFFF"/>
                      </a:solidFill>
                      <a:latin typeface="Segoe UI"/>
                    </a:rPr>
                    <a:t>Dataset File</a:t>
                  </a:r>
                </a:p>
              </p:txBody>
            </p:sp>
            <p:sp>
              <p:nvSpPr>
                <p:cNvPr id="10" name="TextBox 9"/>
                <p:cNvSpPr txBox="1"/>
                <p:nvPr/>
              </p:nvSpPr>
              <p:spPr>
                <a:xfrm>
                  <a:off x="3922776" y="1097280"/>
                  <a:ext cx="1371600" cy="36576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l"/>
                  <a:r>
                    <a:rPr sz="1200" b="1" i="0" dirty="0">
                      <a:solidFill>
                        <a:srgbClr val="FFFFFF"/>
                      </a:solidFill>
                      <a:latin typeface="Segoe UI"/>
                    </a:rPr>
                    <a:t>Rows</a:t>
                  </a:r>
                </a:p>
              </p:txBody>
            </p:sp>
            <p:sp>
              <p:nvSpPr>
                <p:cNvPr id="11" name="TextBox 10"/>
                <p:cNvSpPr txBox="1"/>
                <p:nvPr/>
              </p:nvSpPr>
              <p:spPr>
                <a:xfrm>
                  <a:off x="6126480" y="1097280"/>
                  <a:ext cx="1737360" cy="36576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l"/>
                  <a:r>
                    <a:rPr sz="1200" b="1" i="0" dirty="0">
                      <a:solidFill>
                        <a:srgbClr val="FFFFFF"/>
                      </a:solidFill>
                      <a:latin typeface="Segoe UI"/>
                    </a:rPr>
                    <a:t>Key Content</a:t>
                  </a:r>
                </a:p>
              </p:txBody>
            </p:sp>
          </p:grpSp>
          <p:sp>
            <p:nvSpPr>
              <p:cNvPr id="12" name="Rectangle 11"/>
              <p:cNvSpPr/>
              <p:nvPr/>
            </p:nvSpPr>
            <p:spPr>
              <a:xfrm>
                <a:off x="365760" y="1463040"/>
                <a:ext cx="7498079" cy="384048"/>
              </a:xfrm>
              <a:prstGeom prst="rect">
                <a:avLst/>
              </a:prstGeom>
              <a:solidFill>
                <a:srgbClr val="F0E8F8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" name="Rectangle 15"/>
              <p:cNvSpPr/>
              <p:nvPr/>
            </p:nvSpPr>
            <p:spPr>
              <a:xfrm>
                <a:off x="365760" y="1847088"/>
                <a:ext cx="7498079" cy="38404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" name="Rectangle 19"/>
              <p:cNvSpPr/>
              <p:nvPr/>
            </p:nvSpPr>
            <p:spPr>
              <a:xfrm>
                <a:off x="365760" y="2231136"/>
                <a:ext cx="7498079" cy="384048"/>
              </a:xfrm>
              <a:prstGeom prst="rect">
                <a:avLst/>
              </a:prstGeom>
              <a:solidFill>
                <a:srgbClr val="F0E8F8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" name="Rectangle 23"/>
              <p:cNvSpPr/>
              <p:nvPr/>
            </p:nvSpPr>
            <p:spPr>
              <a:xfrm>
                <a:off x="365760" y="2615184"/>
                <a:ext cx="7498079" cy="38404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8" name="Rectangle 27"/>
              <p:cNvSpPr/>
              <p:nvPr/>
            </p:nvSpPr>
            <p:spPr>
              <a:xfrm>
                <a:off x="365760" y="2999232"/>
                <a:ext cx="7498079" cy="384048"/>
              </a:xfrm>
              <a:prstGeom prst="rect">
                <a:avLst/>
              </a:prstGeom>
              <a:solidFill>
                <a:srgbClr val="F0E8F8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2" name="Rectangle 31"/>
              <p:cNvSpPr/>
              <p:nvPr/>
            </p:nvSpPr>
            <p:spPr>
              <a:xfrm>
                <a:off x="365760" y="3383280"/>
                <a:ext cx="7498079" cy="38404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6" name="Rectangle 35"/>
              <p:cNvSpPr/>
              <p:nvPr/>
            </p:nvSpPr>
            <p:spPr>
              <a:xfrm>
                <a:off x="365760" y="3767328"/>
                <a:ext cx="7498079" cy="384048"/>
              </a:xfrm>
              <a:prstGeom prst="rect">
                <a:avLst/>
              </a:prstGeom>
              <a:solidFill>
                <a:srgbClr val="F0E8F8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grpSp>
            <p:nvGrpSpPr>
              <p:cNvPr id="61" name="Group 60">
                <a:extLst>
                  <a:ext uri="{FF2B5EF4-FFF2-40B4-BE49-F238E27FC236}">
                    <a16:creationId xmlns:a16="http://schemas.microsoft.com/office/drawing/2014/main" id="{165037A5-6D3B-4A49-92BF-A9A3AF707AC8}"/>
                  </a:ext>
                </a:extLst>
              </p:cNvPr>
              <p:cNvGrpSpPr/>
              <p:nvPr/>
            </p:nvGrpSpPr>
            <p:grpSpPr>
              <a:xfrm>
                <a:off x="365760" y="1499616"/>
                <a:ext cx="2715768" cy="2612065"/>
                <a:chOff x="365760" y="1463040"/>
                <a:chExt cx="4206240" cy="2612065"/>
              </a:xfrm>
            </p:grpSpPr>
            <p:sp>
              <p:nvSpPr>
                <p:cNvPr id="13" name="TextBox 12"/>
                <p:cNvSpPr txBox="1"/>
                <p:nvPr/>
              </p:nvSpPr>
              <p:spPr>
                <a:xfrm>
                  <a:off x="365760" y="1463040"/>
                  <a:ext cx="420624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l"/>
                  <a:r>
                    <a:rPr sz="1400" b="0" i="0" dirty="0">
                      <a:solidFill>
                        <a:srgbClr val="1A1A2E"/>
                      </a:solidFill>
                      <a:latin typeface="Segoe UI"/>
                    </a:rPr>
                    <a:t>  </a:t>
                  </a:r>
                  <a:r>
                    <a:rPr sz="1400" b="0" i="0" dirty="0" err="1">
                      <a:solidFill>
                        <a:srgbClr val="1A1A2E"/>
                      </a:solidFill>
                      <a:latin typeface="Segoe UI"/>
                    </a:rPr>
                    <a:t>olist_orders_dataset</a:t>
                  </a:r>
                  <a:endParaRPr sz="1400" b="0" i="0" dirty="0">
                    <a:solidFill>
                      <a:srgbClr val="1A1A2E"/>
                    </a:solidFill>
                    <a:latin typeface="Segoe UI"/>
                  </a:endParaRPr>
                </a:p>
              </p:txBody>
            </p:sp>
            <p:sp>
              <p:nvSpPr>
                <p:cNvPr id="17" name="TextBox 16"/>
                <p:cNvSpPr txBox="1"/>
                <p:nvPr/>
              </p:nvSpPr>
              <p:spPr>
                <a:xfrm>
                  <a:off x="365760" y="1847088"/>
                  <a:ext cx="420624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l"/>
                  <a:r>
                    <a:rPr sz="1400" b="0" i="0" dirty="0">
                      <a:solidFill>
                        <a:srgbClr val="1A1A2E"/>
                      </a:solidFill>
                      <a:latin typeface="Segoe UI"/>
                    </a:rPr>
                    <a:t>  </a:t>
                  </a:r>
                  <a:r>
                    <a:rPr sz="1400" b="0" i="0" dirty="0" err="1">
                      <a:solidFill>
                        <a:srgbClr val="1A1A2E"/>
                      </a:solidFill>
                      <a:latin typeface="Segoe UI"/>
                    </a:rPr>
                    <a:t>olist_order_items_dataset</a:t>
                  </a:r>
                  <a:endParaRPr sz="1400" b="0" i="0" dirty="0">
                    <a:solidFill>
                      <a:srgbClr val="1A1A2E"/>
                    </a:solidFill>
                    <a:latin typeface="Segoe UI"/>
                  </a:endParaRPr>
                </a:p>
              </p:txBody>
            </p:sp>
            <p:sp>
              <p:nvSpPr>
                <p:cNvPr id="21" name="TextBox 20"/>
                <p:cNvSpPr txBox="1"/>
                <p:nvPr/>
              </p:nvSpPr>
              <p:spPr>
                <a:xfrm>
                  <a:off x="365760" y="2231136"/>
                  <a:ext cx="420624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l"/>
                  <a:r>
                    <a:rPr sz="1400" b="0" i="0" dirty="0">
                      <a:solidFill>
                        <a:srgbClr val="1A1A2E"/>
                      </a:solidFill>
                      <a:latin typeface="Segoe UI"/>
                    </a:rPr>
                    <a:t>  </a:t>
                  </a:r>
                  <a:r>
                    <a:rPr sz="1400" b="0" i="0" dirty="0" err="1">
                      <a:solidFill>
                        <a:srgbClr val="1A1A2E"/>
                      </a:solidFill>
                      <a:latin typeface="Segoe UI"/>
                    </a:rPr>
                    <a:t>olist_order_payments_dataset</a:t>
                  </a:r>
                  <a:endParaRPr sz="1400" b="0" i="0" dirty="0">
                    <a:solidFill>
                      <a:srgbClr val="1A1A2E"/>
                    </a:solidFill>
                    <a:latin typeface="Segoe UI"/>
                  </a:endParaRPr>
                </a:p>
              </p:txBody>
            </p:sp>
            <p:sp>
              <p:nvSpPr>
                <p:cNvPr id="25" name="TextBox 24"/>
                <p:cNvSpPr txBox="1"/>
                <p:nvPr/>
              </p:nvSpPr>
              <p:spPr>
                <a:xfrm>
                  <a:off x="365760" y="2615184"/>
                  <a:ext cx="420624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l"/>
                  <a:r>
                    <a:rPr sz="1400" b="0" i="0" dirty="0">
                      <a:solidFill>
                        <a:srgbClr val="1A1A2E"/>
                      </a:solidFill>
                      <a:latin typeface="Segoe UI"/>
                    </a:rPr>
                    <a:t>  </a:t>
                  </a:r>
                  <a:r>
                    <a:rPr sz="1400" b="0" i="0" dirty="0" err="1">
                      <a:solidFill>
                        <a:srgbClr val="1A1A2E"/>
                      </a:solidFill>
                      <a:latin typeface="Segoe UI"/>
                    </a:rPr>
                    <a:t>olist_order_reviews_dataset</a:t>
                  </a:r>
                  <a:endParaRPr sz="1400" b="0" i="0" dirty="0">
                    <a:solidFill>
                      <a:srgbClr val="1A1A2E"/>
                    </a:solidFill>
                    <a:latin typeface="Segoe UI"/>
                  </a:endParaRPr>
                </a:p>
              </p:txBody>
            </p:sp>
            <p:sp>
              <p:nvSpPr>
                <p:cNvPr id="29" name="TextBox 28"/>
                <p:cNvSpPr txBox="1"/>
                <p:nvPr/>
              </p:nvSpPr>
              <p:spPr>
                <a:xfrm>
                  <a:off x="365760" y="2999232"/>
                  <a:ext cx="420624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l"/>
                  <a:r>
                    <a:rPr sz="1400" b="0" i="0" dirty="0">
                      <a:solidFill>
                        <a:srgbClr val="1A1A2E"/>
                      </a:solidFill>
                      <a:latin typeface="Segoe UI"/>
                    </a:rPr>
                    <a:t>  </a:t>
                  </a:r>
                  <a:r>
                    <a:rPr sz="1400" b="0" i="0" dirty="0" err="1">
                      <a:solidFill>
                        <a:srgbClr val="1A1A2E"/>
                      </a:solidFill>
                      <a:latin typeface="Segoe UI"/>
                    </a:rPr>
                    <a:t>olist_customers_dataset</a:t>
                  </a:r>
                  <a:endParaRPr sz="1400" b="0" i="0" dirty="0">
                    <a:solidFill>
                      <a:srgbClr val="1A1A2E"/>
                    </a:solidFill>
                    <a:latin typeface="Segoe UI"/>
                  </a:endParaRPr>
                </a:p>
              </p:txBody>
            </p:sp>
            <p:sp>
              <p:nvSpPr>
                <p:cNvPr id="33" name="TextBox 32"/>
                <p:cNvSpPr txBox="1"/>
                <p:nvPr/>
              </p:nvSpPr>
              <p:spPr>
                <a:xfrm>
                  <a:off x="365760" y="3383280"/>
                  <a:ext cx="420624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l"/>
                  <a:r>
                    <a:rPr sz="1400" b="0" i="0" dirty="0">
                      <a:solidFill>
                        <a:srgbClr val="1A1A2E"/>
                      </a:solidFill>
                      <a:latin typeface="Segoe UI"/>
                    </a:rPr>
                    <a:t>  </a:t>
                  </a:r>
                  <a:r>
                    <a:rPr sz="1400" b="0" i="0" dirty="0" err="1">
                      <a:solidFill>
                        <a:srgbClr val="1A1A2E"/>
                      </a:solidFill>
                      <a:latin typeface="Segoe UI"/>
                    </a:rPr>
                    <a:t>olist_products_dataset</a:t>
                  </a:r>
                  <a:endParaRPr sz="1400" b="0" i="0" dirty="0">
                    <a:solidFill>
                      <a:srgbClr val="1A1A2E"/>
                    </a:solidFill>
                    <a:latin typeface="Segoe UI"/>
                  </a:endParaRPr>
                </a:p>
              </p:txBody>
            </p:sp>
            <p:sp>
              <p:nvSpPr>
                <p:cNvPr id="37" name="TextBox 36"/>
                <p:cNvSpPr txBox="1"/>
                <p:nvPr/>
              </p:nvSpPr>
              <p:spPr>
                <a:xfrm>
                  <a:off x="365760" y="3767328"/>
                  <a:ext cx="420624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l"/>
                  <a:r>
                    <a:rPr sz="1400" b="0" i="0" dirty="0">
                      <a:solidFill>
                        <a:srgbClr val="1A1A2E"/>
                      </a:solidFill>
                      <a:latin typeface="Segoe UI"/>
                    </a:rPr>
                    <a:t>  </a:t>
                  </a:r>
                  <a:r>
                    <a:rPr sz="1400" b="0" i="0" dirty="0" err="1">
                      <a:solidFill>
                        <a:srgbClr val="1A1A2E"/>
                      </a:solidFill>
                      <a:latin typeface="Segoe UI"/>
                    </a:rPr>
                    <a:t>olist_sellers_dataset</a:t>
                  </a:r>
                  <a:endParaRPr sz="1400" b="0" i="0" dirty="0">
                    <a:solidFill>
                      <a:srgbClr val="1A1A2E"/>
                    </a:solidFill>
                    <a:latin typeface="Segoe UI"/>
                  </a:endParaRPr>
                </a:p>
              </p:txBody>
            </p:sp>
          </p:grpSp>
          <p:grpSp>
            <p:nvGrpSpPr>
              <p:cNvPr id="2" name="Group 1">
                <a:extLst>
                  <a:ext uri="{FF2B5EF4-FFF2-40B4-BE49-F238E27FC236}">
                    <a16:creationId xmlns:a16="http://schemas.microsoft.com/office/drawing/2014/main" id="{DAB6A548-791D-68B6-58C0-04787DAE8E4A}"/>
                  </a:ext>
                </a:extLst>
              </p:cNvPr>
              <p:cNvGrpSpPr/>
              <p:nvPr/>
            </p:nvGrpSpPr>
            <p:grpSpPr>
              <a:xfrm>
                <a:off x="3520440" y="1499616"/>
                <a:ext cx="1371600" cy="2612065"/>
                <a:chOff x="4663440" y="1463040"/>
                <a:chExt cx="1371600" cy="2612065"/>
              </a:xfrm>
            </p:grpSpPr>
            <p:sp>
              <p:nvSpPr>
                <p:cNvPr id="14" name="TextBox 13"/>
                <p:cNvSpPr txBox="1"/>
                <p:nvPr/>
              </p:nvSpPr>
              <p:spPr>
                <a:xfrm>
                  <a:off x="4663440" y="1463040"/>
                  <a:ext cx="137160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sz="1400" b="1" i="0" dirty="0">
                      <a:solidFill>
                        <a:srgbClr val="5B2D8E"/>
                      </a:solidFill>
                      <a:latin typeface="Segoe UI"/>
                    </a:rPr>
                    <a:t>99,441</a:t>
                  </a:r>
                </a:p>
              </p:txBody>
            </p:sp>
            <p:sp>
              <p:nvSpPr>
                <p:cNvPr id="18" name="TextBox 17"/>
                <p:cNvSpPr txBox="1"/>
                <p:nvPr/>
              </p:nvSpPr>
              <p:spPr>
                <a:xfrm>
                  <a:off x="4663440" y="1847088"/>
                  <a:ext cx="137160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sz="1400" b="1" i="0">
                      <a:solidFill>
                        <a:srgbClr val="5B2D8E"/>
                      </a:solidFill>
                      <a:latin typeface="Segoe UI"/>
                    </a:rPr>
                    <a:t>112,650</a:t>
                  </a:r>
                </a:p>
              </p:txBody>
            </p:sp>
            <p:sp>
              <p:nvSpPr>
                <p:cNvPr id="22" name="TextBox 21"/>
                <p:cNvSpPr txBox="1"/>
                <p:nvPr/>
              </p:nvSpPr>
              <p:spPr>
                <a:xfrm>
                  <a:off x="4663440" y="2231136"/>
                  <a:ext cx="137160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sz="1400" b="1" i="0">
                      <a:solidFill>
                        <a:srgbClr val="5B2D8E"/>
                      </a:solidFill>
                      <a:latin typeface="Segoe UI"/>
                    </a:rPr>
                    <a:t>103,886</a:t>
                  </a:r>
                </a:p>
              </p:txBody>
            </p:sp>
            <p:sp>
              <p:nvSpPr>
                <p:cNvPr id="26" name="TextBox 25"/>
                <p:cNvSpPr txBox="1"/>
                <p:nvPr/>
              </p:nvSpPr>
              <p:spPr>
                <a:xfrm>
                  <a:off x="4663440" y="2615184"/>
                  <a:ext cx="137160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sz="1400" b="1" i="0">
                      <a:solidFill>
                        <a:srgbClr val="5B2D8E"/>
                      </a:solidFill>
                      <a:latin typeface="Segoe UI"/>
                    </a:rPr>
                    <a:t>99,224</a:t>
                  </a:r>
                </a:p>
              </p:txBody>
            </p:sp>
            <p:sp>
              <p:nvSpPr>
                <p:cNvPr id="30" name="TextBox 29"/>
                <p:cNvSpPr txBox="1"/>
                <p:nvPr/>
              </p:nvSpPr>
              <p:spPr>
                <a:xfrm>
                  <a:off x="4663440" y="2999232"/>
                  <a:ext cx="137160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sz="1400" b="1" i="0">
                      <a:solidFill>
                        <a:srgbClr val="5B2D8E"/>
                      </a:solidFill>
                      <a:latin typeface="Segoe UI"/>
                    </a:rPr>
                    <a:t>99,441</a:t>
                  </a:r>
                </a:p>
              </p:txBody>
            </p:sp>
            <p:sp>
              <p:nvSpPr>
                <p:cNvPr id="34" name="TextBox 33"/>
                <p:cNvSpPr txBox="1"/>
                <p:nvPr/>
              </p:nvSpPr>
              <p:spPr>
                <a:xfrm>
                  <a:off x="4663440" y="3383280"/>
                  <a:ext cx="137160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sz="1400" b="1" i="0">
                      <a:solidFill>
                        <a:srgbClr val="5B2D8E"/>
                      </a:solidFill>
                      <a:latin typeface="Segoe UI"/>
                    </a:rPr>
                    <a:t>32,951</a:t>
                  </a:r>
                </a:p>
              </p:txBody>
            </p:sp>
            <p:sp>
              <p:nvSpPr>
                <p:cNvPr id="38" name="TextBox 37"/>
                <p:cNvSpPr txBox="1"/>
                <p:nvPr/>
              </p:nvSpPr>
              <p:spPr>
                <a:xfrm>
                  <a:off x="4663440" y="3767328"/>
                  <a:ext cx="137160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sz="1400" b="1" i="0">
                      <a:solidFill>
                        <a:srgbClr val="5B2D8E"/>
                      </a:solidFill>
                      <a:latin typeface="Segoe UI"/>
                    </a:rPr>
                    <a:t>3,095</a:t>
                  </a:r>
                </a:p>
              </p:txBody>
            </p:sp>
          </p:grpSp>
          <p:grpSp>
            <p:nvGrpSpPr>
              <p:cNvPr id="62" name="Group 61">
                <a:extLst>
                  <a:ext uri="{FF2B5EF4-FFF2-40B4-BE49-F238E27FC236}">
                    <a16:creationId xmlns:a16="http://schemas.microsoft.com/office/drawing/2014/main" id="{C6353B3A-88FC-FF05-EF39-CDB0FE2CABD9}"/>
                  </a:ext>
                </a:extLst>
              </p:cNvPr>
              <p:cNvGrpSpPr/>
              <p:nvPr/>
            </p:nvGrpSpPr>
            <p:grpSpPr>
              <a:xfrm>
                <a:off x="5431536" y="1499616"/>
                <a:ext cx="2432304" cy="2612065"/>
                <a:chOff x="6126480" y="1463040"/>
                <a:chExt cx="1737360" cy="2612065"/>
              </a:xfrm>
            </p:grpSpPr>
            <p:sp>
              <p:nvSpPr>
                <p:cNvPr id="15" name="TextBox 14"/>
                <p:cNvSpPr txBox="1"/>
                <p:nvPr/>
              </p:nvSpPr>
              <p:spPr>
                <a:xfrm>
                  <a:off x="6126480" y="1463040"/>
                  <a:ext cx="1737360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l"/>
                  <a:r>
                    <a:rPr sz="1400" b="0" i="1" dirty="0">
                      <a:solidFill>
                        <a:srgbClr val="1A1A2E"/>
                      </a:solidFill>
                      <a:latin typeface="Segoe UI"/>
                    </a:rPr>
                    <a:t>Order lifecycle timestamps</a:t>
                  </a:r>
                </a:p>
              </p:txBody>
            </p:sp>
            <p:sp>
              <p:nvSpPr>
                <p:cNvPr id="19" name="TextBox 18"/>
                <p:cNvSpPr txBox="1"/>
                <p:nvPr/>
              </p:nvSpPr>
              <p:spPr>
                <a:xfrm>
                  <a:off x="6126480" y="1847088"/>
                  <a:ext cx="1737360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l"/>
                  <a:r>
                    <a:rPr sz="1400" b="0" i="1">
                      <a:solidFill>
                        <a:srgbClr val="1A1A2E"/>
                      </a:solidFill>
                      <a:latin typeface="Segoe UI"/>
                    </a:rPr>
                    <a:t>Products, sellers, prices</a:t>
                  </a:r>
                </a:p>
              </p:txBody>
            </p:sp>
            <p:sp>
              <p:nvSpPr>
                <p:cNvPr id="23" name="TextBox 22"/>
                <p:cNvSpPr txBox="1"/>
                <p:nvPr/>
              </p:nvSpPr>
              <p:spPr>
                <a:xfrm>
                  <a:off x="6126480" y="2231136"/>
                  <a:ext cx="1737360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l"/>
                  <a:r>
                    <a:rPr sz="1400" b="0" i="1">
                      <a:solidFill>
                        <a:srgbClr val="1A1A2E"/>
                      </a:solidFill>
                      <a:latin typeface="Segoe UI"/>
                    </a:rPr>
                    <a:t>Payment type &amp; installments</a:t>
                  </a:r>
                </a:p>
              </p:txBody>
            </p:sp>
            <p:sp>
              <p:nvSpPr>
                <p:cNvPr id="27" name="TextBox 26"/>
                <p:cNvSpPr txBox="1"/>
                <p:nvPr/>
              </p:nvSpPr>
              <p:spPr>
                <a:xfrm>
                  <a:off x="6126480" y="2615184"/>
                  <a:ext cx="1737360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l"/>
                  <a:r>
                    <a:rPr sz="1400" b="0" i="1">
                      <a:solidFill>
                        <a:srgbClr val="1A1A2E"/>
                      </a:solidFill>
                      <a:latin typeface="Segoe UI"/>
                    </a:rPr>
                    <a:t>Customer review scores</a:t>
                  </a:r>
                </a:p>
              </p:txBody>
            </p:sp>
            <p:sp>
              <p:nvSpPr>
                <p:cNvPr id="31" name="TextBox 30"/>
                <p:cNvSpPr txBox="1"/>
                <p:nvPr/>
              </p:nvSpPr>
              <p:spPr>
                <a:xfrm>
                  <a:off x="6126480" y="2999232"/>
                  <a:ext cx="1737360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l"/>
                  <a:r>
                    <a:rPr sz="1400" b="0" i="1" dirty="0">
                      <a:solidFill>
                        <a:srgbClr val="1A1A2E"/>
                      </a:solidFill>
                      <a:latin typeface="Segoe UI"/>
                    </a:rPr>
                    <a:t>Customer state &amp; city</a:t>
                  </a:r>
                </a:p>
              </p:txBody>
            </p:sp>
            <p:sp>
              <p:nvSpPr>
                <p:cNvPr id="35" name="TextBox 34"/>
                <p:cNvSpPr txBox="1"/>
                <p:nvPr/>
              </p:nvSpPr>
              <p:spPr>
                <a:xfrm>
                  <a:off x="6126480" y="3383280"/>
                  <a:ext cx="1737360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l"/>
                  <a:r>
                    <a:rPr sz="1400" b="0" i="1">
                      <a:solidFill>
                        <a:srgbClr val="1A1A2E"/>
                      </a:solidFill>
                      <a:latin typeface="Segoe UI"/>
                    </a:rPr>
                    <a:t>Category, weight, volume</a:t>
                  </a:r>
                </a:p>
              </p:txBody>
            </p:sp>
            <p:sp>
              <p:nvSpPr>
                <p:cNvPr id="39" name="TextBox 38"/>
                <p:cNvSpPr txBox="1"/>
                <p:nvPr/>
              </p:nvSpPr>
              <p:spPr>
                <a:xfrm>
                  <a:off x="6126480" y="3767328"/>
                  <a:ext cx="173736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l"/>
                  <a:r>
                    <a:rPr sz="1400" b="0" i="1" dirty="0">
                      <a:solidFill>
                        <a:srgbClr val="1A1A2E"/>
                      </a:solidFill>
                      <a:latin typeface="Segoe UI"/>
                    </a:rPr>
                    <a:t>Seller state &amp; city</a:t>
                  </a:r>
                </a:p>
              </p:txBody>
            </p:sp>
          </p:grpSp>
        </p:grp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9561D74-F771-7230-8986-C30E1AE97C7D}"/>
              </a:ext>
            </a:extLst>
          </p:cNvPr>
          <p:cNvGrpSpPr/>
          <p:nvPr/>
        </p:nvGrpSpPr>
        <p:grpSpPr>
          <a:xfrm>
            <a:off x="8229600" y="1252728"/>
            <a:ext cx="3474720" cy="5111496"/>
            <a:chOff x="8229600" y="1097280"/>
            <a:chExt cx="3474720" cy="5111496"/>
          </a:xfrm>
        </p:grpSpPr>
        <p:sp>
          <p:nvSpPr>
            <p:cNvPr id="40" name="Rectangle 39"/>
            <p:cNvSpPr/>
            <p:nvPr/>
          </p:nvSpPr>
          <p:spPr>
            <a:xfrm>
              <a:off x="8229600" y="1097280"/>
              <a:ext cx="3474720" cy="511149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8229600" y="1097280"/>
              <a:ext cx="3474720" cy="457200"/>
            </a:xfrm>
            <a:prstGeom prst="rect">
              <a:avLst/>
            </a:prstGeom>
            <a:solidFill>
              <a:srgbClr val="5B2D8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8229600" y="1152696"/>
              <a:ext cx="347472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600" b="1" i="0" dirty="0">
                  <a:solidFill>
                    <a:srgbClr val="FFFFFF"/>
                  </a:solidFill>
                  <a:latin typeface="Segoe UI"/>
                </a:rPr>
                <a:t>Final Dataset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8321040" y="1691640"/>
              <a:ext cx="3291840" cy="4114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200" b="1" i="0">
                  <a:solidFill>
                    <a:srgbClr val="5B2D8E"/>
                  </a:solidFill>
                  <a:latin typeface="Segoe UI"/>
                </a:rPr>
                <a:t>96,470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8321040" y="2057400"/>
              <a:ext cx="3291840" cy="2743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100" b="0" i="0">
                  <a:solidFill>
                    <a:srgbClr val="1A1A2E"/>
                  </a:solidFill>
                  <a:latin typeface="Segoe UI"/>
                </a:rPr>
                <a:t>Delivered Orders</a:t>
              </a: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8595360" y="2377440"/>
              <a:ext cx="2743200" cy="12700"/>
            </a:xfrm>
            <a:prstGeom prst="rect">
              <a:avLst/>
            </a:prstGeom>
            <a:solidFill>
              <a:srgbClr val="E8D5F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8321040" y="2441448"/>
              <a:ext cx="3291840" cy="4114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200" b="1" i="0">
                  <a:solidFill>
                    <a:srgbClr val="5B2D8E"/>
                  </a:solidFill>
                  <a:latin typeface="Segoe UI"/>
                </a:rPr>
                <a:t>34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8321040" y="2807208"/>
              <a:ext cx="3291840" cy="2743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100" b="0" i="0">
                  <a:solidFill>
                    <a:srgbClr val="1A1A2E"/>
                  </a:solidFill>
                  <a:latin typeface="Segoe UI"/>
                </a:rPr>
                <a:t>Total Columns</a:t>
              </a: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8595360" y="3127248"/>
              <a:ext cx="2743200" cy="12700"/>
            </a:xfrm>
            <a:prstGeom prst="rect">
              <a:avLst/>
            </a:prstGeom>
            <a:solidFill>
              <a:srgbClr val="E8D5F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8321040" y="3191256"/>
              <a:ext cx="3291840" cy="4114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200" b="1" i="0">
                  <a:solidFill>
                    <a:srgbClr val="5B2D8E"/>
                  </a:solidFill>
                  <a:latin typeface="Segoe UI"/>
                </a:rPr>
                <a:t>17</a:t>
              </a: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8321040" y="3557016"/>
              <a:ext cx="3291840" cy="2743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100" b="0" i="0">
                  <a:solidFill>
                    <a:srgbClr val="1A1A2E"/>
                  </a:solidFill>
                  <a:latin typeface="Segoe UI"/>
                </a:rPr>
                <a:t>Engineered Features</a:t>
              </a: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8595360" y="3877056"/>
              <a:ext cx="2743200" cy="12700"/>
            </a:xfrm>
            <a:prstGeom prst="rect">
              <a:avLst/>
            </a:prstGeom>
            <a:solidFill>
              <a:srgbClr val="E8D5F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2" name="TextBox 51"/>
            <p:cNvSpPr txBox="1"/>
            <p:nvPr/>
          </p:nvSpPr>
          <p:spPr>
            <a:xfrm>
              <a:off x="8321040" y="3941064"/>
              <a:ext cx="3291840" cy="4114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200" b="1" i="0">
                  <a:solidFill>
                    <a:srgbClr val="5B2D8E"/>
                  </a:solidFill>
                  <a:latin typeface="Segoe UI"/>
                </a:rPr>
                <a:t>8.1%</a:t>
              </a:r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8321040" y="4306824"/>
              <a:ext cx="3291840" cy="2743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100" b="0" i="0">
                  <a:solidFill>
                    <a:srgbClr val="1A1A2E"/>
                  </a:solidFill>
                  <a:latin typeface="Segoe UI"/>
                </a:rPr>
                <a:t>Class Imbalance (Late)</a:t>
              </a:r>
            </a:p>
          </p:txBody>
        </p:sp>
        <p:sp>
          <p:nvSpPr>
            <p:cNvPr id="54" name="Rectangle 53"/>
            <p:cNvSpPr/>
            <p:nvPr/>
          </p:nvSpPr>
          <p:spPr>
            <a:xfrm>
              <a:off x="8595360" y="4626864"/>
              <a:ext cx="2743200" cy="12700"/>
            </a:xfrm>
            <a:prstGeom prst="rect">
              <a:avLst/>
            </a:prstGeom>
            <a:solidFill>
              <a:srgbClr val="E8D5F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8321040" y="4690872"/>
              <a:ext cx="3291840" cy="4114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200" b="1" i="0">
                  <a:solidFill>
                    <a:srgbClr val="5B2D8E"/>
                  </a:solidFill>
                  <a:latin typeface="Segoe UI"/>
                </a:rPr>
                <a:t>12.1</a:t>
              </a:r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8321040" y="5056632"/>
              <a:ext cx="3291840" cy="2743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100" b="0" i="0">
                  <a:solidFill>
                    <a:srgbClr val="1A1A2E"/>
                  </a:solidFill>
                  <a:latin typeface="Segoe UI"/>
                </a:rPr>
                <a:t>Mean Delivery Days</a:t>
              </a:r>
            </a:p>
          </p:txBody>
        </p:sp>
        <p:sp>
          <p:nvSpPr>
            <p:cNvPr id="57" name="Rectangle 56"/>
            <p:cNvSpPr/>
            <p:nvPr/>
          </p:nvSpPr>
          <p:spPr>
            <a:xfrm>
              <a:off x="8595360" y="5376672"/>
              <a:ext cx="2743200" cy="12700"/>
            </a:xfrm>
            <a:prstGeom prst="rect">
              <a:avLst/>
            </a:prstGeom>
            <a:solidFill>
              <a:srgbClr val="E8D5F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8321040" y="5440679"/>
              <a:ext cx="3291840" cy="4114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200" b="1" i="0">
                  <a:solidFill>
                    <a:srgbClr val="5B2D8E"/>
                  </a:solidFill>
                  <a:latin typeface="Segoe UI"/>
                </a:rPr>
                <a:t>7</a:t>
              </a:r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8321040" y="5806439"/>
              <a:ext cx="3291840" cy="2743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100" b="0" i="0" dirty="0">
                  <a:solidFill>
                    <a:srgbClr val="1A1A2E"/>
                  </a:solidFill>
                  <a:latin typeface="Segoe UI"/>
                </a:rPr>
                <a:t>Data Sources Merged</a:t>
              </a:r>
            </a:p>
          </p:txBody>
        </p:sp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CD03C6EF-FE02-5DF6-35ED-E7A4B461F661}"/>
              </a:ext>
            </a:extLst>
          </p:cNvPr>
          <p:cNvSpPr txBox="1"/>
          <p:nvPr/>
        </p:nvSpPr>
        <p:spPr>
          <a:xfrm>
            <a:off x="158749" y="1105301"/>
            <a:ext cx="7912100" cy="2126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04521" lvl="1" indent="-302261" algn="l">
              <a:lnSpc>
                <a:spcPct val="150000"/>
              </a:lnSpc>
              <a:buFont typeface="Arial"/>
              <a:buChar char="•"/>
            </a:pPr>
            <a:r>
              <a:rPr lang="en-US" sz="1800" b="1" dirty="0">
                <a:solidFill>
                  <a:srgbClr val="000000"/>
                </a:solidFill>
                <a:latin typeface="Comic Sans"/>
                <a:ea typeface="Comic Sans"/>
                <a:cs typeface="Comic Sans"/>
                <a:sym typeface="Comic Sans"/>
              </a:rPr>
              <a:t>Source:</a:t>
            </a:r>
            <a:r>
              <a:rPr lang="en-US" sz="1800" dirty="0">
                <a:solidFill>
                  <a:srgbClr val="000000"/>
                </a:solidFill>
                <a:latin typeface="Comic Sans"/>
                <a:ea typeface="Comic Sans"/>
                <a:cs typeface="Comic Sans"/>
                <a:sym typeface="Comic Sans"/>
              </a:rPr>
              <a:t> Kaggle –   Brazilian E-Commerce Public Dataset by Olist </a:t>
            </a:r>
          </a:p>
          <a:p>
            <a:pPr marL="604521" lvl="1" indent="-302261">
              <a:lnSpc>
                <a:spcPct val="150000"/>
              </a:lnSpc>
              <a:buFont typeface="Arial"/>
              <a:buChar char="•"/>
            </a:pPr>
            <a:r>
              <a:rPr lang="en-US" b="1" dirty="0">
                <a:solidFill>
                  <a:srgbClr val="000000"/>
                </a:solidFill>
                <a:latin typeface="Comic Sans"/>
                <a:ea typeface="Comic Sans"/>
                <a:cs typeface="Comic Sans"/>
                <a:sym typeface="Comic Sans"/>
              </a:rPr>
              <a:t>7</a:t>
            </a:r>
            <a:r>
              <a:rPr lang="en-US" dirty="0">
                <a:solidFill>
                  <a:srgbClr val="000000"/>
                </a:solidFill>
                <a:latin typeface="Comic Sans"/>
                <a:ea typeface="Comic Sans"/>
                <a:cs typeface="Comic Sans"/>
                <a:sym typeface="Comic Sans"/>
              </a:rPr>
              <a:t> data sources merged using Order ID  </a:t>
            </a:r>
          </a:p>
          <a:p>
            <a:pPr marL="604521" lvl="1" indent="-302261">
              <a:lnSpc>
                <a:spcPct val="150000"/>
              </a:lnSpc>
              <a:buFont typeface="Arial"/>
              <a:buChar char="•"/>
            </a:pPr>
            <a:r>
              <a:rPr lang="en-US" b="1" dirty="0">
                <a:solidFill>
                  <a:srgbClr val="000000"/>
                </a:solidFill>
                <a:latin typeface="Comic Sans"/>
                <a:ea typeface="Comic Sans"/>
                <a:cs typeface="Comic Sans"/>
                <a:sym typeface="Comic Sans"/>
              </a:rPr>
              <a:t>Final dataset: </a:t>
            </a:r>
            <a:r>
              <a:rPr lang="en-US" dirty="0">
                <a:solidFill>
                  <a:srgbClr val="000000"/>
                </a:solidFill>
                <a:latin typeface="Comic Sans"/>
                <a:ea typeface="Comic Sans"/>
                <a:cs typeface="Comic Sans"/>
                <a:sym typeface="Comic Sans"/>
              </a:rPr>
              <a:t>96,470 records with 34 columns </a:t>
            </a:r>
            <a:endParaRPr lang="en-US" sz="1800" dirty="0">
              <a:solidFill>
                <a:srgbClr val="000000"/>
              </a:solidFill>
              <a:latin typeface="Comic Sans"/>
              <a:ea typeface="Comic Sans"/>
              <a:cs typeface="Comic Sans"/>
              <a:sym typeface="Comic Sans"/>
            </a:endParaRPr>
          </a:p>
          <a:p>
            <a:pPr marL="604521" lvl="1" indent="-302261" algn="l">
              <a:lnSpc>
                <a:spcPct val="150000"/>
              </a:lnSpc>
              <a:buFont typeface="Arial"/>
              <a:buChar char="•"/>
            </a:pPr>
            <a:r>
              <a:rPr lang="en-US" sz="1800" b="1" dirty="0">
                <a:solidFill>
                  <a:srgbClr val="000000"/>
                </a:solidFill>
                <a:latin typeface="Comic Sans"/>
                <a:ea typeface="Comic Sans"/>
                <a:cs typeface="Comic Sans"/>
                <a:sym typeface="Comic Sans"/>
              </a:rPr>
              <a:t>Target variable: </a:t>
            </a:r>
            <a:r>
              <a:rPr lang="en-US" sz="1800" dirty="0">
                <a:solidFill>
                  <a:srgbClr val="000000"/>
                </a:solidFill>
                <a:latin typeface="Comic Sans"/>
                <a:ea typeface="Comic Sans"/>
                <a:cs typeface="Comic Sans"/>
                <a:sym typeface="Comic Sans"/>
              </a:rPr>
              <a:t>is_late  (</a:t>
            </a:r>
            <a:r>
              <a:rPr lang="en-US" sz="1800" b="1" dirty="0">
                <a:solidFill>
                  <a:srgbClr val="000000"/>
                </a:solidFill>
                <a:latin typeface="Comic Sans"/>
                <a:ea typeface="Comic Sans"/>
                <a:cs typeface="Comic Sans"/>
                <a:sym typeface="Comic Sans"/>
              </a:rPr>
              <a:t>0</a:t>
            </a:r>
            <a:r>
              <a:rPr lang="en-US" sz="1800" dirty="0">
                <a:solidFill>
                  <a:srgbClr val="000000"/>
                </a:solidFill>
                <a:latin typeface="Comic Sans"/>
                <a:ea typeface="Comic Sans"/>
                <a:cs typeface="Comic Sans"/>
                <a:sym typeface="Comic Sans"/>
              </a:rPr>
              <a:t> = On-Time | </a:t>
            </a:r>
            <a:r>
              <a:rPr lang="en-US" sz="1800" b="1" dirty="0">
                <a:solidFill>
                  <a:srgbClr val="000000"/>
                </a:solidFill>
                <a:latin typeface="Comic Sans"/>
                <a:ea typeface="Comic Sans"/>
                <a:cs typeface="Comic Sans"/>
                <a:sym typeface="Comic Sans"/>
              </a:rPr>
              <a:t>1</a:t>
            </a:r>
            <a:r>
              <a:rPr lang="en-US" sz="1800" dirty="0">
                <a:solidFill>
                  <a:srgbClr val="000000"/>
                </a:solidFill>
                <a:latin typeface="Comic Sans"/>
                <a:ea typeface="Comic Sans"/>
                <a:cs typeface="Comic Sans"/>
                <a:sym typeface="Comic Sans"/>
              </a:rPr>
              <a:t> = Late)</a:t>
            </a:r>
          </a:p>
          <a:p>
            <a:pPr marL="604521" lvl="1" indent="-302261" algn="l">
              <a:lnSpc>
                <a:spcPct val="150000"/>
              </a:lnSpc>
              <a:buFont typeface="Arial"/>
              <a:buChar char="•"/>
            </a:pPr>
            <a:endParaRPr lang="en-US" sz="1800" dirty="0">
              <a:solidFill>
                <a:srgbClr val="000000"/>
              </a:solidFill>
              <a:latin typeface="Comic Sans"/>
              <a:ea typeface="Comic Sans"/>
              <a:cs typeface="Comic Sans"/>
              <a:sym typeface="Comic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1247120" y="6492240"/>
            <a:ext cx="9144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 dirty="0">
                <a:solidFill>
                  <a:srgbClr val="9B59B6"/>
                </a:solidFill>
                <a:latin typeface="Segoe UI"/>
              </a:rPr>
              <a:t>5 / 1</a:t>
            </a:r>
            <a:r>
              <a:rPr lang="en-US" sz="900" b="0" i="0" dirty="0">
                <a:solidFill>
                  <a:srgbClr val="9B59B6"/>
                </a:solidFill>
                <a:latin typeface="Segoe UI"/>
              </a:rPr>
              <a:t>7</a:t>
            </a:r>
            <a:endParaRPr sz="900" b="0" i="0" dirty="0">
              <a:solidFill>
                <a:srgbClr val="9B59B6"/>
              </a:solidFill>
              <a:latin typeface="Segoe UI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82880"/>
            <a:ext cx="2011680" cy="32004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20116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Segoe UI"/>
              </a:rPr>
              <a:t>03  EDA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82696" y="274320"/>
            <a:ext cx="762609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  <a:latin typeface="Segoe UI"/>
              </a:rPr>
              <a:t>EDA — Delivery Time &amp; Class Distribution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1480" y="5909370"/>
            <a:ext cx="11247120" cy="7851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600" dirty="0">
                <a:latin typeface="Segoe UI"/>
              </a:rPr>
              <a:t>Right-skewed delivery distribution (mean &gt; median) reveals outlier orders. 91.9% on-time vs 8.1% late — severe class imbalance justifies ROC-AUC as primary metric.</a:t>
            </a:r>
            <a:endParaRPr sz="1600" b="1" i="0" dirty="0">
              <a:latin typeface="Segoe UI"/>
            </a:endParaRPr>
          </a:p>
        </p:txBody>
      </p:sp>
      <p:pic>
        <p:nvPicPr>
          <p:cNvPr id="2" name="Picture 1" descr="01_delivery_days_distribution.png">
            <a:extLst>
              <a:ext uri="{FF2B5EF4-FFF2-40B4-BE49-F238E27FC236}">
                <a16:creationId xmlns:a16="http://schemas.microsoft.com/office/drawing/2014/main" id="{EA2D9DD3-3D29-7AD9-354E-FEF6DDBD4F0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43"/>
          <a:stretch>
            <a:fillRect/>
          </a:stretch>
        </p:blipFill>
        <p:spPr>
          <a:xfrm>
            <a:off x="27305" y="1097280"/>
            <a:ext cx="5615846" cy="3474720"/>
          </a:xfrm>
          <a:prstGeom prst="rect">
            <a:avLst/>
          </a:prstGeom>
        </p:spPr>
      </p:pic>
      <p:pic>
        <p:nvPicPr>
          <p:cNvPr id="58" name="Picture 57" descr="02_target_variable_distribution.png">
            <a:extLst>
              <a:ext uri="{FF2B5EF4-FFF2-40B4-BE49-F238E27FC236}">
                <a16:creationId xmlns:a16="http://schemas.microsoft.com/office/drawing/2014/main" id="{42BF632A-A79F-A4D5-E30D-28BAF1D2369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635"/>
          <a:stretch>
            <a:fillRect/>
          </a:stretch>
        </p:blipFill>
        <p:spPr>
          <a:xfrm>
            <a:off x="5694561" y="1576856"/>
            <a:ext cx="6466959" cy="2537944"/>
          </a:xfrm>
          <a:prstGeom prst="rect">
            <a:avLst/>
          </a:prstGeom>
        </p:spPr>
      </p:pic>
      <p:grpSp>
        <p:nvGrpSpPr>
          <p:cNvPr id="59" name="Group 58">
            <a:extLst>
              <a:ext uri="{FF2B5EF4-FFF2-40B4-BE49-F238E27FC236}">
                <a16:creationId xmlns:a16="http://schemas.microsoft.com/office/drawing/2014/main" id="{9EDDFE0E-E329-E326-CE55-8C42008F88A7}"/>
              </a:ext>
            </a:extLst>
          </p:cNvPr>
          <p:cNvGrpSpPr/>
          <p:nvPr/>
        </p:nvGrpSpPr>
        <p:grpSpPr>
          <a:xfrm>
            <a:off x="365760" y="4800600"/>
            <a:ext cx="11155680" cy="960120"/>
            <a:chOff x="365760" y="4800600"/>
            <a:chExt cx="11155680" cy="960120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417EFD32-AFDA-A3A9-8E3C-486F14185304}"/>
                </a:ext>
              </a:extLst>
            </p:cNvPr>
            <p:cNvSpPr/>
            <p:nvPr/>
          </p:nvSpPr>
          <p:spPr>
            <a:xfrm>
              <a:off x="365760" y="4800600"/>
              <a:ext cx="2651760" cy="96012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D14F5976-BD29-2F45-AE87-957331DC143E}"/>
                </a:ext>
              </a:extLst>
            </p:cNvPr>
            <p:cNvSpPr txBox="1"/>
            <p:nvPr/>
          </p:nvSpPr>
          <p:spPr>
            <a:xfrm>
              <a:off x="365760" y="4846320"/>
              <a:ext cx="2651760" cy="5029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000" b="1" i="0" dirty="0">
                  <a:solidFill>
                    <a:srgbClr val="5B2D8E"/>
                  </a:solidFill>
                  <a:latin typeface="Segoe UI"/>
                </a:rPr>
                <a:t>12.1 days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CD3987D4-16D7-8127-093E-34E5E29A544E}"/>
                </a:ext>
              </a:extLst>
            </p:cNvPr>
            <p:cNvSpPr txBox="1"/>
            <p:nvPr/>
          </p:nvSpPr>
          <p:spPr>
            <a:xfrm>
              <a:off x="365760" y="5303520"/>
              <a:ext cx="265176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000" b="0" i="0" dirty="0">
                  <a:solidFill>
                    <a:srgbClr val="1A1A2E"/>
                  </a:solidFill>
                  <a:latin typeface="Segoe UI"/>
                </a:rPr>
                <a:t>Mean Delivery Time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AEBD3467-DE01-DB63-11E9-47065E9B1CAA}"/>
                </a:ext>
              </a:extLst>
            </p:cNvPr>
            <p:cNvSpPr/>
            <p:nvPr/>
          </p:nvSpPr>
          <p:spPr>
            <a:xfrm>
              <a:off x="3200400" y="4800600"/>
              <a:ext cx="2651760" cy="96012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67B35183-83A4-28FC-B566-4545952D9776}"/>
                </a:ext>
              </a:extLst>
            </p:cNvPr>
            <p:cNvSpPr txBox="1"/>
            <p:nvPr/>
          </p:nvSpPr>
          <p:spPr>
            <a:xfrm>
              <a:off x="3200400" y="4846320"/>
              <a:ext cx="2651760" cy="5029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000" b="1" i="0">
                  <a:solidFill>
                    <a:srgbClr val="5B2D8E"/>
                  </a:solidFill>
                  <a:latin typeface="Segoe UI"/>
                </a:rPr>
                <a:t>10 days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56362448-E727-1053-31EB-539611DFCF38}"/>
                </a:ext>
              </a:extLst>
            </p:cNvPr>
            <p:cNvSpPr txBox="1"/>
            <p:nvPr/>
          </p:nvSpPr>
          <p:spPr>
            <a:xfrm>
              <a:off x="3200400" y="5303520"/>
              <a:ext cx="265176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000" b="0" i="0">
                  <a:solidFill>
                    <a:srgbClr val="1A1A2E"/>
                  </a:solidFill>
                  <a:latin typeface="Segoe UI"/>
                </a:rPr>
                <a:t>Median Delivery Time</a:t>
              </a:r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DA456429-4A03-646F-FB7D-63F9244569D4}"/>
                </a:ext>
              </a:extLst>
            </p:cNvPr>
            <p:cNvSpPr/>
            <p:nvPr/>
          </p:nvSpPr>
          <p:spPr>
            <a:xfrm>
              <a:off x="6035040" y="4800600"/>
              <a:ext cx="2651760" cy="96012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7655E453-F38B-6C0B-C1D0-47D24701118B}"/>
                </a:ext>
              </a:extLst>
            </p:cNvPr>
            <p:cNvSpPr txBox="1"/>
            <p:nvPr/>
          </p:nvSpPr>
          <p:spPr>
            <a:xfrm>
              <a:off x="6035040" y="4846320"/>
              <a:ext cx="2651760" cy="5029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000" b="1" i="0">
                  <a:solidFill>
                    <a:srgbClr val="5B2D8E"/>
                  </a:solidFill>
                  <a:latin typeface="Segoe UI"/>
                </a:rPr>
                <a:t>8.1%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9352906C-57E1-14DF-F11A-0D8FE246C632}"/>
                </a:ext>
              </a:extLst>
            </p:cNvPr>
            <p:cNvSpPr txBox="1"/>
            <p:nvPr/>
          </p:nvSpPr>
          <p:spPr>
            <a:xfrm>
              <a:off x="6035040" y="5303520"/>
              <a:ext cx="265176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000" b="0" i="0">
                  <a:solidFill>
                    <a:srgbClr val="1A1A2E"/>
                  </a:solidFill>
                  <a:latin typeface="Segoe UI"/>
                </a:rPr>
                <a:t>Late Order Rate</a:t>
              </a: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52BEBED6-8756-0D17-8F49-880D957A2EA3}"/>
                </a:ext>
              </a:extLst>
            </p:cNvPr>
            <p:cNvSpPr/>
            <p:nvPr/>
          </p:nvSpPr>
          <p:spPr>
            <a:xfrm>
              <a:off x="8869680" y="4800600"/>
              <a:ext cx="2651760" cy="96012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6B9E7A73-2460-A465-5DAD-45CB7609981F}"/>
                </a:ext>
              </a:extLst>
            </p:cNvPr>
            <p:cNvSpPr txBox="1"/>
            <p:nvPr/>
          </p:nvSpPr>
          <p:spPr>
            <a:xfrm>
              <a:off x="8869680" y="4846320"/>
              <a:ext cx="2651760" cy="5029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000" b="1" i="0">
                  <a:solidFill>
                    <a:srgbClr val="5B2D8E"/>
                  </a:solidFill>
                  <a:latin typeface="Segoe UI"/>
                </a:rPr>
                <a:t>11.3:1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7D9FCEC4-95F8-5765-EF51-1C41BEF64D71}"/>
                </a:ext>
              </a:extLst>
            </p:cNvPr>
            <p:cNvSpPr txBox="1"/>
            <p:nvPr/>
          </p:nvSpPr>
          <p:spPr>
            <a:xfrm>
              <a:off x="8869680" y="5303520"/>
              <a:ext cx="265176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000" b="0" i="0">
                  <a:solidFill>
                    <a:srgbClr val="1A1A2E"/>
                  </a:solidFill>
                  <a:latin typeface="Segoe UI"/>
                </a:rPr>
                <a:t>Class Imbalance Ratio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BF964D-287C-FDD4-5CC9-8842976A99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2010D85-4186-BBDD-09FB-C8B570EDE98C}"/>
              </a:ext>
            </a:extLst>
          </p:cNvPr>
          <p:cNvSpPr txBox="1"/>
          <p:nvPr/>
        </p:nvSpPr>
        <p:spPr>
          <a:xfrm>
            <a:off x="11247120" y="6492240"/>
            <a:ext cx="9144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 dirty="0">
                <a:solidFill>
                  <a:srgbClr val="9B59B6"/>
                </a:solidFill>
                <a:latin typeface="Segoe UI"/>
              </a:rPr>
              <a:t>7 / 1</a:t>
            </a:r>
            <a:r>
              <a:rPr lang="en-US" sz="900" b="0" i="0" dirty="0">
                <a:solidFill>
                  <a:srgbClr val="9B59B6"/>
                </a:solidFill>
                <a:latin typeface="Segoe UI"/>
              </a:rPr>
              <a:t>7</a:t>
            </a:r>
            <a:endParaRPr sz="900" b="0" i="0" dirty="0">
              <a:solidFill>
                <a:srgbClr val="9B59B6"/>
              </a:solidFill>
              <a:latin typeface="Segoe UI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06391E7-F7AE-0173-FEFC-1EBBF6B15C21}"/>
              </a:ext>
            </a:extLst>
          </p:cNvPr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FB55A8B-CCF0-E5A4-0ADE-1B556F434F82}"/>
              </a:ext>
            </a:extLst>
          </p:cNvPr>
          <p:cNvSpPr/>
          <p:nvPr/>
        </p:nvSpPr>
        <p:spPr>
          <a:xfrm>
            <a:off x="457200" y="182880"/>
            <a:ext cx="2011680" cy="32004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1DBEFCC-852C-0221-24FA-5CDE3A439F95}"/>
              </a:ext>
            </a:extLst>
          </p:cNvPr>
          <p:cNvSpPr txBox="1"/>
          <p:nvPr/>
        </p:nvSpPr>
        <p:spPr>
          <a:xfrm>
            <a:off x="457200" y="1828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03  EDA CONTINUED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401EAB-3C3F-045E-EA5C-E5E6224CB1F7}"/>
              </a:ext>
            </a:extLst>
          </p:cNvPr>
          <p:cNvSpPr txBox="1"/>
          <p:nvPr/>
        </p:nvSpPr>
        <p:spPr>
          <a:xfrm>
            <a:off x="2688336" y="256032"/>
            <a:ext cx="854898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  <a:latin typeface="Segoe UI"/>
              </a:rPr>
              <a:t>EDA — Monthly Trends &amp; Feature Correlations</a:t>
            </a:r>
          </a:p>
        </p:txBody>
      </p:sp>
      <p:pic>
        <p:nvPicPr>
          <p:cNvPr id="9" name="Picture 8" descr="05_monthly_volume_vs_late_rate.png">
            <a:extLst>
              <a:ext uri="{FF2B5EF4-FFF2-40B4-BE49-F238E27FC236}">
                <a16:creationId xmlns:a16="http://schemas.microsoft.com/office/drawing/2014/main" id="{238256C6-30BA-9E77-96E8-EB7724CE78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97280"/>
            <a:ext cx="6858000" cy="3200400"/>
          </a:xfrm>
          <a:prstGeom prst="rect">
            <a:avLst/>
          </a:prstGeom>
        </p:spPr>
      </p:pic>
      <p:pic>
        <p:nvPicPr>
          <p:cNvPr id="10" name="Picture 9" descr="07_correlation_heatmap.png">
            <a:extLst>
              <a:ext uri="{FF2B5EF4-FFF2-40B4-BE49-F238E27FC236}">
                <a16:creationId xmlns:a16="http://schemas.microsoft.com/office/drawing/2014/main" id="{77F10C61-E867-06FE-571D-D8962D2BDD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79" y="1097280"/>
            <a:ext cx="4297680" cy="5029200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3EFD34CE-713A-29DC-BFB9-A684DCD8C5FE}"/>
              </a:ext>
            </a:extLst>
          </p:cNvPr>
          <p:cNvGrpSpPr/>
          <p:nvPr/>
        </p:nvGrpSpPr>
        <p:grpSpPr>
          <a:xfrm>
            <a:off x="365760" y="4480560"/>
            <a:ext cx="6492240" cy="868680"/>
            <a:chOff x="365760" y="4480560"/>
            <a:chExt cx="6492240" cy="86868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E1074AA-A4B2-12DB-A40B-3D17FC8DEBFD}"/>
                </a:ext>
              </a:extLst>
            </p:cNvPr>
            <p:cNvSpPr/>
            <p:nvPr/>
          </p:nvSpPr>
          <p:spPr>
            <a:xfrm>
              <a:off x="365760" y="4480560"/>
              <a:ext cx="2011680" cy="8686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2A83967-86A7-746E-D491-31D06348886F}"/>
                </a:ext>
              </a:extLst>
            </p:cNvPr>
            <p:cNvSpPr txBox="1"/>
            <p:nvPr/>
          </p:nvSpPr>
          <p:spPr>
            <a:xfrm>
              <a:off x="365760" y="4507992"/>
              <a:ext cx="2011680" cy="4114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800" b="1" i="0">
                  <a:solidFill>
                    <a:srgbClr val="5B2D8E"/>
                  </a:solidFill>
                  <a:latin typeface="Segoe UI"/>
                </a:rPr>
                <a:t>21.4%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9F11ED3-F698-288A-DB4B-9781D5AD3311}"/>
                </a:ext>
              </a:extLst>
            </p:cNvPr>
            <p:cNvSpPr txBox="1"/>
            <p:nvPr/>
          </p:nvSpPr>
          <p:spPr>
            <a:xfrm>
              <a:off x="365760" y="4892040"/>
              <a:ext cx="2011680" cy="4114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900" b="0" i="1">
                  <a:solidFill>
                    <a:srgbClr val="1A1A2E"/>
                  </a:solidFill>
                  <a:latin typeface="Segoe UI"/>
                </a:rPr>
                <a:t>Peak monthly
late rate (Mar 2018)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FF30FD00-F40C-D648-E84E-0B230AD9C13C}"/>
                </a:ext>
              </a:extLst>
            </p:cNvPr>
            <p:cNvSpPr/>
            <p:nvPr/>
          </p:nvSpPr>
          <p:spPr>
            <a:xfrm>
              <a:off x="2606040" y="4480560"/>
              <a:ext cx="2011680" cy="8686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BCFAF92-F66A-D004-6D38-719A4E60925B}"/>
                </a:ext>
              </a:extLst>
            </p:cNvPr>
            <p:cNvSpPr txBox="1"/>
            <p:nvPr/>
          </p:nvSpPr>
          <p:spPr>
            <a:xfrm>
              <a:off x="2606040" y="4507992"/>
              <a:ext cx="2011680" cy="4114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800" b="1" i="0">
                  <a:solidFill>
                    <a:srgbClr val="5B2D8E"/>
                  </a:solidFill>
                  <a:latin typeface="Segoe UI"/>
                </a:rPr>
                <a:t>5%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A0E1510-C95E-35A7-B30F-E13B90CFB201}"/>
                </a:ext>
              </a:extLst>
            </p:cNvPr>
            <p:cNvSpPr txBox="1"/>
            <p:nvPr/>
          </p:nvSpPr>
          <p:spPr>
            <a:xfrm>
              <a:off x="2606040" y="4892040"/>
              <a:ext cx="2011680" cy="4114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900" b="0" i="1">
                  <a:solidFill>
                    <a:srgbClr val="1A1A2E"/>
                  </a:solidFill>
                  <a:latin typeface="Segoe UI"/>
                </a:rPr>
                <a:t>Lowest monthly
late rate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52643A94-E156-AF5D-38B7-653665FCBBDB}"/>
                </a:ext>
              </a:extLst>
            </p:cNvPr>
            <p:cNvSpPr/>
            <p:nvPr/>
          </p:nvSpPr>
          <p:spPr>
            <a:xfrm>
              <a:off x="4846320" y="4480560"/>
              <a:ext cx="2011680" cy="8686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2757E48-1FBC-DFFA-86C0-F9A217959A4B}"/>
                </a:ext>
              </a:extLst>
            </p:cNvPr>
            <p:cNvSpPr txBox="1"/>
            <p:nvPr/>
          </p:nvSpPr>
          <p:spPr>
            <a:xfrm>
              <a:off x="4846320" y="4507992"/>
              <a:ext cx="2011680" cy="4114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800" b="1" i="0">
                  <a:solidFill>
                    <a:srgbClr val="5B2D8E"/>
                  </a:solidFill>
                  <a:latin typeface="Segoe UI"/>
                </a:rPr>
                <a:t>Weak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F862B8C-FF32-6E3A-A7B1-AE7CF03083C4}"/>
                </a:ext>
              </a:extLst>
            </p:cNvPr>
            <p:cNvSpPr txBox="1"/>
            <p:nvPr/>
          </p:nvSpPr>
          <p:spPr>
            <a:xfrm>
              <a:off x="4846320" y="4892040"/>
              <a:ext cx="2011680" cy="4114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900" b="0" i="1">
                  <a:solidFill>
                    <a:srgbClr val="1A1A2E"/>
                  </a:solidFill>
                  <a:latin typeface="Segoe UI"/>
                </a:rPr>
                <a:t>Linear correlations
with target</a:t>
              </a:r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C05CCD76-C324-AED2-E06D-AEC9A9852A2E}"/>
              </a:ext>
            </a:extLst>
          </p:cNvPr>
          <p:cNvSpPr txBox="1"/>
          <p:nvPr/>
        </p:nvSpPr>
        <p:spPr>
          <a:xfrm>
            <a:off x="365760" y="5989320"/>
            <a:ext cx="11430000" cy="7851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 dirty="0">
                <a:latin typeface="Segoe UI"/>
              </a:rPr>
              <a:t>Demand surges in peak months overwhelm carrier networks. Weak linear correlations confirm tree-based models will outperform linear regression.</a:t>
            </a:r>
          </a:p>
        </p:txBody>
      </p:sp>
    </p:spTree>
    <p:extLst>
      <p:ext uri="{BB962C8B-B14F-4D97-AF65-F5344CB8AC3E}">
        <p14:creationId xmlns:p14="http://schemas.microsoft.com/office/powerpoint/2010/main" val="37675777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BC105-E55C-551D-B6A0-10FD4E6B83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865594F-9395-58D0-89DA-96E292ED663A}"/>
              </a:ext>
            </a:extLst>
          </p:cNvPr>
          <p:cNvSpPr txBox="1"/>
          <p:nvPr/>
        </p:nvSpPr>
        <p:spPr>
          <a:xfrm>
            <a:off x="11247120" y="6492240"/>
            <a:ext cx="9144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 dirty="0">
                <a:solidFill>
                  <a:srgbClr val="9B59B6"/>
                </a:solidFill>
                <a:latin typeface="Segoe UI"/>
              </a:rPr>
              <a:t>7 / 1</a:t>
            </a:r>
            <a:r>
              <a:rPr lang="en-US" sz="900" b="0" i="0" dirty="0">
                <a:solidFill>
                  <a:srgbClr val="9B59B6"/>
                </a:solidFill>
                <a:latin typeface="Segoe UI"/>
              </a:rPr>
              <a:t>7</a:t>
            </a:r>
            <a:endParaRPr sz="900" b="0" i="0" dirty="0">
              <a:solidFill>
                <a:srgbClr val="9B59B6"/>
              </a:solidFill>
              <a:latin typeface="Segoe UI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9AEE9E0-AA32-7672-F4BC-32AA9F06985E}"/>
              </a:ext>
            </a:extLst>
          </p:cNvPr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B6803A9-A44B-8FEB-D5A3-64082A91D650}"/>
              </a:ext>
            </a:extLst>
          </p:cNvPr>
          <p:cNvSpPr/>
          <p:nvPr/>
        </p:nvSpPr>
        <p:spPr>
          <a:xfrm>
            <a:off x="457200" y="182880"/>
            <a:ext cx="2011680" cy="32004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E781EB-71C1-375B-A442-8136180F3E54}"/>
              </a:ext>
            </a:extLst>
          </p:cNvPr>
          <p:cNvSpPr txBox="1"/>
          <p:nvPr/>
        </p:nvSpPr>
        <p:spPr>
          <a:xfrm>
            <a:off x="457200" y="1828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03  EDA CONTINUED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D6BC5B-7606-DF25-5C54-572B25D2D9CC}"/>
              </a:ext>
            </a:extLst>
          </p:cNvPr>
          <p:cNvSpPr txBox="1"/>
          <p:nvPr/>
        </p:nvSpPr>
        <p:spPr>
          <a:xfrm>
            <a:off x="2688771" y="320040"/>
            <a:ext cx="950018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FFFFFF"/>
                </a:solidFill>
                <a:latin typeface="Segoe UI"/>
              </a:rPr>
              <a:t>EDA — The Business Cost of Late Deliveries</a:t>
            </a:r>
          </a:p>
        </p:txBody>
      </p:sp>
      <p:pic>
        <p:nvPicPr>
          <p:cNvPr id="8" name="Picture 7" descr="06_review_score_comparison.png">
            <a:extLst>
              <a:ext uri="{FF2B5EF4-FFF2-40B4-BE49-F238E27FC236}">
                <a16:creationId xmlns:a16="http://schemas.microsoft.com/office/drawing/2014/main" id="{A61AAE2A-ACD7-3067-2ED3-C6A2EDF594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97280"/>
            <a:ext cx="11430000" cy="466344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730274E-D74B-41E9-204B-56CE89C23C41}"/>
              </a:ext>
            </a:extLst>
          </p:cNvPr>
          <p:cNvSpPr txBox="1"/>
          <p:nvPr/>
        </p:nvSpPr>
        <p:spPr>
          <a:xfrm>
            <a:off x="365760" y="5880750"/>
            <a:ext cx="11430000" cy="8717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b="0" i="0" dirty="0">
                <a:latin typeface="Segoe UI"/>
              </a:rPr>
              <a:t>  Late orders average 2.4 stars vs 4.3 stars for on-time — a 1.73-star gap that directly translates to seller de-listing risk and customer churn at scale.</a:t>
            </a:r>
          </a:p>
        </p:txBody>
      </p:sp>
    </p:spTree>
    <p:extLst>
      <p:ext uri="{BB962C8B-B14F-4D97-AF65-F5344CB8AC3E}">
        <p14:creationId xmlns:p14="http://schemas.microsoft.com/office/powerpoint/2010/main" val="28566808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1247120" y="6492240"/>
            <a:ext cx="9144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 dirty="0">
                <a:solidFill>
                  <a:srgbClr val="9B59B6"/>
                </a:solidFill>
                <a:latin typeface="Segoe UI"/>
              </a:rPr>
              <a:t>8 / 1</a:t>
            </a:r>
            <a:r>
              <a:rPr lang="en-US" sz="900" b="0" i="0" dirty="0">
                <a:solidFill>
                  <a:srgbClr val="9B59B6"/>
                </a:solidFill>
                <a:latin typeface="Segoe UI"/>
              </a:rPr>
              <a:t>7</a:t>
            </a:r>
            <a:endParaRPr sz="900" b="0" i="0" dirty="0">
              <a:solidFill>
                <a:srgbClr val="9B59B6"/>
              </a:solidFill>
              <a:latin typeface="Segoe UI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82880"/>
            <a:ext cx="2011680" cy="32004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04  PREDICTIVE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256032"/>
            <a:ext cx="922629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FFFFFF"/>
                </a:solidFill>
                <a:latin typeface="Segoe UI"/>
              </a:rPr>
              <a:t>AutoML Pipeline — From Data to Deployment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1645920" y="1508760"/>
            <a:ext cx="411480" cy="2540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691640" y="1232176"/>
            <a:ext cx="3657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 dirty="0">
                <a:solidFill>
                  <a:srgbClr val="9B59B6"/>
                </a:solidFill>
                <a:latin typeface="Segoe U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143000"/>
            <a:ext cx="1143000" cy="86868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1143000"/>
            <a:ext cx="1143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 dirty="0">
                <a:solidFill>
                  <a:srgbClr val="FFFFFF"/>
                </a:solidFill>
                <a:latin typeface="Segoe UI"/>
              </a:rPr>
              <a:t>Data
Prep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645920"/>
            <a:ext cx="11430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1645920"/>
            <a:ext cx="1143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5B2D8E"/>
                </a:solidFill>
                <a:latin typeface="Segoe UI"/>
              </a:rPr>
              <a:t>96,470</a:t>
            </a:r>
            <a:r>
              <a:rPr lang="en-US" sz="1100" b="0" i="0" dirty="0">
                <a:solidFill>
                  <a:srgbClr val="5B2D8E"/>
                </a:solidFill>
                <a:latin typeface="Segoe UI"/>
              </a:rPr>
              <a:t> </a:t>
            </a:r>
            <a:r>
              <a:rPr sz="1100" b="0" i="0" dirty="0">
                <a:solidFill>
                  <a:srgbClr val="5B2D8E"/>
                </a:solidFill>
                <a:latin typeface="Segoe UI"/>
              </a:rPr>
              <a:t>orders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6160" y="1508760"/>
            <a:ext cx="411480" cy="2540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11880" y="1232176"/>
            <a:ext cx="3657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 dirty="0">
                <a:solidFill>
                  <a:srgbClr val="9B59B6"/>
                </a:solidFill>
                <a:latin typeface="Segoe UI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77440" y="1143000"/>
            <a:ext cx="1143000" cy="86868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377440" y="1143000"/>
            <a:ext cx="1143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Feature
Engineering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77440" y="1645920"/>
            <a:ext cx="11430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377440" y="1607820"/>
            <a:ext cx="1143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5B2D8E"/>
                </a:solidFill>
                <a:latin typeface="Segoe UI"/>
              </a:rPr>
              <a:t>17 features</a:t>
            </a:r>
            <a:r>
              <a:rPr lang="en-US" sz="1100" b="0" i="0" dirty="0">
                <a:solidFill>
                  <a:srgbClr val="5B2D8E"/>
                </a:solidFill>
                <a:latin typeface="Segoe UI"/>
              </a:rPr>
              <a:t> </a:t>
            </a:r>
            <a:r>
              <a:rPr sz="1100" b="0" i="0" dirty="0">
                <a:solidFill>
                  <a:srgbClr val="5B2D8E"/>
                </a:solidFill>
                <a:latin typeface="Segoe UI"/>
              </a:rPr>
              <a:t>created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0" y="1508760"/>
            <a:ext cx="411480" cy="2540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532120" y="1232176"/>
            <a:ext cx="3657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 dirty="0">
                <a:solidFill>
                  <a:srgbClr val="9B59B6"/>
                </a:solidFill>
                <a:latin typeface="Segoe UI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7680" y="1143000"/>
            <a:ext cx="1143000" cy="86868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297680" y="1143000"/>
            <a:ext cx="1143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 dirty="0">
                <a:solidFill>
                  <a:srgbClr val="FFFFFF"/>
                </a:solidFill>
                <a:latin typeface="Segoe UI"/>
              </a:rPr>
              <a:t>FLAML
AutoML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0" y="1645920"/>
            <a:ext cx="11430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297680" y="1607820"/>
            <a:ext cx="1143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5B2D8E"/>
                </a:solidFill>
                <a:latin typeface="Segoe UI"/>
              </a:rPr>
              <a:t>3-minute</a:t>
            </a:r>
            <a:r>
              <a:rPr lang="en-US" sz="1100" b="0" i="0" dirty="0">
                <a:solidFill>
                  <a:srgbClr val="5B2D8E"/>
                </a:solidFill>
                <a:latin typeface="Segoe UI"/>
              </a:rPr>
              <a:t> </a:t>
            </a:r>
            <a:r>
              <a:rPr sz="1100" b="0" i="0" dirty="0">
                <a:solidFill>
                  <a:srgbClr val="5B2D8E"/>
                </a:solidFill>
                <a:latin typeface="Segoe UI"/>
              </a:rPr>
              <a:t>budget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06640" y="1508760"/>
            <a:ext cx="411480" cy="2540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452360" y="1232176"/>
            <a:ext cx="3657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 dirty="0">
                <a:solidFill>
                  <a:srgbClr val="9B59B6"/>
                </a:solidFill>
                <a:latin typeface="Segoe UI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1143000"/>
            <a:ext cx="1143000" cy="86868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217920" y="1143000"/>
            <a:ext cx="1143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 dirty="0">
                <a:solidFill>
                  <a:srgbClr val="FFFFFF"/>
                </a:solidFill>
                <a:latin typeface="Segoe UI"/>
              </a:rPr>
              <a:t>LightGBM
Model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7920" y="1645920"/>
            <a:ext cx="11430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17920" y="1607820"/>
            <a:ext cx="1143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5B2D8E"/>
                </a:solidFill>
                <a:latin typeface="Segoe UI"/>
              </a:rPr>
              <a:t>Best algo</a:t>
            </a:r>
            <a:r>
              <a:rPr lang="en-US" sz="1100" b="0" i="0" dirty="0">
                <a:solidFill>
                  <a:srgbClr val="5B2D8E"/>
                </a:solidFill>
                <a:latin typeface="Segoe UI"/>
              </a:rPr>
              <a:t> </a:t>
            </a:r>
            <a:r>
              <a:rPr sz="1100" b="0" i="0" dirty="0">
                <a:solidFill>
                  <a:srgbClr val="5B2D8E"/>
                </a:solidFill>
                <a:latin typeface="Segoe UI"/>
              </a:rPr>
              <a:t>selected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326880" y="1508760"/>
            <a:ext cx="411480" cy="2540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372600" y="1232176"/>
            <a:ext cx="3657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 dirty="0">
                <a:solidFill>
                  <a:srgbClr val="9B59B6"/>
                </a:solidFill>
                <a:latin typeface="Segoe UI"/>
              </a:rPr>
              <a:t>→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60" y="1143000"/>
            <a:ext cx="1143000" cy="86868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138160" y="1143000"/>
            <a:ext cx="1143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Threshold
Tuning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38160" y="1645920"/>
            <a:ext cx="11430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138160" y="1607820"/>
            <a:ext cx="1143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5B2D8E"/>
                </a:solidFill>
                <a:latin typeface="Segoe UI"/>
              </a:rPr>
              <a:t>0.30 optimal</a:t>
            </a:r>
            <a:r>
              <a:rPr lang="en-US" sz="1100" b="0" i="0" dirty="0">
                <a:solidFill>
                  <a:srgbClr val="5B2D8E"/>
                </a:solidFill>
                <a:latin typeface="Segoe UI"/>
              </a:rPr>
              <a:t> </a:t>
            </a:r>
            <a:r>
              <a:rPr sz="1100" b="0" i="0" dirty="0">
                <a:solidFill>
                  <a:srgbClr val="5B2D8E"/>
                </a:solidFill>
                <a:latin typeface="Segoe UI"/>
              </a:rPr>
              <a:t>threshold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058400" y="1143000"/>
            <a:ext cx="1143000" cy="86868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058400" y="1143000"/>
            <a:ext cx="1143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Deploy
Ready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058400" y="1645920"/>
            <a:ext cx="11430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058400" y="1607820"/>
            <a:ext cx="1143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5B2D8E"/>
                </a:solidFill>
                <a:latin typeface="Segoe UI"/>
              </a:rPr>
              <a:t>score.py
+ Flask API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23317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5B2D8E"/>
                </a:solidFill>
                <a:latin typeface="Segoe UI"/>
              </a:rPr>
              <a:t>Model Comparison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2788920"/>
            <a:ext cx="10012680" cy="384048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57200" y="278892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Model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108960" y="2788920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ROC-AUC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80560" y="2788920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F1 Score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52160" y="2788920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Precision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23760" y="2788920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Recall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95360" y="2788920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Accuracy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3172968"/>
            <a:ext cx="10012680" cy="438912"/>
          </a:xfrm>
          <a:prstGeom prst="rect">
            <a:avLst/>
          </a:prstGeom>
          <a:solidFill>
            <a:srgbClr val="F0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57200" y="3172968"/>
            <a:ext cx="2651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Segoe UI"/>
              </a:rPr>
              <a:t>Logistic Regression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108960" y="3172968"/>
            <a:ext cx="1371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Segoe UI"/>
              </a:rPr>
              <a:t>0.7253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80560" y="3172968"/>
            <a:ext cx="1371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Segoe UI"/>
              </a:rPr>
              <a:t>0.2501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52160" y="3172968"/>
            <a:ext cx="1371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Segoe UI"/>
              </a:rPr>
              <a:t>0.1565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23760" y="3172968"/>
            <a:ext cx="1371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Segoe UI"/>
              </a:rPr>
              <a:t>0.6224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95360" y="3172968"/>
            <a:ext cx="1371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Segoe UI"/>
              </a:rPr>
              <a:t>0.6972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57200" y="3611879"/>
            <a:ext cx="10012680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57200" y="3611879"/>
            <a:ext cx="2651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Segoe UI"/>
              </a:rPr>
              <a:t>Random Forest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08960" y="3611879"/>
            <a:ext cx="1371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Segoe UI"/>
              </a:rPr>
              <a:t>0.7775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80560" y="3611879"/>
            <a:ext cx="1371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Segoe UI"/>
              </a:rPr>
              <a:t>0.3057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852160" y="3611879"/>
            <a:ext cx="1371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Segoe UI"/>
              </a:rPr>
              <a:t>0.2022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23760" y="3611879"/>
            <a:ext cx="1371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Segoe UI"/>
              </a:rPr>
              <a:t>0.6262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595360" y="3611879"/>
            <a:ext cx="1371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Segoe UI"/>
              </a:rPr>
              <a:t>0.7693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" y="4050792"/>
            <a:ext cx="10012680" cy="438912"/>
          </a:xfrm>
          <a:prstGeom prst="rect">
            <a:avLst/>
          </a:prstGeom>
          <a:solidFill>
            <a:srgbClr val="F0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457200" y="4050792"/>
            <a:ext cx="2651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Segoe UI"/>
              </a:rPr>
              <a:t>Gradient Boosting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108960" y="4050792"/>
            <a:ext cx="1371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Segoe UI"/>
              </a:rPr>
              <a:t>0.7815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80560" y="4050792"/>
            <a:ext cx="1371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Segoe UI"/>
              </a:rPr>
              <a:t>0.0610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852160" y="4050792"/>
            <a:ext cx="1371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Segoe UI"/>
              </a:rPr>
              <a:t>0.6757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23760" y="4050792"/>
            <a:ext cx="1371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Segoe UI"/>
              </a:rPr>
              <a:t>0.0319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95360" y="4050792"/>
            <a:ext cx="1371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Segoe UI"/>
              </a:rPr>
              <a:t>0.9202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57200" y="4489704"/>
            <a:ext cx="10012680" cy="438912"/>
          </a:xfrm>
          <a:prstGeom prst="rect">
            <a:avLst/>
          </a:prstGeom>
          <a:solidFill>
            <a:srgbClr val="E8D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457200" y="4489704"/>
            <a:ext cx="2651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5B2D8E"/>
                </a:solidFill>
                <a:latin typeface="Segoe UI"/>
              </a:rPr>
              <a:t>FLAML LightGBM ★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108960" y="4489704"/>
            <a:ext cx="1371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5B2D8E"/>
                </a:solidFill>
                <a:latin typeface="Segoe UI"/>
              </a:rPr>
              <a:t>0.7868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480560" y="4489704"/>
            <a:ext cx="1371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5B2D8E"/>
                </a:solidFill>
                <a:latin typeface="Segoe UI"/>
              </a:rPr>
              <a:t>0.3304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852160" y="4489704"/>
            <a:ext cx="1371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5B2D8E"/>
                </a:solidFill>
                <a:latin typeface="Segoe UI"/>
              </a:rPr>
              <a:t>0.2360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223760" y="4489704"/>
            <a:ext cx="1371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5B2D8E"/>
                </a:solidFill>
                <a:latin typeface="Segoe UI"/>
              </a:rPr>
              <a:t>0.5508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595360" y="4489704"/>
            <a:ext cx="1371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5B2D8E"/>
                </a:solidFill>
                <a:latin typeface="Segoe UI"/>
              </a:rPr>
              <a:t>0.8189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80060" y="5137758"/>
            <a:ext cx="10012680" cy="1203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1600" b="1" i="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/>
              </a:rPr>
              <a:t>Best model</a:t>
            </a:r>
            <a:r>
              <a:rPr sz="1600" b="1" i="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/>
              </a:rPr>
              <a:t>: </a:t>
            </a:r>
            <a:r>
              <a:rPr sz="1600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/>
              </a:rPr>
              <a:t>FLAML AutoML selected </a:t>
            </a:r>
            <a:r>
              <a:rPr sz="1600" b="0" i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Segoe UI"/>
              </a:rPr>
              <a:t>LightGBM</a:t>
            </a: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/>
              </a:rPr>
              <a:t>. </a:t>
            </a:r>
            <a:endParaRPr lang="en-US" sz="1600" b="0" i="0" dirty="0">
              <a:solidFill>
                <a:schemeClr val="tx1">
                  <a:lumMod val="75000"/>
                  <a:lumOff val="25000"/>
                </a:schemeClr>
              </a:solidFill>
              <a:latin typeface="Segoe UI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1600" b="1" i="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/>
              </a:rPr>
              <a:t>AUC: </a:t>
            </a:r>
            <a:r>
              <a:rPr lang="en-US" sz="1600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/>
              </a:rPr>
              <a:t>0.787 | F1: 0.33 | Recall: 55% 
</a:t>
            </a:r>
            <a:r>
              <a:rPr sz="1600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/>
              </a:rPr>
              <a:t>Catches 1 in 2 late deliveries at order placement time </a:t>
            </a:r>
            <a:r>
              <a:rPr lang="en-US" sz="1600" dirty="0"/>
              <a:t>before shipping </a:t>
            </a:r>
            <a:r>
              <a:rPr sz="1600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/>
              </a:rPr>
              <a:t>— enabling proactive intervention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1A2288-9F8B-B3B5-EAB0-45CC58F7D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E25D4B8-D89A-6563-7B4D-D0003B6130F7}"/>
              </a:ext>
            </a:extLst>
          </p:cNvPr>
          <p:cNvSpPr txBox="1"/>
          <p:nvPr/>
        </p:nvSpPr>
        <p:spPr>
          <a:xfrm>
            <a:off x="11247120" y="6492240"/>
            <a:ext cx="9144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 dirty="0">
                <a:solidFill>
                  <a:srgbClr val="9B59B6"/>
                </a:solidFill>
                <a:latin typeface="Segoe UI"/>
              </a:rPr>
              <a:t>8 / 1</a:t>
            </a:r>
            <a:r>
              <a:rPr lang="en-US" sz="900" b="0" i="0" dirty="0">
                <a:solidFill>
                  <a:srgbClr val="9B59B6"/>
                </a:solidFill>
                <a:latin typeface="Segoe UI"/>
              </a:rPr>
              <a:t>7</a:t>
            </a:r>
            <a:endParaRPr sz="900" b="0" i="0" dirty="0">
              <a:solidFill>
                <a:srgbClr val="9B59B6"/>
              </a:solidFill>
              <a:latin typeface="Segoe UI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16D126F-7A55-57DC-02A0-80BBF43B0891}"/>
              </a:ext>
            </a:extLst>
          </p:cNvPr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046FAD-9691-C0BF-E888-95C2174B70BA}"/>
              </a:ext>
            </a:extLst>
          </p:cNvPr>
          <p:cNvSpPr/>
          <p:nvPr/>
        </p:nvSpPr>
        <p:spPr>
          <a:xfrm>
            <a:off x="457200" y="182880"/>
            <a:ext cx="2011680" cy="32004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8A7ADC-5EE3-05D2-45E2-E1108FB26BFE}"/>
              </a:ext>
            </a:extLst>
          </p:cNvPr>
          <p:cNvSpPr txBox="1"/>
          <p:nvPr/>
        </p:nvSpPr>
        <p:spPr>
          <a:xfrm>
            <a:off x="457200" y="1828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04  PREDICTIVE MODEL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E9A0A5-7ADE-C375-4A1B-7C899FD3A0CB}"/>
              </a:ext>
            </a:extLst>
          </p:cNvPr>
          <p:cNvSpPr txBox="1"/>
          <p:nvPr/>
        </p:nvSpPr>
        <p:spPr>
          <a:xfrm>
            <a:off x="2615184" y="256032"/>
            <a:ext cx="922629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  <a:latin typeface="Segoe UI"/>
              </a:rPr>
              <a:t>Predictive Modeling — AutoML Model Comparison</a:t>
            </a:r>
          </a:p>
        </p:txBody>
      </p:sp>
      <p:pic>
        <p:nvPicPr>
          <p:cNvPr id="2" name="Picture 1" descr="12_model_comparison.png">
            <a:extLst>
              <a:ext uri="{FF2B5EF4-FFF2-40B4-BE49-F238E27FC236}">
                <a16:creationId xmlns:a16="http://schemas.microsoft.com/office/drawing/2014/main" id="{552522FB-EB03-F892-5B42-C10B9D6E5B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97280"/>
            <a:ext cx="7132320" cy="4663440"/>
          </a:xfrm>
          <a:prstGeom prst="rect">
            <a:avLst/>
          </a:prstGeom>
        </p:spPr>
      </p:pic>
      <p:pic>
        <p:nvPicPr>
          <p:cNvPr id="78" name="Picture 77" descr="13_roc_curves.png">
            <a:extLst>
              <a:ext uri="{FF2B5EF4-FFF2-40B4-BE49-F238E27FC236}">
                <a16:creationId xmlns:a16="http://schemas.microsoft.com/office/drawing/2014/main" id="{ABF524D0-C9AA-505B-8A0F-C4084CEBCF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0" y="1097280"/>
            <a:ext cx="4114800" cy="4663440"/>
          </a:xfrm>
          <a:prstGeom prst="rect">
            <a:avLst/>
          </a:prstGeom>
        </p:spPr>
      </p:pic>
      <p:sp>
        <p:nvSpPr>
          <p:cNvPr id="83" name="TextBox 82">
            <a:extLst>
              <a:ext uri="{FF2B5EF4-FFF2-40B4-BE49-F238E27FC236}">
                <a16:creationId xmlns:a16="http://schemas.microsoft.com/office/drawing/2014/main" id="{034233E7-D789-0874-F3B4-716C4963FB34}"/>
              </a:ext>
            </a:extLst>
          </p:cNvPr>
          <p:cNvSpPr txBox="1"/>
          <p:nvPr/>
        </p:nvSpPr>
        <p:spPr>
          <a:xfrm>
            <a:off x="365760" y="5989320"/>
            <a:ext cx="11430000" cy="7851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i="0" dirty="0">
                <a:latin typeface="Segoe UI"/>
              </a:rPr>
              <a:t>  FLAML AutoML selected </a:t>
            </a:r>
            <a:r>
              <a:rPr sz="1600" b="0" i="0" dirty="0" err="1">
                <a:latin typeface="Segoe UI"/>
              </a:rPr>
              <a:t>LightGBM</a:t>
            </a:r>
            <a:r>
              <a:rPr sz="1600" b="0" i="0" dirty="0">
                <a:latin typeface="Segoe UI"/>
              </a:rPr>
              <a:t> — best balance of AUC (0.787), F1 (0.33), and Recall (55%). Catches 1 in 2 late deliveries at order placement time.</a:t>
            </a:r>
          </a:p>
        </p:txBody>
      </p:sp>
    </p:spTree>
    <p:extLst>
      <p:ext uri="{BB962C8B-B14F-4D97-AF65-F5344CB8AC3E}">
        <p14:creationId xmlns:p14="http://schemas.microsoft.com/office/powerpoint/2010/main" val="2628544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1247120" y="6492240"/>
            <a:ext cx="9144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 dirty="0">
                <a:solidFill>
                  <a:srgbClr val="9B59B6"/>
                </a:solidFill>
                <a:latin typeface="Segoe UI"/>
              </a:rPr>
              <a:t>9 / 1</a:t>
            </a:r>
            <a:r>
              <a:rPr lang="en-US" sz="900" b="0" i="0" dirty="0">
                <a:solidFill>
                  <a:srgbClr val="9B59B6"/>
                </a:solidFill>
                <a:latin typeface="Segoe UI"/>
              </a:rPr>
              <a:t>7</a:t>
            </a:r>
            <a:endParaRPr sz="900" b="0" i="0" dirty="0">
              <a:solidFill>
                <a:srgbClr val="9B59B6"/>
              </a:solidFill>
              <a:latin typeface="Segoe UI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82880"/>
            <a:ext cx="2011680" cy="32004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04  MODEL 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27239" y="256032"/>
            <a:ext cx="87599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800" b="1" dirty="0">
                <a:solidFill>
                  <a:srgbClr val="FFFFFF"/>
                </a:solidFill>
                <a:latin typeface="Segoe UI"/>
              </a:rPr>
              <a:t>Model </a:t>
            </a:r>
            <a:r>
              <a:rPr lang="fr-FR" sz="2800" b="1" dirty="0" err="1">
                <a:solidFill>
                  <a:srgbClr val="FFFFFF"/>
                </a:solidFill>
                <a:latin typeface="Segoe UI"/>
              </a:rPr>
              <a:t>Results</a:t>
            </a:r>
            <a:r>
              <a:rPr lang="fr-FR" sz="2800" b="1" dirty="0">
                <a:solidFill>
                  <a:srgbClr val="FFFFFF"/>
                </a:solidFill>
                <a:latin typeface="Segoe UI"/>
              </a:rPr>
              <a:t> — Confusion Matrix &amp; </a:t>
            </a:r>
            <a:r>
              <a:rPr lang="fr-FR" sz="2800" b="1" dirty="0" err="1">
                <a:solidFill>
                  <a:srgbClr val="FFFFFF"/>
                </a:solidFill>
                <a:latin typeface="Segoe UI"/>
              </a:rPr>
              <a:t>Regression</a:t>
            </a:r>
            <a:endParaRPr lang="fr-FR" sz="2800" b="1" dirty="0">
              <a:solidFill>
                <a:srgbClr val="FFFFFF"/>
              </a:solidFill>
              <a:latin typeface="Segoe UI"/>
            </a:endParaRP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CC6DFA6F-1067-C000-6D2F-B1A73032CEE8}"/>
              </a:ext>
            </a:extLst>
          </p:cNvPr>
          <p:cNvGrpSpPr/>
          <p:nvPr/>
        </p:nvGrpSpPr>
        <p:grpSpPr>
          <a:xfrm>
            <a:off x="630872" y="5084064"/>
            <a:ext cx="10927079" cy="1417320"/>
            <a:chOff x="365760" y="1143000"/>
            <a:chExt cx="10927079" cy="1417320"/>
          </a:xfrm>
        </p:grpSpPr>
        <p:sp>
          <p:nvSpPr>
            <p:cNvPr id="8" name="Rectangle 7"/>
            <p:cNvSpPr/>
            <p:nvPr/>
          </p:nvSpPr>
          <p:spPr>
            <a:xfrm>
              <a:off x="365760" y="1143000"/>
              <a:ext cx="2560320" cy="1417320"/>
            </a:xfrm>
            <a:prstGeom prst="rect">
              <a:avLst/>
            </a:prstGeom>
            <a:solidFill>
              <a:srgbClr val="E8D5F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65760" y="1234440"/>
              <a:ext cx="2560320" cy="6400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3000" b="1" i="0">
                  <a:solidFill>
                    <a:srgbClr val="5B2D8E"/>
                  </a:solidFill>
                  <a:latin typeface="Segoe UI"/>
                </a:rPr>
                <a:t>0.7868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65760" y="1828800"/>
              <a:ext cx="256032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0" i="0" dirty="0">
                  <a:solidFill>
                    <a:srgbClr val="1A1A2E"/>
                  </a:solidFill>
                  <a:latin typeface="Segoe UI"/>
                </a:rPr>
                <a:t>ROC-AUC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65760" y="2148840"/>
              <a:ext cx="2560320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100" b="0" i="1" dirty="0">
                  <a:solidFill>
                    <a:srgbClr val="9B59B6"/>
                  </a:solidFill>
                  <a:latin typeface="Segoe UI"/>
                </a:rPr>
                <a:t>Primary evaluation metric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3154679" y="1143000"/>
              <a:ext cx="2560320" cy="1417320"/>
            </a:xfrm>
            <a:prstGeom prst="rect">
              <a:avLst/>
            </a:prstGeom>
            <a:solidFill>
              <a:srgbClr val="E8D5F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154679" y="1234440"/>
              <a:ext cx="2560320" cy="6400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3000" b="1" i="0">
                  <a:solidFill>
                    <a:srgbClr val="5B2D8E"/>
                  </a:solidFill>
                  <a:latin typeface="Segoe UI"/>
                </a:rPr>
                <a:t>55.1%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3154679" y="1828800"/>
              <a:ext cx="256032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400" b="0" i="0" dirty="0">
                  <a:solidFill>
                    <a:srgbClr val="1A1A2E"/>
                  </a:solidFill>
                  <a:latin typeface="Segoe UI"/>
                </a:rPr>
                <a:t>Recall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154679" y="2148840"/>
              <a:ext cx="2560320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100" b="0" i="1" dirty="0">
                  <a:solidFill>
                    <a:srgbClr val="9B59B6"/>
                  </a:solidFill>
                  <a:latin typeface="Segoe UI"/>
                </a:rPr>
                <a:t>Late orders caught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5943600" y="1143000"/>
              <a:ext cx="2560320" cy="1417320"/>
            </a:xfrm>
            <a:prstGeom prst="rect">
              <a:avLst/>
            </a:prstGeom>
            <a:solidFill>
              <a:srgbClr val="E8D5F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943600" y="1234440"/>
              <a:ext cx="2560320" cy="5539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3000" b="1" i="0" dirty="0">
                  <a:solidFill>
                    <a:srgbClr val="5B2D8E"/>
                  </a:solidFill>
                  <a:latin typeface="Segoe UI"/>
                </a:rPr>
                <a:t>4.69d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5943600" y="1828800"/>
              <a:ext cx="256032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0" i="0" dirty="0">
                  <a:solidFill>
                    <a:srgbClr val="1A1A2E"/>
                  </a:solidFill>
                  <a:latin typeface="Segoe UI"/>
                </a:rPr>
                <a:t>Reg. MAE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943600" y="2148840"/>
              <a:ext cx="2560320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100" b="0" i="1" dirty="0">
                  <a:solidFill>
                    <a:srgbClr val="9B59B6"/>
                  </a:solidFill>
                  <a:latin typeface="Segoe UI"/>
                </a:rPr>
                <a:t>Delivery day error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8732519" y="1143000"/>
              <a:ext cx="2560320" cy="1417320"/>
            </a:xfrm>
            <a:prstGeom prst="rect">
              <a:avLst/>
            </a:prstGeom>
            <a:solidFill>
              <a:srgbClr val="E8D5F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8732519" y="1234440"/>
              <a:ext cx="2560320" cy="5539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3000" b="1" i="0" dirty="0">
                  <a:solidFill>
                    <a:srgbClr val="5B2D8E"/>
                  </a:solidFill>
                  <a:latin typeface="Segoe UI"/>
                </a:rPr>
                <a:t>0.343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8732519" y="1828800"/>
              <a:ext cx="256032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0" i="0" dirty="0">
                  <a:solidFill>
                    <a:srgbClr val="1A1A2E"/>
                  </a:solidFill>
                  <a:latin typeface="Segoe UI"/>
                </a:rPr>
                <a:t>Reg. R2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8732519" y="2148840"/>
              <a:ext cx="2560320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100" b="0" i="1" dirty="0">
                  <a:solidFill>
                    <a:srgbClr val="9B59B6"/>
                  </a:solidFill>
                  <a:latin typeface="Segoe UI"/>
                </a:rPr>
                <a:t>Variance explained</a:t>
              </a: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B8F3E0BA-7B10-D2E6-0D92-738258A269B6}"/>
              </a:ext>
            </a:extLst>
          </p:cNvPr>
          <p:cNvGrpSpPr/>
          <p:nvPr/>
        </p:nvGrpSpPr>
        <p:grpSpPr>
          <a:xfrm>
            <a:off x="696688" y="1018102"/>
            <a:ext cx="11095806" cy="4007531"/>
            <a:chOff x="696688" y="2645587"/>
            <a:chExt cx="11095806" cy="4048100"/>
          </a:xfrm>
        </p:grpSpPr>
        <p:pic>
          <p:nvPicPr>
            <p:cNvPr id="40" name="Picture 39" descr="09_actual_vs_predicted_days.png">
              <a:extLst>
                <a:ext uri="{FF2B5EF4-FFF2-40B4-BE49-F238E27FC236}">
                  <a16:creationId xmlns:a16="http://schemas.microsoft.com/office/drawing/2014/main" id="{72F28578-FA76-1537-D2B1-483E0AD2E74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456471" y="2904955"/>
              <a:ext cx="4336023" cy="3744747"/>
            </a:xfrm>
            <a:prstGeom prst="rect">
              <a:avLst/>
            </a:prstGeom>
          </p:spPr>
        </p:pic>
        <p:pic>
          <p:nvPicPr>
            <p:cNvPr id="41" name="Picture 40" descr="14_confusion_matrix.png">
              <a:extLst>
                <a:ext uri="{FF2B5EF4-FFF2-40B4-BE49-F238E27FC236}">
                  <a16:creationId xmlns:a16="http://schemas.microsoft.com/office/drawing/2014/main" id="{ACB2F4D9-903D-C751-B939-54A1D3B1C6B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20635" b="739"/>
            <a:stretch>
              <a:fillRect/>
            </a:stretch>
          </p:blipFill>
          <p:spPr>
            <a:xfrm>
              <a:off x="696688" y="2645587"/>
              <a:ext cx="6643723" cy="404810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1247120" y="6492240"/>
            <a:ext cx="9144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 dirty="0">
                <a:solidFill>
                  <a:srgbClr val="9B59B6"/>
                </a:solidFill>
                <a:latin typeface="Segoe UI"/>
              </a:rPr>
              <a:t>10 / 1</a:t>
            </a:r>
            <a:r>
              <a:rPr lang="en-US" sz="900" b="0" i="0" dirty="0">
                <a:solidFill>
                  <a:srgbClr val="9B59B6"/>
                </a:solidFill>
                <a:latin typeface="Segoe UI"/>
              </a:rPr>
              <a:t>7</a:t>
            </a:r>
            <a:endParaRPr sz="900" b="0" i="0" dirty="0">
              <a:solidFill>
                <a:srgbClr val="9B59B6"/>
              </a:solidFill>
              <a:latin typeface="Segoe UI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82880"/>
            <a:ext cx="2011680" cy="32004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05  EXPLAINABILITY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16352" y="256032"/>
            <a:ext cx="80924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  <a:latin typeface="Segoe UI"/>
              </a:rPr>
              <a:t>Model Explainability — Feature Importance</a:t>
            </a:r>
          </a:p>
        </p:txBody>
      </p:sp>
      <p:pic>
        <p:nvPicPr>
          <p:cNvPr id="50" name="Picture 49" descr="15_classification_feature_importance.png">
            <a:extLst>
              <a:ext uri="{FF2B5EF4-FFF2-40B4-BE49-F238E27FC236}">
                <a16:creationId xmlns:a16="http://schemas.microsoft.com/office/drawing/2014/main" id="{A1314070-9EAD-BFD6-B3DB-A01B6940E7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97280"/>
            <a:ext cx="5577840" cy="4663440"/>
          </a:xfrm>
          <a:prstGeom prst="rect">
            <a:avLst/>
          </a:prstGeom>
        </p:spPr>
      </p:pic>
      <p:pic>
        <p:nvPicPr>
          <p:cNvPr id="51" name="Picture 50" descr="16_permutation_importance.png">
            <a:extLst>
              <a:ext uri="{FF2B5EF4-FFF2-40B4-BE49-F238E27FC236}">
                <a16:creationId xmlns:a16="http://schemas.microsoft.com/office/drawing/2014/main" id="{AA14E03C-38F1-ADFE-CF95-949B7EC716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097280"/>
            <a:ext cx="5486400" cy="4663440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251D7C25-C24B-B1C4-17C5-70688588F06B}"/>
              </a:ext>
            </a:extLst>
          </p:cNvPr>
          <p:cNvSpPr txBox="1"/>
          <p:nvPr/>
        </p:nvSpPr>
        <p:spPr>
          <a:xfrm>
            <a:off x="900620" y="5891629"/>
            <a:ext cx="10387584" cy="8785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800" b="0" i="0" dirty="0">
                <a:latin typeface="Segoe UI"/>
              </a:rPr>
              <a:t> Seller historical late rate accounts for 50% of model power. Permutation importance confirms this is robust — shuffling it drops AUC the most.</a:t>
            </a:r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FF83B-20EF-1D8C-F745-52DC7B5B3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E74D00A-C426-60EE-CE11-4B4C036A012D}"/>
              </a:ext>
            </a:extLst>
          </p:cNvPr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2E422D-A60A-2C97-A920-536053857E12}"/>
              </a:ext>
            </a:extLst>
          </p:cNvPr>
          <p:cNvSpPr/>
          <p:nvPr/>
        </p:nvSpPr>
        <p:spPr>
          <a:xfrm>
            <a:off x="457200" y="182880"/>
            <a:ext cx="2011680" cy="32004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516A28-7CDB-F96B-EC8B-20D3278DC7AD}"/>
              </a:ext>
            </a:extLst>
          </p:cNvPr>
          <p:cNvSpPr txBox="1"/>
          <p:nvPr/>
        </p:nvSpPr>
        <p:spPr>
          <a:xfrm>
            <a:off x="457200" y="1828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05  EXPLAINABILITY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43D28F-90F7-64C4-7C4E-FD035C0E04F0}"/>
              </a:ext>
            </a:extLst>
          </p:cNvPr>
          <p:cNvSpPr txBox="1"/>
          <p:nvPr/>
        </p:nvSpPr>
        <p:spPr>
          <a:xfrm>
            <a:off x="2816352" y="256032"/>
            <a:ext cx="80924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  <a:latin typeface="Segoe UI"/>
              </a:rPr>
              <a:t>SHAP Analysis — Global Feature Importance</a:t>
            </a:r>
          </a:p>
        </p:txBody>
      </p:sp>
      <p:pic>
        <p:nvPicPr>
          <p:cNvPr id="26" name="Picture 25" descr="18_shap_global_importance.png">
            <a:extLst>
              <a:ext uri="{FF2B5EF4-FFF2-40B4-BE49-F238E27FC236}">
                <a16:creationId xmlns:a16="http://schemas.microsoft.com/office/drawing/2014/main" id="{6C6A89F9-19DA-661B-FB2C-0A7760BEE8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97280"/>
            <a:ext cx="5261762" cy="4657953"/>
          </a:xfrm>
          <a:prstGeom prst="rect">
            <a:avLst/>
          </a:prstGeom>
        </p:spPr>
      </p:pic>
      <p:pic>
        <p:nvPicPr>
          <p:cNvPr id="27" name="Picture 26" descr="19_shap_beeswarm.png">
            <a:extLst>
              <a:ext uri="{FF2B5EF4-FFF2-40B4-BE49-F238E27FC236}">
                <a16:creationId xmlns:a16="http://schemas.microsoft.com/office/drawing/2014/main" id="{C36015D6-834E-81CB-F575-F428571DD4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097280"/>
            <a:ext cx="5175504" cy="4657954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B67863CB-E31C-4232-8520-E86E217E32B9}"/>
              </a:ext>
            </a:extLst>
          </p:cNvPr>
          <p:cNvSpPr txBox="1"/>
          <p:nvPr/>
        </p:nvSpPr>
        <p:spPr>
          <a:xfrm>
            <a:off x="1581912" y="5919825"/>
            <a:ext cx="9326880" cy="8785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800" b="0" i="0" dirty="0">
                <a:latin typeface="Segoe UI"/>
              </a:rPr>
              <a:t> SHAP </a:t>
            </a:r>
            <a:r>
              <a:rPr lang="en-US" sz="1800" b="0" i="0" dirty="0" err="1">
                <a:latin typeface="Segoe UI"/>
              </a:rPr>
              <a:t>beeswarm</a:t>
            </a:r>
            <a:r>
              <a:rPr lang="en-US" sz="1800" b="0" i="0" dirty="0">
                <a:latin typeface="Segoe UI"/>
              </a:rPr>
              <a:t> confirms direction: high seller late rate strongly pushes toward late prediction. Purchase month and same-state delivery also show clear directional effects.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04327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1614E-96D2-2792-E633-00CA9BB84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B251D07-906B-CE75-1A89-CDA68F646267}"/>
              </a:ext>
            </a:extLst>
          </p:cNvPr>
          <p:cNvSpPr txBox="1"/>
          <p:nvPr/>
        </p:nvSpPr>
        <p:spPr>
          <a:xfrm>
            <a:off x="11247120" y="6492240"/>
            <a:ext cx="9144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 dirty="0">
                <a:solidFill>
                  <a:srgbClr val="9B59B6"/>
                </a:solidFill>
                <a:latin typeface="Segoe UI"/>
              </a:rPr>
              <a:t>10 / 1</a:t>
            </a:r>
            <a:r>
              <a:rPr lang="en-US" sz="900" b="0" i="0" dirty="0">
                <a:solidFill>
                  <a:srgbClr val="9B59B6"/>
                </a:solidFill>
                <a:latin typeface="Segoe UI"/>
              </a:rPr>
              <a:t>7</a:t>
            </a:r>
            <a:endParaRPr sz="900" b="0" i="0" dirty="0">
              <a:solidFill>
                <a:srgbClr val="9B59B6"/>
              </a:solidFill>
              <a:latin typeface="Segoe UI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5FE66B5-27F1-6F16-7AE4-89496C6A58C7}"/>
              </a:ext>
            </a:extLst>
          </p:cNvPr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B11A7DC-1AC9-4179-AF01-536B90AD0A9E}"/>
              </a:ext>
            </a:extLst>
          </p:cNvPr>
          <p:cNvSpPr/>
          <p:nvPr/>
        </p:nvSpPr>
        <p:spPr>
          <a:xfrm>
            <a:off x="457200" y="182880"/>
            <a:ext cx="2011680" cy="32004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4494E8-1210-C35C-E604-4BB41F56D6B2}"/>
              </a:ext>
            </a:extLst>
          </p:cNvPr>
          <p:cNvSpPr txBox="1"/>
          <p:nvPr/>
        </p:nvSpPr>
        <p:spPr>
          <a:xfrm>
            <a:off x="457200" y="1828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05  EXPLAINABILITY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67A3FC-35DA-4546-B6AF-B7AEA192D6C1}"/>
              </a:ext>
            </a:extLst>
          </p:cNvPr>
          <p:cNvSpPr txBox="1"/>
          <p:nvPr/>
        </p:nvSpPr>
        <p:spPr>
          <a:xfrm>
            <a:off x="2816352" y="256032"/>
            <a:ext cx="954633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  <a:latin typeface="Segoe UI"/>
              </a:rPr>
              <a:t>SHAP — Dependence &amp; Individual Order Explanation</a:t>
            </a:r>
          </a:p>
        </p:txBody>
      </p:sp>
      <p:pic>
        <p:nvPicPr>
          <p:cNvPr id="26" name="Picture 25" descr="20_shap_dependence.png">
            <a:extLst>
              <a:ext uri="{FF2B5EF4-FFF2-40B4-BE49-F238E27FC236}">
                <a16:creationId xmlns:a16="http://schemas.microsoft.com/office/drawing/2014/main" id="{6EE1146B-3DF2-BCE3-7565-8B44D15DB1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5577840" cy="4937760"/>
          </a:xfrm>
          <a:prstGeom prst="rect">
            <a:avLst/>
          </a:prstGeom>
        </p:spPr>
      </p:pic>
      <p:pic>
        <p:nvPicPr>
          <p:cNvPr id="27" name="Picture 26" descr="21_shap_waterfall.png">
            <a:extLst>
              <a:ext uri="{FF2B5EF4-FFF2-40B4-BE49-F238E27FC236}">
                <a16:creationId xmlns:a16="http://schemas.microsoft.com/office/drawing/2014/main" id="{7875F77F-DA96-E799-9466-3BAACDDC9A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097280"/>
            <a:ext cx="5486400" cy="4937760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EBDD87E0-E3A2-8602-30BC-EAE0E28249E6}"/>
              </a:ext>
            </a:extLst>
          </p:cNvPr>
          <p:cNvSpPr txBox="1"/>
          <p:nvPr/>
        </p:nvSpPr>
        <p:spPr>
          <a:xfrm>
            <a:off x="365760" y="5989320"/>
            <a:ext cx="11430000" cy="8717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b="0" i="0" dirty="0">
                <a:latin typeface="Segoe UI"/>
              </a:rPr>
              <a:t>  Dependence plot reveals non-linear threshold effects in seller late rate. Waterfall plot shows exactly which features pushed this specific order to 98.4% predicted late probability.</a:t>
            </a:r>
          </a:p>
        </p:txBody>
      </p:sp>
    </p:spTree>
    <p:extLst>
      <p:ext uri="{BB962C8B-B14F-4D97-AF65-F5344CB8AC3E}">
        <p14:creationId xmlns:p14="http://schemas.microsoft.com/office/powerpoint/2010/main" val="36081792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82880"/>
            <a:ext cx="2011680" cy="32004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06  FAIRNESS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36244" y="256032"/>
            <a:ext cx="7543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FFFFFF"/>
                </a:solidFill>
                <a:latin typeface="Segoe UI"/>
              </a:rPr>
              <a:t>Is the Model Fair Across Regions?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376" y="1043649"/>
            <a:ext cx="11905552" cy="7851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i="0" dirty="0">
                <a:latin typeface="Segoe UI"/>
              </a:rPr>
              <a:t>  FINDING:</a:t>
            </a:r>
            <a:r>
              <a:rPr sz="1600" i="0" dirty="0">
                <a:latin typeface="Segoe UI"/>
              </a:rPr>
              <a:t> The model is NOT fully fair across regions. North &amp; Northeast — already highest-risk regions — receive the weakest predictions.</a:t>
            </a:r>
          </a:p>
        </p:txBody>
      </p:sp>
      <p:pic>
        <p:nvPicPr>
          <p:cNvPr id="2" name="Picture 1" descr="22_fairness_by_region.png">
            <a:extLst>
              <a:ext uri="{FF2B5EF4-FFF2-40B4-BE49-F238E27FC236}">
                <a16:creationId xmlns:a16="http://schemas.microsoft.com/office/drawing/2014/main" id="{D80685F9-F8AE-2E6E-8C93-174E57E23F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8800"/>
            <a:ext cx="11430000" cy="3931920"/>
          </a:xfrm>
          <a:prstGeom prst="rect">
            <a:avLst/>
          </a:prstGeom>
        </p:spPr>
      </p:pic>
      <p:grpSp>
        <p:nvGrpSpPr>
          <p:cNvPr id="31" name="Group 30">
            <a:extLst>
              <a:ext uri="{FF2B5EF4-FFF2-40B4-BE49-F238E27FC236}">
                <a16:creationId xmlns:a16="http://schemas.microsoft.com/office/drawing/2014/main" id="{23D5AEB1-83EB-C98C-1058-4C99F2ABC9C8}"/>
              </a:ext>
            </a:extLst>
          </p:cNvPr>
          <p:cNvGrpSpPr/>
          <p:nvPr/>
        </p:nvGrpSpPr>
        <p:grpSpPr>
          <a:xfrm>
            <a:off x="653732" y="5934456"/>
            <a:ext cx="11142028" cy="960120"/>
            <a:chOff x="365760" y="5897880"/>
            <a:chExt cx="11142028" cy="960120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9B9CF6A0-685F-35C2-4ABA-E93455789B33}"/>
                </a:ext>
              </a:extLst>
            </p:cNvPr>
            <p:cNvGrpSpPr/>
            <p:nvPr/>
          </p:nvGrpSpPr>
          <p:grpSpPr>
            <a:xfrm>
              <a:off x="365760" y="5897880"/>
              <a:ext cx="3703320" cy="960120"/>
              <a:chOff x="365760" y="5897880"/>
              <a:chExt cx="3703320" cy="960120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CAC22F4E-A8B8-7D3E-92EC-A3FD80F3C393}"/>
                  </a:ext>
                </a:extLst>
              </p:cNvPr>
              <p:cNvSpPr/>
              <p:nvPr/>
            </p:nvSpPr>
            <p:spPr>
              <a:xfrm>
                <a:off x="365760" y="5897880"/>
                <a:ext cx="3474720" cy="777240"/>
              </a:xfrm>
              <a:prstGeom prst="rect">
                <a:avLst/>
              </a:prstGeom>
              <a:solidFill>
                <a:srgbClr val="C0392B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148CDB2C-2B4B-576B-D845-69B8D04987FE}"/>
                  </a:ext>
                </a:extLst>
              </p:cNvPr>
              <p:cNvSpPr txBox="1"/>
              <p:nvPr/>
            </p:nvSpPr>
            <p:spPr>
              <a:xfrm>
                <a:off x="365760" y="6080760"/>
                <a:ext cx="1097280" cy="7772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sz="2200" b="1" i="0" dirty="0">
                    <a:solidFill>
                      <a:srgbClr val="FFFFFF"/>
                    </a:solidFill>
                    <a:latin typeface="Segoe UI"/>
                  </a:rPr>
                  <a:t>0.741</a:t>
                </a: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455E1CB0-8CBE-929D-E5CD-A9FA7347DEA7}"/>
                  </a:ext>
                </a:extLst>
              </p:cNvPr>
              <p:cNvSpPr txBox="1"/>
              <p:nvPr/>
            </p:nvSpPr>
            <p:spPr>
              <a:xfrm>
                <a:off x="1536192" y="5934456"/>
                <a:ext cx="2532888" cy="6985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>
                  <a:lnSpc>
                    <a:spcPct val="150000"/>
                  </a:lnSpc>
                </a:pPr>
                <a:r>
                  <a:rPr sz="1400" b="0" i="0" dirty="0">
                    <a:solidFill>
                      <a:srgbClr val="FFFFFF"/>
                    </a:solidFill>
                    <a:latin typeface="Segoe UI"/>
                  </a:rPr>
                  <a:t>Northeast AUC
(worst — 14.1% actual late)</a:t>
                </a:r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3EFA9CCB-B46D-8C1A-43CD-4AA87B3DFF4D}"/>
                </a:ext>
              </a:extLst>
            </p:cNvPr>
            <p:cNvGrpSpPr/>
            <p:nvPr/>
          </p:nvGrpSpPr>
          <p:grpSpPr>
            <a:xfrm>
              <a:off x="4069080" y="5897880"/>
              <a:ext cx="3474720" cy="960120"/>
              <a:chOff x="4069080" y="5897880"/>
              <a:chExt cx="3474720" cy="96012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D0E06EEF-F974-611A-05B7-EA8B5ABC68BB}"/>
                  </a:ext>
                </a:extLst>
              </p:cNvPr>
              <p:cNvSpPr/>
              <p:nvPr/>
            </p:nvSpPr>
            <p:spPr>
              <a:xfrm>
                <a:off x="4069080" y="5897880"/>
                <a:ext cx="3474720" cy="777240"/>
              </a:xfrm>
              <a:prstGeom prst="rect">
                <a:avLst/>
              </a:prstGeom>
              <a:solidFill>
                <a:srgbClr val="F39C12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54220766-9454-8DC5-09F3-E7ED47EC7DF8}"/>
                  </a:ext>
                </a:extLst>
              </p:cNvPr>
              <p:cNvSpPr txBox="1"/>
              <p:nvPr/>
            </p:nvSpPr>
            <p:spPr>
              <a:xfrm>
                <a:off x="4069080" y="6080760"/>
                <a:ext cx="1097280" cy="7772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sz="2200" b="1" i="0" dirty="0">
                    <a:solidFill>
                      <a:srgbClr val="FFFFFF"/>
                    </a:solidFill>
                    <a:latin typeface="Segoe UI"/>
                  </a:rPr>
                  <a:t>0.752</a:t>
                </a:r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75B3FE29-1DDD-E194-352D-0FD57EEFD053}"/>
                  </a:ext>
                </a:extLst>
              </p:cNvPr>
              <p:cNvSpPr txBox="1"/>
              <p:nvPr/>
            </p:nvSpPr>
            <p:spPr>
              <a:xfrm>
                <a:off x="5239512" y="5934456"/>
                <a:ext cx="2286000" cy="6985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>
                  <a:lnSpc>
                    <a:spcPct val="150000"/>
                  </a:lnSpc>
                </a:pPr>
                <a:r>
                  <a:rPr sz="1400" b="0" i="0" dirty="0">
                    <a:solidFill>
                      <a:srgbClr val="FFFFFF"/>
                    </a:solidFill>
                    <a:latin typeface="Segoe UI"/>
                  </a:rPr>
                  <a:t>North AUC
(10.1% actual late)</a:t>
                </a:r>
              </a:p>
            </p:txBody>
          </p: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06819F58-15FA-5AC1-6C62-A5150ACD99CE}"/>
                </a:ext>
              </a:extLst>
            </p:cNvPr>
            <p:cNvGrpSpPr/>
            <p:nvPr/>
          </p:nvGrpSpPr>
          <p:grpSpPr>
            <a:xfrm>
              <a:off x="7772400" y="5897880"/>
              <a:ext cx="3735388" cy="960120"/>
              <a:chOff x="7772400" y="5897880"/>
              <a:chExt cx="3735388" cy="96012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FA60BBCC-C3F1-4260-4A22-4C5422317CFB}"/>
                  </a:ext>
                </a:extLst>
              </p:cNvPr>
              <p:cNvSpPr/>
              <p:nvPr/>
            </p:nvSpPr>
            <p:spPr>
              <a:xfrm>
                <a:off x="7772400" y="5897880"/>
                <a:ext cx="3735388" cy="777240"/>
              </a:xfrm>
              <a:prstGeom prst="rect">
                <a:avLst/>
              </a:prstGeom>
              <a:solidFill>
                <a:srgbClr val="5B2D8E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A4B930BD-5311-86AB-2087-5EF681B84A3E}"/>
                  </a:ext>
                </a:extLst>
              </p:cNvPr>
              <p:cNvSpPr txBox="1"/>
              <p:nvPr/>
            </p:nvSpPr>
            <p:spPr>
              <a:xfrm>
                <a:off x="7772400" y="6080760"/>
                <a:ext cx="1097280" cy="7772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sz="2200" b="1" i="0" dirty="0">
                    <a:solidFill>
                      <a:srgbClr val="FFFFFF"/>
                    </a:solidFill>
                    <a:latin typeface="Segoe UI"/>
                  </a:rPr>
                  <a:t>0.797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0785071-B985-00FF-122D-F0275A6D73B9}"/>
                  </a:ext>
                </a:extLst>
              </p:cNvPr>
              <p:cNvSpPr txBox="1"/>
              <p:nvPr/>
            </p:nvSpPr>
            <p:spPr>
              <a:xfrm>
                <a:off x="8942832" y="5934456"/>
                <a:ext cx="2532888" cy="6985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>
                  <a:lnSpc>
                    <a:spcPct val="150000"/>
                  </a:lnSpc>
                </a:pPr>
                <a:r>
                  <a:rPr sz="1400" b="0" i="0" dirty="0">
                    <a:solidFill>
                      <a:srgbClr val="FFFFFF"/>
                    </a:solidFill>
                    <a:latin typeface="Segoe UI"/>
                  </a:rPr>
                  <a:t>Southeast AUC
(best — 68% of training data)</a:t>
                </a:r>
              </a:p>
            </p:txBody>
          </p:sp>
        </p:grp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1247120" y="6492240"/>
            <a:ext cx="9144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50" b="0" i="0" dirty="0">
                <a:solidFill>
                  <a:srgbClr val="9B59B6"/>
                </a:solidFill>
                <a:latin typeface="Segoe UI"/>
              </a:rPr>
              <a:t>12 / 1</a:t>
            </a:r>
            <a:r>
              <a:rPr lang="en-US" sz="1050" b="0" i="0" dirty="0">
                <a:solidFill>
                  <a:srgbClr val="9B59B6"/>
                </a:solidFill>
                <a:latin typeface="Segoe UI"/>
              </a:rPr>
              <a:t>7</a:t>
            </a:r>
            <a:endParaRPr sz="1050" b="0" i="0" dirty="0">
              <a:solidFill>
                <a:srgbClr val="9B59B6"/>
              </a:solidFill>
              <a:latin typeface="Segoe UI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82880"/>
            <a:ext cx="2011680" cy="32004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92505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 dirty="0">
                <a:solidFill>
                  <a:srgbClr val="FFFFFF"/>
                </a:solidFill>
                <a:latin typeface="Segoe UI"/>
              </a:rPr>
              <a:t>07  DEPLOYMENT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80944" y="256032"/>
            <a:ext cx="726033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FFFFFF"/>
                </a:solidFill>
                <a:latin typeface="Segoe UI"/>
              </a:rPr>
              <a:t>Production-Ready Scoring Architecture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1920240" cy="137160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9202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FFFF"/>
                </a:solidFill>
                <a:latin typeface="Segoe UI"/>
              </a:rPr>
              <a:t>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83080"/>
            <a:ext cx="19202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 dirty="0">
                <a:solidFill>
                  <a:srgbClr val="FFFFFF"/>
                </a:solidFill>
                <a:latin typeface="Segoe UI"/>
              </a:rPr>
              <a:t>Order</a:t>
            </a:r>
            <a:r>
              <a:rPr lang="en-US" sz="1600" b="1" i="0" dirty="0">
                <a:solidFill>
                  <a:srgbClr val="FFFFFF"/>
                </a:solidFill>
                <a:latin typeface="Segoe UI"/>
              </a:rPr>
              <a:t> </a:t>
            </a:r>
            <a:r>
              <a:rPr sz="1600" b="1" i="0" dirty="0">
                <a:solidFill>
                  <a:srgbClr val="FFFFFF"/>
                </a:solidFill>
                <a:latin typeface="Segoe UI"/>
              </a:rPr>
              <a:t>Placed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4560"/>
            <a:ext cx="1920240" cy="41148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2" name="TextBox 11"/>
          <p:cNvSpPr txBox="1"/>
          <p:nvPr/>
        </p:nvSpPr>
        <p:spPr>
          <a:xfrm>
            <a:off x="457200" y="2194560"/>
            <a:ext cx="19202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rgbClr val="FFFFFF"/>
                </a:solidFill>
                <a:latin typeface="Segoe UI"/>
              </a:rPr>
              <a:t>New order
data enters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783080"/>
            <a:ext cx="3200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9B59B6"/>
                </a:solidFill>
                <a:latin typeface="Segoe U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97480" y="1234440"/>
            <a:ext cx="1920240" cy="137160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5" name="TextBox 14"/>
          <p:cNvSpPr txBox="1"/>
          <p:nvPr/>
        </p:nvSpPr>
        <p:spPr>
          <a:xfrm>
            <a:off x="2697480" y="1280160"/>
            <a:ext cx="19202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FFFF"/>
                </a:solidFill>
                <a:latin typeface="Segoe UI"/>
              </a:rPr>
              <a:t>⚙️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1783080"/>
            <a:ext cx="19202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 dirty="0">
                <a:solidFill>
                  <a:srgbClr val="FFFFFF"/>
                </a:solidFill>
                <a:latin typeface="Segoe UI"/>
              </a:rPr>
              <a:t>Feature</a:t>
            </a:r>
            <a:r>
              <a:rPr lang="en-US" sz="1600" b="1" i="0" dirty="0">
                <a:solidFill>
                  <a:srgbClr val="FFFFFF"/>
                </a:solidFill>
                <a:latin typeface="Segoe UI"/>
              </a:rPr>
              <a:t> </a:t>
            </a:r>
            <a:r>
              <a:rPr sz="1600" b="1" i="0" dirty="0">
                <a:solidFill>
                  <a:srgbClr val="FFFFFF"/>
                </a:solidFill>
                <a:latin typeface="Segoe UI"/>
              </a:rPr>
              <a:t>Extract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97480" y="2194560"/>
            <a:ext cx="1920240" cy="41148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8" name="TextBox 17"/>
          <p:cNvSpPr txBox="1"/>
          <p:nvPr/>
        </p:nvSpPr>
        <p:spPr>
          <a:xfrm>
            <a:off x="2697480" y="2213414"/>
            <a:ext cx="19202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 dirty="0">
                <a:solidFill>
                  <a:srgbClr val="FFFFFF"/>
                </a:solidFill>
                <a:latin typeface="Segoe UI"/>
              </a:rPr>
              <a:t>17 features</a:t>
            </a:r>
            <a:r>
              <a:rPr lang="en-US" sz="1200" b="0" i="0" dirty="0">
                <a:solidFill>
                  <a:srgbClr val="FFFFFF"/>
                </a:solidFill>
                <a:latin typeface="Segoe UI"/>
              </a:rPr>
              <a:t> </a:t>
            </a:r>
            <a:r>
              <a:rPr sz="1200" b="0" i="0" dirty="0">
                <a:solidFill>
                  <a:srgbClr val="FFFFFF"/>
                </a:solidFill>
                <a:latin typeface="Segoe UI"/>
              </a:rPr>
              <a:t>engineered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1783080"/>
            <a:ext cx="3200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9B59B6"/>
                </a:solidFill>
                <a:latin typeface="Segoe U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760" y="1234440"/>
            <a:ext cx="1920240" cy="137160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1" name="TextBox 20"/>
          <p:cNvSpPr txBox="1"/>
          <p:nvPr/>
        </p:nvSpPr>
        <p:spPr>
          <a:xfrm>
            <a:off x="4937760" y="1280160"/>
            <a:ext cx="19202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FFFF"/>
                </a:solidFill>
                <a:latin typeface="Segoe UI"/>
              </a:rPr>
              <a:t>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7760" y="1783080"/>
            <a:ext cx="19202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 dirty="0">
                <a:solidFill>
                  <a:srgbClr val="FFFFFF"/>
                </a:solidFill>
                <a:latin typeface="Segoe UI"/>
              </a:rPr>
              <a:t>LightGBM</a:t>
            </a:r>
            <a:r>
              <a:rPr lang="en-US" sz="1600" b="1" dirty="0">
                <a:solidFill>
                  <a:srgbClr val="FFFFFF"/>
                </a:solidFill>
                <a:latin typeface="Segoe UI"/>
              </a:rPr>
              <a:t> </a:t>
            </a:r>
            <a:r>
              <a:rPr sz="1600" b="1" i="0" dirty="0">
                <a:solidFill>
                  <a:srgbClr val="FFFFFF"/>
                </a:solidFill>
                <a:latin typeface="Segoe UI"/>
              </a:rPr>
              <a:t>Model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37760" y="2194560"/>
            <a:ext cx="1920240" cy="41148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4" name="TextBox 23"/>
          <p:cNvSpPr txBox="1"/>
          <p:nvPr/>
        </p:nvSpPr>
        <p:spPr>
          <a:xfrm>
            <a:off x="4937760" y="2147425"/>
            <a:ext cx="19202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 dirty="0">
                <a:solidFill>
                  <a:srgbClr val="FFFFFF"/>
                </a:solidFill>
                <a:latin typeface="Segoe UI"/>
              </a:rPr>
              <a:t>Predicts late
probability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1783080"/>
            <a:ext cx="3200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9B59B6"/>
                </a:solidFill>
                <a:latin typeface="Segoe UI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78040" y="1234440"/>
            <a:ext cx="1920240" cy="137160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7" name="TextBox 26"/>
          <p:cNvSpPr txBox="1"/>
          <p:nvPr/>
        </p:nvSpPr>
        <p:spPr>
          <a:xfrm>
            <a:off x="7178040" y="1280160"/>
            <a:ext cx="19202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FFFF"/>
                </a:solidFill>
                <a:latin typeface="Segoe UI"/>
              </a:rPr>
              <a:t>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1783080"/>
            <a:ext cx="19202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 dirty="0">
                <a:solidFill>
                  <a:srgbClr val="FFFFFF"/>
                </a:solidFill>
                <a:latin typeface="Segoe UI"/>
              </a:rPr>
              <a:t>Risk</a:t>
            </a:r>
            <a:r>
              <a:rPr lang="en-US" sz="1600" b="1" i="0" dirty="0">
                <a:solidFill>
                  <a:srgbClr val="FFFFFF"/>
                </a:solidFill>
                <a:latin typeface="Segoe UI"/>
              </a:rPr>
              <a:t> </a:t>
            </a:r>
            <a:r>
              <a:rPr sz="1600" b="1" i="0" dirty="0">
                <a:solidFill>
                  <a:srgbClr val="FFFFFF"/>
                </a:solidFill>
                <a:latin typeface="Segoe UI"/>
              </a:rPr>
              <a:t>Tier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78040" y="2194560"/>
            <a:ext cx="1920240" cy="41148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0" name="TextBox 29"/>
          <p:cNvSpPr txBox="1"/>
          <p:nvPr/>
        </p:nvSpPr>
        <p:spPr>
          <a:xfrm>
            <a:off x="7178040" y="2194560"/>
            <a:ext cx="19202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Segoe UI"/>
              </a:rPr>
              <a:t>Low / Med /
High / Critical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98280" y="1783080"/>
            <a:ext cx="3200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9B59B6"/>
                </a:solidFill>
                <a:latin typeface="Segoe UI"/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418320" y="1234440"/>
            <a:ext cx="1920240" cy="137160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3" name="TextBox 32"/>
          <p:cNvSpPr txBox="1"/>
          <p:nvPr/>
        </p:nvSpPr>
        <p:spPr>
          <a:xfrm>
            <a:off x="9418320" y="1280160"/>
            <a:ext cx="19202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FFFF"/>
                </a:solidFill>
                <a:latin typeface="Segoe UI"/>
              </a:rPr>
              <a:t>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18320" y="1783081"/>
            <a:ext cx="19202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 dirty="0">
                <a:solidFill>
                  <a:srgbClr val="FFFFFF"/>
                </a:solidFill>
                <a:latin typeface="Segoe UI"/>
              </a:rPr>
              <a:t>Action</a:t>
            </a:r>
            <a:r>
              <a:rPr lang="en-US" sz="1600" b="1" dirty="0">
                <a:solidFill>
                  <a:srgbClr val="FFFFFF"/>
                </a:solidFill>
                <a:latin typeface="Segoe UI"/>
              </a:rPr>
              <a:t> </a:t>
            </a:r>
            <a:r>
              <a:rPr sz="1600" b="1" i="0" dirty="0">
                <a:solidFill>
                  <a:srgbClr val="FFFFFF"/>
                </a:solidFill>
                <a:latin typeface="Segoe UI"/>
              </a:rPr>
              <a:t>Triggered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418320" y="2194560"/>
            <a:ext cx="1920240" cy="41148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6" name="TextBox 35"/>
          <p:cNvSpPr txBox="1"/>
          <p:nvPr/>
        </p:nvSpPr>
        <p:spPr>
          <a:xfrm>
            <a:off x="9418320" y="2194560"/>
            <a:ext cx="19202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 dirty="0">
                <a:solidFill>
                  <a:srgbClr val="FFFFFF"/>
                </a:solidFill>
                <a:latin typeface="Segoe UI"/>
              </a:rPr>
              <a:t>Ops team
alerted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2926080"/>
            <a:ext cx="6858000" cy="32004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8" name="Rectangle 37"/>
          <p:cNvSpPr/>
          <p:nvPr/>
        </p:nvSpPr>
        <p:spPr>
          <a:xfrm>
            <a:off x="365760" y="2926080"/>
            <a:ext cx="6858000" cy="3657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9" name="TextBox 38"/>
          <p:cNvSpPr txBox="1"/>
          <p:nvPr/>
        </p:nvSpPr>
        <p:spPr>
          <a:xfrm>
            <a:off x="365760" y="2926080"/>
            <a:ext cx="6858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  score.py — LateDeliveryScorer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3337560"/>
            <a:ext cx="68580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  from score import LateDeliveryScorer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" y="3511296"/>
            <a:ext cx="68580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 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3685032"/>
            <a:ext cx="68580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B86FC"/>
                </a:solidFill>
                <a:latin typeface="Segoe UI"/>
              </a:rPr>
              <a:t>  # Load production model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58768"/>
            <a:ext cx="68580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A0D9FF"/>
                </a:solidFill>
                <a:latin typeface="Segoe UI"/>
              </a:rPr>
              <a:t>  scorer = LateDeliveryScorer()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4032504"/>
            <a:ext cx="68580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 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" y="4206240"/>
            <a:ext cx="68580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B86FC"/>
                </a:solidFill>
                <a:latin typeface="Segoe UI"/>
              </a:rPr>
              <a:t>  # Score new orders (batch or single)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4379976"/>
            <a:ext cx="68580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A0D9FF"/>
                </a:solidFill>
                <a:latin typeface="Segoe UI"/>
              </a:rPr>
              <a:t>  predictions = scorer.predict(orders_df)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4553712"/>
            <a:ext cx="68580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 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5760" y="4727448"/>
            <a:ext cx="68580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B86FC"/>
                </a:solidFill>
                <a:latin typeface="Segoe UI"/>
              </a:rPr>
              <a:t>  # Output: late_probability, risk_tier,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4901183"/>
            <a:ext cx="68580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B86FC"/>
                </a:solidFill>
                <a:latin typeface="Segoe UI"/>
              </a:rPr>
              <a:t>  #         is_late_pred, recommended_action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5074920"/>
            <a:ext cx="68580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Segoe UI"/>
              </a:rPr>
              <a:t>  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5760" y="5248656"/>
            <a:ext cx="68580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B86FC"/>
                </a:solidFill>
                <a:latin typeface="Segoe UI"/>
              </a:rPr>
              <a:t>  # Or serve as REST API: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" y="5422392"/>
            <a:ext cx="68580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B86FC"/>
                </a:solidFill>
                <a:latin typeface="Segoe UI"/>
              </a:rPr>
              <a:t>  # python score.py --serve --port 5000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5760" y="5596128"/>
            <a:ext cx="68580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B86FC"/>
                </a:solidFill>
                <a:latin typeface="Segoe UI"/>
              </a:rPr>
              <a:t>  # POST /predict  →  real-time JSON response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589520" y="2926080"/>
            <a:ext cx="42062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5B2D8E"/>
                </a:solidFill>
                <a:latin typeface="Segoe UI"/>
              </a:rPr>
              <a:t>Packaged Artifacts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589520" y="3429000"/>
            <a:ext cx="4206240" cy="411480"/>
          </a:xfrm>
          <a:prstGeom prst="rect">
            <a:avLst/>
          </a:prstGeom>
          <a:solidFill>
            <a:srgbClr val="E8D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6" name="TextBox 55"/>
          <p:cNvSpPr txBox="1"/>
          <p:nvPr/>
        </p:nvSpPr>
        <p:spPr>
          <a:xfrm>
            <a:off x="7635240" y="3513843"/>
            <a:ext cx="2194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5B2D8E"/>
                </a:solidFill>
                <a:latin typeface="Segoe UI"/>
              </a:rPr>
              <a:t>📦  </a:t>
            </a:r>
            <a:r>
              <a:rPr sz="1100" b="1" i="0" dirty="0" err="1">
                <a:solidFill>
                  <a:srgbClr val="5B2D8E"/>
                </a:solidFill>
                <a:latin typeface="Segoe UI"/>
              </a:rPr>
              <a:t>late_delivery_model.pkl</a:t>
            </a:r>
            <a:endParaRPr sz="1100" b="1" i="0" dirty="0">
              <a:solidFill>
                <a:srgbClr val="5B2D8E"/>
              </a:solidFill>
              <a:latin typeface="Segoe UI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9790677" y="3532697"/>
            <a:ext cx="2194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1A1A2E"/>
                </a:solidFill>
                <a:latin typeface="Segoe UI"/>
              </a:rPr>
              <a:t>Trained LightGBM (serialized)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589520" y="3886200"/>
            <a:ext cx="420624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9" name="TextBox 58"/>
          <p:cNvSpPr txBox="1"/>
          <p:nvPr/>
        </p:nvSpPr>
        <p:spPr>
          <a:xfrm>
            <a:off x="7635240" y="3971043"/>
            <a:ext cx="2194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B2D8E"/>
                </a:solidFill>
                <a:latin typeface="Segoe UI"/>
              </a:rPr>
              <a:t>📋  model_features.json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790677" y="3989897"/>
            <a:ext cx="2194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1A1A2E"/>
                </a:solidFill>
                <a:latin typeface="Segoe UI"/>
              </a:rPr>
              <a:t>Feature manifest (17 features)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589520" y="4343400"/>
            <a:ext cx="4206240" cy="411480"/>
          </a:xfrm>
          <a:prstGeom prst="rect">
            <a:avLst/>
          </a:prstGeom>
          <a:solidFill>
            <a:srgbClr val="E8D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62" name="TextBox 61"/>
          <p:cNvSpPr txBox="1"/>
          <p:nvPr/>
        </p:nvSpPr>
        <p:spPr>
          <a:xfrm>
            <a:off x="7635240" y="4428243"/>
            <a:ext cx="2194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B2D8E"/>
                </a:solidFill>
                <a:latin typeface="Segoe UI"/>
              </a:rPr>
              <a:t>🐍  score.py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790677" y="4447097"/>
            <a:ext cx="1828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1A2E"/>
                </a:solidFill>
                <a:latin typeface="Segoe UI"/>
              </a:rPr>
              <a:t>Scoring class + Flask API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589520" y="4800600"/>
            <a:ext cx="420624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65" name="TextBox 64"/>
          <p:cNvSpPr txBox="1"/>
          <p:nvPr/>
        </p:nvSpPr>
        <p:spPr>
          <a:xfrm>
            <a:off x="7635240" y="4885443"/>
            <a:ext cx="2194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B2D8E"/>
                </a:solidFill>
                <a:latin typeface="Segoe UI"/>
              </a:rPr>
              <a:t>🌐  GET  /health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790677" y="4904297"/>
            <a:ext cx="208709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1A1A2E"/>
                </a:solidFill>
                <a:latin typeface="Segoe UI"/>
              </a:rPr>
              <a:t>Model health check endpoint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589520" y="5257800"/>
            <a:ext cx="4206240" cy="411480"/>
          </a:xfrm>
          <a:prstGeom prst="rect">
            <a:avLst/>
          </a:prstGeom>
          <a:solidFill>
            <a:srgbClr val="E8D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68" name="TextBox 67"/>
          <p:cNvSpPr txBox="1"/>
          <p:nvPr/>
        </p:nvSpPr>
        <p:spPr>
          <a:xfrm>
            <a:off x="7635240" y="5342643"/>
            <a:ext cx="2194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B2D8E"/>
                </a:solidFill>
                <a:latin typeface="Segoe UI"/>
              </a:rPr>
              <a:t>🔄  POST /predict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790677" y="5361497"/>
            <a:ext cx="208709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 dirty="0">
                <a:solidFill>
                  <a:srgbClr val="1A1A2E"/>
                </a:solidFill>
                <a:latin typeface="Segoe UI"/>
              </a:rPr>
              <a:t>Single-order real-time scoring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589520" y="5715000"/>
            <a:ext cx="420624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1" name="TextBox 70"/>
          <p:cNvSpPr txBox="1"/>
          <p:nvPr/>
        </p:nvSpPr>
        <p:spPr>
          <a:xfrm>
            <a:off x="7635240" y="5799843"/>
            <a:ext cx="2194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B2D8E"/>
                </a:solidFill>
                <a:latin typeface="Segoe UI"/>
              </a:rPr>
              <a:t>📊  POST /predict_batch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790677" y="5818697"/>
            <a:ext cx="231343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1A2E"/>
                </a:solidFill>
                <a:latin typeface="Segoe UI"/>
              </a:rPr>
              <a:t>Batch CSV scoring endpoint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1247120" y="6492240"/>
            <a:ext cx="9144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 dirty="0">
                <a:solidFill>
                  <a:srgbClr val="9B59B6"/>
                </a:solidFill>
                <a:latin typeface="Segoe UI"/>
              </a:rPr>
              <a:t>14 / 1</a:t>
            </a:r>
            <a:r>
              <a:rPr lang="en-US" sz="900" b="0" i="0" dirty="0">
                <a:solidFill>
                  <a:srgbClr val="9B59B6"/>
                </a:solidFill>
                <a:latin typeface="Segoe UI"/>
              </a:rPr>
              <a:t>7</a:t>
            </a:r>
            <a:endParaRPr sz="900" b="0" i="0" dirty="0">
              <a:solidFill>
                <a:srgbClr val="9B59B6"/>
              </a:solidFill>
              <a:latin typeface="Segoe UI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82880"/>
            <a:ext cx="2011680" cy="32004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 dirty="0">
                <a:solidFill>
                  <a:srgbClr val="FFFFFF"/>
                </a:solidFill>
                <a:latin typeface="Segoe UI"/>
              </a:rPr>
              <a:t>08  DASHBOARD CHARTS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80944" y="256032"/>
            <a:ext cx="859536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i="0" dirty="0">
                <a:solidFill>
                  <a:srgbClr val="FFFFFF"/>
                </a:solidFill>
                <a:latin typeface="Segoe UI"/>
              </a:rPr>
              <a:t>Name</a:t>
            </a:r>
            <a:endParaRPr sz="2600" b="1" i="0" dirty="0">
              <a:solidFill>
                <a:srgbClr val="FFFFFF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1247120" y="6492240"/>
            <a:ext cx="9144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 dirty="0">
                <a:solidFill>
                  <a:srgbClr val="9B59B6"/>
                </a:solidFill>
                <a:latin typeface="Segoe UI"/>
              </a:rPr>
              <a:t>15 / 1</a:t>
            </a:r>
            <a:r>
              <a:rPr lang="en-US" sz="900" b="0" i="0" dirty="0">
                <a:solidFill>
                  <a:srgbClr val="9B59B6"/>
                </a:solidFill>
                <a:latin typeface="Segoe UI"/>
              </a:rPr>
              <a:t>7</a:t>
            </a:r>
            <a:endParaRPr sz="900" b="0" i="0" dirty="0">
              <a:solidFill>
                <a:srgbClr val="9B59B6"/>
              </a:solidFill>
              <a:latin typeface="Segoe UI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926080" y="2286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FFFFFF"/>
                </a:solidFill>
                <a:latin typeface="Segoe UI"/>
              </a:rPr>
              <a:t>Key Findings &amp; Business Recommendations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C8CE7A45-54A6-49E3-C1DA-7F914979E3B8}"/>
              </a:ext>
            </a:extLst>
          </p:cNvPr>
          <p:cNvGrpSpPr/>
          <p:nvPr/>
        </p:nvGrpSpPr>
        <p:grpSpPr>
          <a:xfrm>
            <a:off x="365760" y="1447800"/>
            <a:ext cx="11580812" cy="4892040"/>
            <a:chOff x="365760" y="1143000"/>
            <a:chExt cx="11580812" cy="489204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06EEFDCE-3756-C5A0-72C9-925764A6E942}"/>
                </a:ext>
              </a:extLst>
            </p:cNvPr>
            <p:cNvGrpSpPr/>
            <p:nvPr/>
          </p:nvGrpSpPr>
          <p:grpSpPr>
            <a:xfrm>
              <a:off x="365760" y="1143000"/>
              <a:ext cx="5728652" cy="2331720"/>
              <a:chOff x="365760" y="1143000"/>
              <a:chExt cx="5728652" cy="2331720"/>
            </a:xfrm>
          </p:grpSpPr>
          <p:sp>
            <p:nvSpPr>
              <p:cNvPr id="6" name="Rectangle 5"/>
              <p:cNvSpPr/>
              <p:nvPr/>
            </p:nvSpPr>
            <p:spPr>
              <a:xfrm>
                <a:off x="365760" y="1143000"/>
                <a:ext cx="5486400" cy="233172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" name="Rectangle 6"/>
              <p:cNvSpPr/>
              <p:nvPr/>
            </p:nvSpPr>
            <p:spPr>
              <a:xfrm>
                <a:off x="365760" y="1143000"/>
                <a:ext cx="5486400" cy="91440"/>
              </a:xfrm>
              <a:prstGeom prst="rect">
                <a:avLst/>
              </a:prstGeom>
              <a:solidFill>
                <a:srgbClr val="9B59B6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" name="TextBox 7"/>
              <p:cNvSpPr txBox="1"/>
              <p:nvPr/>
            </p:nvSpPr>
            <p:spPr>
              <a:xfrm>
                <a:off x="502920" y="1336722"/>
                <a:ext cx="5212080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600" b="1" i="0">
                    <a:solidFill>
                      <a:srgbClr val="5B2D8E"/>
                    </a:solidFill>
                    <a:latin typeface="Segoe UI"/>
                  </a:rPr>
                  <a:t>🔍 Finding 1: Seller Track Record Dominates</a:t>
                </a:r>
              </a:p>
            </p:txBody>
          </p:sp>
          <p:sp>
            <p:nvSpPr>
              <p:cNvPr id="9" name="TextBox 8"/>
              <p:cNvSpPr txBox="1"/>
              <p:nvPr/>
            </p:nvSpPr>
            <p:spPr>
              <a:xfrm>
                <a:off x="502920" y="1737360"/>
                <a:ext cx="5591492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400" b="0" i="1" dirty="0">
                    <a:solidFill>
                      <a:srgbClr val="1A1A2E"/>
                    </a:solidFill>
                    <a:latin typeface="Segoe UI"/>
                  </a:rPr>
                  <a:t>50% of predictive power comes from </a:t>
                </a:r>
                <a:r>
                  <a:rPr sz="1400" b="0" i="1" dirty="0" err="1">
                    <a:solidFill>
                      <a:srgbClr val="1A1A2E"/>
                    </a:solidFill>
                    <a:latin typeface="Segoe UI"/>
                  </a:rPr>
                  <a:t>seller_historical_late_rate</a:t>
                </a:r>
                <a:endParaRPr sz="1400" b="0" i="1" dirty="0">
                  <a:solidFill>
                    <a:srgbClr val="1A1A2E"/>
                  </a:solidFill>
                  <a:latin typeface="Segoe UI"/>
                </a:endParaRPr>
              </a:p>
            </p:txBody>
          </p:sp>
          <p:sp>
            <p:nvSpPr>
              <p:cNvPr id="10" name="TextBox 9"/>
              <p:cNvSpPr txBox="1"/>
              <p:nvPr/>
            </p:nvSpPr>
            <p:spPr>
              <a:xfrm>
                <a:off x="502920" y="2299669"/>
                <a:ext cx="5212080" cy="105528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sz="1100" b="1" i="0" dirty="0">
                    <a:solidFill>
                      <a:srgbClr val="1A1A2E"/>
                    </a:solidFill>
                    <a:latin typeface="Segoe UI"/>
                  </a:rPr>
                  <a:t>📋 Recommendation: </a:t>
                </a:r>
                <a:r>
                  <a:rPr sz="1100" b="0" i="0" dirty="0">
                    <a:solidFill>
                      <a:srgbClr val="1A1A2E"/>
                    </a:solidFill>
                    <a:latin typeface="Segoe UI"/>
                  </a:rPr>
                  <a:t>Implement seller performance monitoring. Flag sellers with &gt;20% late rate (324 identified). Trigger automatic review and carrier upgrade protocols.</a:t>
                </a:r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48BC7EA1-0098-C5F7-1541-5CF8DC2B81AA}"/>
                </a:ext>
              </a:extLst>
            </p:cNvPr>
            <p:cNvGrpSpPr/>
            <p:nvPr/>
          </p:nvGrpSpPr>
          <p:grpSpPr>
            <a:xfrm>
              <a:off x="6217920" y="1143000"/>
              <a:ext cx="5728652" cy="2331720"/>
              <a:chOff x="6217920" y="1143000"/>
              <a:chExt cx="5728652" cy="2331720"/>
            </a:xfrm>
          </p:grpSpPr>
          <p:sp>
            <p:nvSpPr>
              <p:cNvPr id="11" name="Rectangle 10"/>
              <p:cNvSpPr/>
              <p:nvPr/>
            </p:nvSpPr>
            <p:spPr>
              <a:xfrm>
                <a:off x="6217920" y="1143000"/>
                <a:ext cx="5486400" cy="233172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2" name="Rectangle 11"/>
              <p:cNvSpPr/>
              <p:nvPr/>
            </p:nvSpPr>
            <p:spPr>
              <a:xfrm>
                <a:off x="6217920" y="1143000"/>
                <a:ext cx="5486400" cy="91440"/>
              </a:xfrm>
              <a:prstGeom prst="rect">
                <a:avLst/>
              </a:prstGeom>
              <a:solidFill>
                <a:srgbClr val="9B59B6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6355080" y="1336722"/>
                <a:ext cx="5212080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600" b="1" i="0">
                    <a:solidFill>
                      <a:srgbClr val="5B2D8E"/>
                    </a:solidFill>
                    <a:latin typeface="Segoe UI"/>
                  </a:rPr>
                  <a:t>🔍 Finding 2: Seasonal Demand Surges</a:t>
                </a:r>
              </a:p>
            </p:txBody>
          </p:sp>
          <p:sp>
            <p:nvSpPr>
              <p:cNvPr id="14" name="TextBox 13"/>
              <p:cNvSpPr txBox="1"/>
              <p:nvPr/>
            </p:nvSpPr>
            <p:spPr>
              <a:xfrm>
                <a:off x="6355080" y="1737360"/>
                <a:ext cx="5591492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400" b="0" i="1" dirty="0">
                    <a:solidFill>
                      <a:srgbClr val="1A1A2E"/>
                    </a:solidFill>
                    <a:latin typeface="Segoe UI"/>
                  </a:rPr>
                  <a:t>Peak months see 21%+ late rates vs 5% in low-demand months</a:t>
                </a:r>
              </a:p>
            </p:txBody>
          </p:sp>
          <p:sp>
            <p:nvSpPr>
              <p:cNvPr id="15" name="TextBox 14"/>
              <p:cNvSpPr txBox="1"/>
              <p:nvPr/>
            </p:nvSpPr>
            <p:spPr>
              <a:xfrm>
                <a:off x="6355080" y="2299669"/>
                <a:ext cx="5212080" cy="105528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sz="1100" b="1" i="0" dirty="0">
                    <a:solidFill>
                      <a:srgbClr val="1A1A2E"/>
                    </a:solidFill>
                    <a:latin typeface="Segoe UI"/>
                  </a:rPr>
                  <a:t>📋 Recommendation: </a:t>
                </a:r>
                <a:r>
                  <a:rPr sz="1100" b="0" i="0" dirty="0">
                    <a:solidFill>
                      <a:srgbClr val="1A1A2E"/>
                    </a:solidFill>
                    <a:latin typeface="Segoe UI"/>
                  </a:rPr>
                  <a:t>Pre-scale carrier capacity in Nov-Dec (holidays) and high-demand months. Use the monthly trend dashboard to forecast capacity needs 4 weeks in advance.</a:t>
                </a:r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FC6B4965-A3AA-37C9-FF22-EE4E50B653C7}"/>
                </a:ext>
              </a:extLst>
            </p:cNvPr>
            <p:cNvGrpSpPr/>
            <p:nvPr/>
          </p:nvGrpSpPr>
          <p:grpSpPr>
            <a:xfrm>
              <a:off x="365760" y="3703320"/>
              <a:ext cx="5728652" cy="2331720"/>
              <a:chOff x="365760" y="3703320"/>
              <a:chExt cx="5728652" cy="2331720"/>
            </a:xfrm>
          </p:grpSpPr>
          <p:sp>
            <p:nvSpPr>
              <p:cNvPr id="16" name="Rectangle 15"/>
              <p:cNvSpPr/>
              <p:nvPr/>
            </p:nvSpPr>
            <p:spPr>
              <a:xfrm>
                <a:off x="365760" y="3703320"/>
                <a:ext cx="5486400" cy="233172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" name="Rectangle 16"/>
              <p:cNvSpPr/>
              <p:nvPr/>
            </p:nvSpPr>
            <p:spPr>
              <a:xfrm>
                <a:off x="365760" y="3703320"/>
                <a:ext cx="5486400" cy="91440"/>
              </a:xfrm>
              <a:prstGeom prst="rect">
                <a:avLst/>
              </a:prstGeom>
              <a:solidFill>
                <a:srgbClr val="C0392B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" name="TextBox 17"/>
              <p:cNvSpPr txBox="1"/>
              <p:nvPr/>
            </p:nvSpPr>
            <p:spPr>
              <a:xfrm>
                <a:off x="502920" y="3897042"/>
                <a:ext cx="5212080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600" b="1" i="0">
                    <a:solidFill>
                      <a:srgbClr val="5B2D8E"/>
                    </a:solidFill>
                    <a:latin typeface="Segoe UI"/>
                  </a:rPr>
                  <a:t>🔍 Finding 3: Regional Inequality</a:t>
                </a:r>
              </a:p>
            </p:txBody>
          </p:sp>
          <p:sp>
            <p:nvSpPr>
              <p:cNvPr id="19" name="TextBox 18"/>
              <p:cNvSpPr txBox="1"/>
              <p:nvPr/>
            </p:nvSpPr>
            <p:spPr>
              <a:xfrm>
                <a:off x="502920" y="4297680"/>
                <a:ext cx="5591492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400" b="0" i="1" dirty="0">
                    <a:solidFill>
                      <a:srgbClr val="1A1A2E"/>
                    </a:solidFill>
                    <a:latin typeface="Segoe UI"/>
                  </a:rPr>
                  <a:t>North/Northeast face 2-3× higher late rates than South/Southeast</a:t>
                </a:r>
              </a:p>
            </p:txBody>
          </p:sp>
          <p:sp>
            <p:nvSpPr>
              <p:cNvPr id="20" name="TextBox 19"/>
              <p:cNvSpPr txBox="1"/>
              <p:nvPr/>
            </p:nvSpPr>
            <p:spPr>
              <a:xfrm>
                <a:off x="502920" y="4859989"/>
                <a:ext cx="5212080" cy="105528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sz="1100" b="1" i="0" dirty="0">
                    <a:solidFill>
                      <a:srgbClr val="1A1A2E"/>
                    </a:solidFill>
                    <a:latin typeface="Segoe UI"/>
                  </a:rPr>
                  <a:t>📋 Recommendation: </a:t>
                </a:r>
                <a:r>
                  <a:rPr sz="1100" b="0" i="0" dirty="0">
                    <a:solidFill>
                      <a:srgbClr val="1A1A2E"/>
                    </a:solidFill>
                    <a:latin typeface="Segoe UI"/>
                  </a:rPr>
                  <a:t>Partner with regional logistics providers in the North. Build region-specific carrier SLAs. Apply lower ML decision thresholds for these regions.</a:t>
                </a:r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7C87A602-0B38-9B83-CECD-180415EB99EA}"/>
                </a:ext>
              </a:extLst>
            </p:cNvPr>
            <p:cNvGrpSpPr/>
            <p:nvPr/>
          </p:nvGrpSpPr>
          <p:grpSpPr>
            <a:xfrm>
              <a:off x="6217920" y="3703320"/>
              <a:ext cx="5728652" cy="2331720"/>
              <a:chOff x="6217920" y="3703320"/>
              <a:chExt cx="5728652" cy="2331720"/>
            </a:xfrm>
          </p:grpSpPr>
          <p:sp>
            <p:nvSpPr>
              <p:cNvPr id="21" name="Rectangle 20"/>
              <p:cNvSpPr/>
              <p:nvPr/>
            </p:nvSpPr>
            <p:spPr>
              <a:xfrm>
                <a:off x="6217920" y="3703320"/>
                <a:ext cx="5486400" cy="233172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" name="Rectangle 21"/>
              <p:cNvSpPr/>
              <p:nvPr/>
            </p:nvSpPr>
            <p:spPr>
              <a:xfrm>
                <a:off x="6217920" y="3703320"/>
                <a:ext cx="5486400" cy="91440"/>
              </a:xfrm>
              <a:prstGeom prst="rect">
                <a:avLst/>
              </a:prstGeom>
              <a:solidFill>
                <a:srgbClr val="27AE60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" name="TextBox 22"/>
              <p:cNvSpPr txBox="1"/>
              <p:nvPr/>
            </p:nvSpPr>
            <p:spPr>
              <a:xfrm>
                <a:off x="6355080" y="3897042"/>
                <a:ext cx="5212080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600" b="1" i="0">
                    <a:solidFill>
                      <a:srgbClr val="5B2D8E"/>
                    </a:solidFill>
                    <a:latin typeface="Segoe UI"/>
                  </a:rPr>
                  <a:t>🔍 Finding 4: Review Score Impact is Quantifiable</a:t>
                </a:r>
              </a:p>
            </p:txBody>
          </p:sp>
          <p:sp>
            <p:nvSpPr>
              <p:cNvPr id="24" name="TextBox 23"/>
              <p:cNvSpPr txBox="1"/>
              <p:nvPr/>
            </p:nvSpPr>
            <p:spPr>
              <a:xfrm>
                <a:off x="6355080" y="4297680"/>
                <a:ext cx="5591492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400" b="0" i="1">
                    <a:solidFill>
                      <a:srgbClr val="1A1A2E"/>
                    </a:solidFill>
                    <a:latin typeface="Segoe UI"/>
                  </a:rPr>
                  <a:t>1.73-star gap between late (2.4★) and on-time (4.3★) deliveries</a:t>
                </a:r>
              </a:p>
            </p:txBody>
          </p:sp>
          <p:sp>
            <p:nvSpPr>
              <p:cNvPr id="25" name="TextBox 24"/>
              <p:cNvSpPr txBox="1"/>
              <p:nvPr/>
            </p:nvSpPr>
            <p:spPr>
              <a:xfrm>
                <a:off x="6355080" y="4859989"/>
                <a:ext cx="5212080" cy="105528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sz="1100" b="1" i="0" dirty="0">
                    <a:solidFill>
                      <a:srgbClr val="1A1A2E"/>
                    </a:solidFill>
                    <a:latin typeface="Segoe UI"/>
                  </a:rPr>
                  <a:t>📋 Recommendation: </a:t>
                </a:r>
                <a:r>
                  <a:rPr sz="1100" b="0" i="0" dirty="0">
                    <a:solidFill>
                      <a:srgbClr val="1A1A2E"/>
                    </a:solidFill>
                    <a:latin typeface="Segoe UI"/>
                  </a:rPr>
                  <a:t>Use the model's Critical risk tier to proactively contact customers (compensation vouchers) before they experience the delivery, preventing negative reviews.</a:t>
                </a:r>
              </a:p>
            </p:txBody>
          </p:sp>
        </p:grp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07CA2328-8123-F159-745B-C44D479F517F}"/>
              </a:ext>
            </a:extLst>
          </p:cNvPr>
          <p:cNvSpPr/>
          <p:nvPr/>
        </p:nvSpPr>
        <p:spPr>
          <a:xfrm>
            <a:off x="457200" y="182880"/>
            <a:ext cx="2011680" cy="32004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F11AB62-D65E-EC8B-164E-76F39F8F69C4}"/>
              </a:ext>
            </a:extLst>
          </p:cNvPr>
          <p:cNvSpPr txBox="1"/>
          <p:nvPr/>
        </p:nvSpPr>
        <p:spPr>
          <a:xfrm>
            <a:off x="503725" y="190899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 dirty="0">
                <a:solidFill>
                  <a:srgbClr val="FFFFFF"/>
                </a:solidFill>
                <a:latin typeface="Segoe UI"/>
              </a:rPr>
              <a:t>08  TABLEAU DASHBOARD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E57DB-2E0D-5356-157E-635622E1C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E7AEEC0-443C-307E-FD51-4786F95AD7CC}"/>
              </a:ext>
            </a:extLst>
          </p:cNvPr>
          <p:cNvSpPr/>
          <p:nvPr/>
        </p:nvSpPr>
        <p:spPr>
          <a:xfrm rot="5400000">
            <a:off x="4265613" y="-2219540"/>
            <a:ext cx="3657600" cy="10915049"/>
          </a:xfrm>
          <a:prstGeom prst="rect">
            <a:avLst/>
          </a:prstGeom>
          <a:solidFill>
            <a:srgbClr val="5B2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1097EC2-C2DD-C992-845E-2BE9B55677F5}"/>
              </a:ext>
            </a:extLst>
          </p:cNvPr>
          <p:cNvGrpSpPr/>
          <p:nvPr/>
        </p:nvGrpSpPr>
        <p:grpSpPr>
          <a:xfrm>
            <a:off x="3234088" y="2253978"/>
            <a:ext cx="4499811" cy="2350044"/>
            <a:chOff x="274320" y="2418921"/>
            <a:chExt cx="3108960" cy="235004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C5C08B3-2965-EF08-F0B3-95DB88F4D64A}"/>
                </a:ext>
              </a:extLst>
            </p:cNvPr>
            <p:cNvSpPr txBox="1"/>
            <p:nvPr/>
          </p:nvSpPr>
          <p:spPr>
            <a:xfrm>
              <a:off x="274320" y="2418921"/>
              <a:ext cx="3108960" cy="193899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6000" b="1" i="0" dirty="0">
                  <a:solidFill>
                    <a:srgbClr val="FFFFFF"/>
                  </a:solidFill>
                  <a:latin typeface="Segoe UI"/>
                </a:rPr>
                <a:t>Thank You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A077887-98FF-B684-B040-448DCF65A582}"/>
                </a:ext>
              </a:extLst>
            </p:cNvPr>
            <p:cNvSpPr/>
            <p:nvPr/>
          </p:nvSpPr>
          <p:spPr>
            <a:xfrm>
              <a:off x="640080" y="3977639"/>
              <a:ext cx="2377440" cy="254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360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75708A1-7315-13AA-C013-BA0838976B5D}"/>
                </a:ext>
              </a:extLst>
            </p:cNvPr>
            <p:cNvSpPr txBox="1"/>
            <p:nvPr/>
          </p:nvSpPr>
          <p:spPr>
            <a:xfrm>
              <a:off x="274320" y="4307300"/>
              <a:ext cx="310896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2400" b="0" i="1" dirty="0">
                  <a:solidFill>
                    <a:srgbClr val="E8D5F5"/>
                  </a:solidFill>
                  <a:latin typeface="Segoe UI"/>
                </a:rPr>
                <a:t>Any </a:t>
              </a:r>
              <a:r>
                <a:rPr sz="2400" b="0" i="1" dirty="0">
                  <a:solidFill>
                    <a:srgbClr val="E8D5F5"/>
                  </a:solidFill>
                  <a:latin typeface="Segoe UI"/>
                </a:rPr>
                <a:t>Question</a:t>
              </a:r>
              <a:r>
                <a:rPr lang="en-US" sz="2400" b="0" i="1" dirty="0">
                  <a:solidFill>
                    <a:srgbClr val="E8D5F5"/>
                  </a:solidFill>
                  <a:latin typeface="Segoe UI"/>
                </a:rPr>
                <a:t>s?</a:t>
              </a:r>
              <a:endParaRPr sz="2400" b="0" i="1" dirty="0">
                <a:solidFill>
                  <a:srgbClr val="E8D5F5"/>
                </a:solidFill>
                <a:latin typeface="Segoe U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984762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2585</TotalTime>
  <Words>1464</Words>
  <Application>Microsoft Office PowerPoint</Application>
  <PresentationFormat>Custom</PresentationFormat>
  <Paragraphs>303</Paragraphs>
  <Slides>18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6" baseType="lpstr">
      <vt:lpstr>Aptos</vt:lpstr>
      <vt:lpstr>Arial</vt:lpstr>
      <vt:lpstr>Calibri</vt:lpstr>
      <vt:lpstr>Comic Sans</vt:lpstr>
      <vt:lpstr>Segoe UI</vt:lpstr>
      <vt:lpstr>Segoe UI Black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Mohammed, Al-Anood [60074158]</cp:lastModifiedBy>
  <cp:revision>37</cp:revision>
  <dcterms:created xsi:type="dcterms:W3CDTF">2013-01-27T09:14:16Z</dcterms:created>
  <dcterms:modified xsi:type="dcterms:W3CDTF">2026-04-09T08:43:33Z</dcterms:modified>
  <cp:category/>
</cp:coreProperties>
</file>